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Olá! Seja muito bem-vindo ao curso Foco e Produtividade nos Estudos. Eu sou [Nome do Instrutor] e vou ser seu guia nesta jornada de transformação.
Antes de mais nada, quero te fazer uma pergunta: quantas vezes você já se sentou para estudar, cheio de vontade, mas depois de alguns minutos percebeu que estava com o celular na mão, rolando o feed de alguma rede social? Se isso já aconteceu com você, saiba que você não está sozinho. E mais importante: existe solução.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Nesta aula, você vai aprender os conceitos principais apresentados nos objetivos. Olá! Seja muito bem-vindo ao curso Foco e Produtividade nos Estudos. Eu sou [Nome do Instrutor] e vou ser seu guia nesta jornada de transformação.
Antes de mais nada, quero te fazer uma pergunta: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que este curso existe
Vivemos em uma época que eu chamo de "a era da distração infinita". Temos mais acesso à informação do que qualquer geração anterior, mas paradoxalmente, nunca foi tão difícil manter o foco. Notificações, redes sociais, mensagens instantâneas... tudo conspira para roubar nossa atenção.
E quando falamos de estudos, o problema se torna ainda mais grave. Estudar exige concentração profunda, aquele estado em que você mergulha no conteúdo e o tempo parece parar. Mas como alcançar esse estado quando seu cérebro foi treinado para buscar estímulos rápidos e constantes?
É exatamente isso que você vai aprender neste curso. Não são apenas dicas superficiais. É um método completo, baseado em ciência, para você reprogramar sua mente e alcançar níveis de foco que você talvez nem acredite serem possíveis.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credibilidade do método
Tudo que você vai aprender aqui tem base científica sólida. Estudamos as pesquisas mais recentes em neurociência e psicologia cognitiva. Nos baseamos em autores renomados como:
- Chris Bailey, autor de "Hiperfoco", que passou anos pesquisando produtividade
- Cal Newport, professor de Georgetown e autor de "Deep Work"
- Scott Young, que completou o currículo de 4 anos do MIT em apenas 1 ano
Mas não é só teoria. Esse método já foi aplicado com centenas de estudantes, e os resultados são consistentes: melhora significativa na capacidade de concentração, aumento na retenção de conteúdo e, principalmente, mais resultados em menos tempo.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Seu propósito pessoal
Agora, vamos falar de você. Por que você está aqui? O que te trouxe a este curso?
Talvez você esteja se preparando para um concurso público importante. Talvez esteja na faculdade e sente que poderia render muito mais. Ou talvez você simplesmente percebeu que passa mais tempo procrastinando do que realmente estudando.
Seja qual for seu motivo, quero que você pare um momento e reflita: qual é o seu verdadeiro porquê?
Não é "passar no concurso" ou "tirar boas notas". Vá mais fundo. É a segurança financeira para sua família? É provar para si mesmo que você é capaz? É construir a carreira dos seus sonhos?
Esse "porquê" profundo vai ser seu combustível nos momentos difíceis. E acredite, haverá momentos difíceis. Mas quando você tem clareza do seu propósito, atravessar esses momentos se torna possível.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caminho que vamos percorrer
Nosso curso está dividido em dois módulos e 30 aulas.
No Módulo 1, vamos trabalhar o Hiperfoco e a Hiperprodutividade. Você vai aprender a entrar em estados de concentração profunda, eliminar distrações, criar rituais de foco e maximizar seu tempo de estudo.
No Módulo 2, vamos explorar o Foco Disperso e a Maestria. Sim, você ouviu certo: foco disperso. Você vai descobrir que existe um modo de pensamento relaxado que é essencial para criatividade, consolidação da memória e insights. A verdadeira maestria está em saber alternar entre esses dois modos.
Cada aula tem uma atividade prática. Não pule essas atividades! O conhecimento sem aplicação é apenas informação. A transformação acontece quando você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Resumo dos pontos principais da aula. O problema da distração é real, mas tem solução. O método deste curso é baseado em ciência comprovada. Seu propósito pessoal é fundamental para o sucesso. São 30 aulas em 2 módulos: Hiperfoco e Foco Disperso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infográfico resume visualmente os principais conceitos da aula. Use-o para reforçar o aprendizado. O problema da distração é real, mas tem solução. O método deste curso é baseado em ciência comprovada. Seu propósito pessoal é fundamental para o sucesso. São 30 aulas em 2 módulos: Hiperfoco e Foco Disperso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Agora é hora da prática!  Antes de avançar para a próxima aula, complete esta atividade no Moodle!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Então vamos recapitular o que vimos hoje:
1. Vivemos na era da distração, mas existe um método comprovado para superar isso
2. Esse curso é baseado em ciência e em resultados reais
3. Seu propósito pessoal é o combustível para essa jornada
4. Temos 30 aulas divididas em dois módulos que vão te transformar
Na próxima aula, vamos mergulhar fundo nos conceitos de Hiperfoco e Hiperprodutividade. Você vai entender exatamente o que significam esses termos e como eles se aplicam aos seus estudos.
Mas antes, é hora da sua primeira atividade prática. Não pule essa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0F172A"/>
          </a:solidFill>
          <a:ln/>
        </p:spPr>
      </p:sp>
      <p:sp>
        <p:nvSpPr>
          <p:cNvPr id="3" name="Text 1"/>
          <p:cNvSpPr/>
          <p:nvPr/>
        </p:nvSpPr>
        <p:spPr>
          <a:xfrm>
            <a:off x="457200" y="320040"/>
            <a:ext cx="8229600" cy="365760"/>
          </a:xfrm>
          <a:prstGeom prst="rect">
            <a:avLst/>
          </a:prstGeom>
          <a:noFill/>
          <a:ln/>
        </p:spPr>
        <p:txBody>
          <a:bodyPr wrap="square" rtlCol="0" anchor="ctr"/>
          <a:lstStyle/>
          <a:p>
            <a:pPr indent="0" marL="0">
              <a:buNone/>
            </a:pPr>
            <a:r>
              <a:rPr lang="en-US" sz="1400" b="1" dirty="0">
                <a:solidFill>
                  <a:srgbClr val="22C55E"/>
                </a:solidFill>
                <a:latin typeface="Arial" pitchFamily="34" charset="0"/>
                <a:ea typeface="Arial" pitchFamily="34" charset="-122"/>
                <a:cs typeface="Arial" pitchFamily="34" charset="-120"/>
              </a:rPr>
              <a:t>1 - Hiperfoco e Hiperprodutividade | Bloco: Fundamentos</a:t>
            </a:r>
            <a:endParaRPr lang="en-US" sz="1400" dirty="0"/>
          </a:p>
        </p:txBody>
      </p:sp>
      <p:sp>
        <p:nvSpPr>
          <p:cNvPr id="4" name="Shape 2"/>
          <p:cNvSpPr/>
          <p:nvPr/>
        </p:nvSpPr>
        <p:spPr>
          <a:xfrm>
            <a:off x="274320" y="1371600"/>
            <a:ext cx="73152" cy="2286000"/>
          </a:xfrm>
          <a:prstGeom prst="rect">
            <a:avLst/>
          </a:prstGeom>
          <a:solidFill>
            <a:srgbClr val="667EEA"/>
          </a:solidFill>
          <a:ln/>
        </p:spPr>
      </p:sp>
      <p:sp>
        <p:nvSpPr>
          <p:cNvPr id="5" name="Shape 3"/>
          <p:cNvSpPr/>
          <p:nvPr/>
        </p:nvSpPr>
        <p:spPr>
          <a:xfrm>
            <a:off x="548640" y="1463040"/>
            <a:ext cx="1097280" cy="1097280"/>
          </a:xfrm>
          <a:prstGeom prst="ellipse">
            <a:avLst/>
          </a:prstGeom>
          <a:solidFill>
            <a:srgbClr val="667EEA"/>
          </a:solidFill>
          <a:ln/>
        </p:spPr>
      </p:sp>
      <p:sp>
        <p:nvSpPr>
          <p:cNvPr id="6" name="Text 4"/>
          <p:cNvSpPr/>
          <p:nvPr/>
        </p:nvSpPr>
        <p:spPr>
          <a:xfrm>
            <a:off x="548640" y="1691640"/>
            <a:ext cx="1097280" cy="64008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01</a:t>
            </a:r>
            <a:endParaRPr lang="en-US" sz="3200" dirty="0"/>
          </a:p>
        </p:txBody>
      </p:sp>
      <p:sp>
        <p:nvSpPr>
          <p:cNvPr id="7" name="Text 5"/>
          <p:cNvSpPr/>
          <p:nvPr/>
        </p:nvSpPr>
        <p:spPr>
          <a:xfrm>
            <a:off x="1828800" y="1463040"/>
            <a:ext cx="6858000" cy="914400"/>
          </a:xfrm>
          <a:prstGeom prst="rect">
            <a:avLst/>
          </a:prstGeom>
          <a:noFill/>
          <a:ln/>
        </p:spPr>
        <p:txBody>
          <a:bodyPr wrap="square" rtlCol="0" anchor="ctr"/>
          <a:lstStyle/>
          <a:p>
            <a:pPr indent="0" marL="0">
              <a:buNone/>
            </a:pPr>
            <a:r>
              <a:rPr lang="en-US" sz="2800" b="1" dirty="0">
                <a:solidFill>
                  <a:srgbClr val="FFFFFF"/>
                </a:solidFill>
                <a:latin typeface="Arial" pitchFamily="34" charset="0"/>
                <a:ea typeface="Arial" pitchFamily="34" charset="-122"/>
                <a:cs typeface="Arial" pitchFamily="34" charset="-120"/>
              </a:rPr>
              <a:t>Credibilidade, Propósito e o Caminho</a:t>
            </a:r>
            <a:endParaRPr lang="en-US" sz="2800" dirty="0"/>
          </a:p>
        </p:txBody>
      </p:sp>
      <p:sp>
        <p:nvSpPr>
          <p:cNvPr id="8" name="Text 6"/>
          <p:cNvSpPr/>
          <p:nvPr/>
        </p:nvSpPr>
        <p:spPr>
          <a:xfrm>
            <a:off x="1828800" y="2377440"/>
            <a:ext cx="6858000" cy="457200"/>
          </a:xfrm>
          <a:prstGeom prst="rect">
            <a:avLst/>
          </a:prstGeom>
          <a:noFill/>
          <a:ln/>
        </p:spPr>
        <p:txBody>
          <a:bodyPr wrap="square" rtlCol="0" anchor="ctr"/>
          <a:lstStyle/>
          <a:p>
            <a:pPr indent="0" marL="0">
              <a:buNone/>
            </a:pPr>
            <a:r>
              <a:rPr lang="en-US" sz="1600" dirty="0">
                <a:solidFill>
                  <a:srgbClr val="667EEA"/>
                </a:solidFill>
                <a:latin typeface="Arial" pitchFamily="34" charset="0"/>
                <a:ea typeface="Arial" pitchFamily="34" charset="-122"/>
                <a:cs typeface="Arial" pitchFamily="34" charset="-120"/>
              </a:rPr>
              <a:t>Foco e Produtividade nos Estudos</a:t>
            </a:r>
            <a:endParaRPr lang="en-US" sz="1600" dirty="0"/>
          </a:p>
        </p:txBody>
      </p:sp>
      <p:sp>
        <p:nvSpPr>
          <p:cNvPr id="9" name="Shape 7"/>
          <p:cNvSpPr/>
          <p:nvPr/>
        </p:nvSpPr>
        <p:spPr>
          <a:xfrm>
            <a:off x="1828800" y="3017520"/>
            <a:ext cx="2743200" cy="54864"/>
          </a:xfrm>
          <a:prstGeom prst="rect">
            <a:avLst/>
          </a:prstGeom>
          <a:solidFill>
            <a:srgbClr val="22C55E"/>
          </a:solidFill>
          <a:ln/>
        </p:spPr>
      </p:sp>
      <p:sp>
        <p:nvSpPr>
          <p:cNvPr id="10" name="Shape 8"/>
          <p:cNvSpPr/>
          <p:nvPr/>
        </p:nvSpPr>
        <p:spPr>
          <a:xfrm>
            <a:off x="457200" y="3474720"/>
            <a:ext cx="2560320" cy="731520"/>
          </a:xfrm>
          <a:prstGeom prst="roundRect">
            <a:avLst/>
          </a:prstGeom>
          <a:solidFill>
            <a:srgbClr val="2A2A4A"/>
          </a:solidFill>
          <a:ln w="12700">
            <a:solidFill>
              <a:srgbClr val="667EEA"/>
            </a:solidFill>
            <a:prstDash val="solid"/>
          </a:ln>
        </p:spPr>
      </p:sp>
      <p:sp>
        <p:nvSpPr>
          <p:cNvPr id="11" name="Text 9"/>
          <p:cNvSpPr/>
          <p:nvPr/>
        </p:nvSpPr>
        <p:spPr>
          <a:xfrm>
            <a:off x="457200" y="3611880"/>
            <a:ext cx="2560320" cy="457200"/>
          </a:xfrm>
          <a:prstGeom prst="rect">
            <a:avLst/>
          </a:prstGeom>
          <a:noFill/>
          <a:ln/>
        </p:spPr>
        <p:txBody>
          <a:bodyPr wrap="square" rtlCol="0" anchor="ctr"/>
          <a:lstStyle/>
          <a:p>
            <a:pPr algn="ctr" indent="0" marL="0">
              <a:buNone/>
            </a:pPr>
            <a:r>
              <a:rPr lang="en-US" sz="1100" dirty="0">
                <a:solidFill>
                  <a:srgbClr val="FFFFFF"/>
                </a:solidFill>
                <a:latin typeface="Arial" pitchFamily="34" charset="0"/>
                <a:ea typeface="Arial" pitchFamily="34" charset="-122"/>
                <a:cs typeface="Arial" pitchFamily="34" charset="-120"/>
              </a:rPr>
              <a:t>⏱ Duração: ~20 minutos</a:t>
            </a:r>
            <a:endParaRPr lang="en-US" sz="1100" dirty="0"/>
          </a:p>
        </p:txBody>
      </p:sp>
      <p:sp>
        <p:nvSpPr>
          <p:cNvPr id="12" name="Shape 10"/>
          <p:cNvSpPr/>
          <p:nvPr/>
        </p:nvSpPr>
        <p:spPr>
          <a:xfrm>
            <a:off x="3200400" y="3474720"/>
            <a:ext cx="2560320" cy="731520"/>
          </a:xfrm>
          <a:prstGeom prst="roundRect">
            <a:avLst/>
          </a:prstGeom>
          <a:solidFill>
            <a:srgbClr val="2A2A4A"/>
          </a:solidFill>
          <a:ln w="12700">
            <a:solidFill>
              <a:srgbClr val="22C55E"/>
            </a:solidFill>
            <a:prstDash val="solid"/>
          </a:ln>
        </p:spPr>
      </p:sp>
      <p:sp>
        <p:nvSpPr>
          <p:cNvPr id="13" name="Text 11"/>
          <p:cNvSpPr/>
          <p:nvPr/>
        </p:nvSpPr>
        <p:spPr>
          <a:xfrm>
            <a:off x="3200400" y="3611880"/>
            <a:ext cx="2560320" cy="457200"/>
          </a:xfrm>
          <a:prstGeom prst="rect">
            <a:avLst/>
          </a:prstGeom>
          <a:noFill/>
          <a:ln/>
        </p:spPr>
        <p:txBody>
          <a:bodyPr wrap="square" rtlCol="0" anchor="ctr"/>
          <a:lstStyle/>
          <a:p>
            <a:pPr algn="ctr" indent="0" marL="0">
              <a:buNone/>
            </a:pPr>
            <a:r>
              <a:rPr lang="en-US" sz="1100" dirty="0">
                <a:solidFill>
                  <a:srgbClr val="FFFFFF"/>
                </a:solidFill>
                <a:latin typeface="Arial" pitchFamily="34" charset="0"/>
                <a:ea typeface="Arial" pitchFamily="34" charset="-122"/>
                <a:cs typeface="Arial" pitchFamily="34" charset="-120"/>
              </a:rPr>
              <a:t>📚 Nível: Introdutório</a:t>
            </a:r>
            <a:endParaRPr lang="en-US" sz="1100" dirty="0"/>
          </a:p>
        </p:txBody>
      </p:sp>
      <p:sp>
        <p:nvSpPr>
          <p:cNvPr id="14" name="Shape 12"/>
          <p:cNvSpPr/>
          <p:nvPr/>
        </p:nvSpPr>
        <p:spPr>
          <a:xfrm>
            <a:off x="5943600" y="3474720"/>
            <a:ext cx="2560320" cy="731520"/>
          </a:xfrm>
          <a:prstGeom prst="roundRect">
            <a:avLst/>
          </a:prstGeom>
          <a:solidFill>
            <a:srgbClr val="2A2A4A"/>
          </a:solidFill>
          <a:ln w="12700">
            <a:solidFill>
              <a:srgbClr val="3B82F6"/>
            </a:solidFill>
            <a:prstDash val="solid"/>
          </a:ln>
        </p:spPr>
      </p:sp>
      <p:sp>
        <p:nvSpPr>
          <p:cNvPr id="15" name="Text 13"/>
          <p:cNvSpPr/>
          <p:nvPr/>
        </p:nvSpPr>
        <p:spPr>
          <a:xfrm>
            <a:off x="5943600" y="3611880"/>
            <a:ext cx="2560320" cy="457200"/>
          </a:xfrm>
          <a:prstGeom prst="rect">
            <a:avLst/>
          </a:prstGeom>
          <a:noFill/>
          <a:ln/>
        </p:spPr>
        <p:txBody>
          <a:bodyPr wrap="square" rtlCol="0" anchor="ctr"/>
          <a:lstStyle/>
          <a:p>
            <a:pPr algn="ctr" indent="0" marL="0">
              <a:buNone/>
            </a:pPr>
            <a:r>
              <a:rPr lang="en-US" sz="1100" dirty="0">
                <a:solidFill>
                  <a:srgbClr val="FFFFFF"/>
                </a:solidFill>
                <a:latin typeface="Arial" pitchFamily="34" charset="0"/>
                <a:ea typeface="Arial" pitchFamily="34" charset="-122"/>
                <a:cs typeface="Arial" pitchFamily="34" charset="-120"/>
              </a:rPr>
              <a:t>🎯 Prático</a:t>
            </a:r>
            <a:endParaRPr lang="en-US" sz="1100" dirty="0"/>
          </a:p>
        </p:txBody>
      </p:sp>
      <p:pic>
        <p:nvPicPr>
          <p:cNvPr id="17"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 Objetivos da Aula</a:t>
            </a:r>
            <a:endParaRPr lang="en-US" sz="2000" dirty="0"/>
          </a:p>
        </p:txBody>
      </p:sp>
      <p:sp>
        <p:nvSpPr>
          <p:cNvPr id="4" name="Shape 2"/>
          <p:cNvSpPr/>
          <p:nvPr/>
        </p:nvSpPr>
        <p:spPr>
          <a:xfrm>
            <a:off x="457200" y="1097280"/>
            <a:ext cx="8229600" cy="822960"/>
          </a:xfrm>
          <a:prstGeom prst="roundRect">
            <a:avLst/>
          </a:prstGeom>
          <a:solidFill>
            <a:srgbClr val="2A2A4A"/>
          </a:solidFill>
          <a:ln w="25400">
            <a:solidFill>
              <a:srgbClr val="667EEA"/>
            </a:solidFill>
            <a:prstDash val="solid"/>
          </a:ln>
        </p:spPr>
      </p:sp>
      <p:sp>
        <p:nvSpPr>
          <p:cNvPr id="5" name="Shape 3"/>
          <p:cNvSpPr/>
          <p:nvPr/>
        </p:nvSpPr>
        <p:spPr>
          <a:xfrm>
            <a:off x="640080" y="1234440"/>
            <a:ext cx="548640" cy="548640"/>
          </a:xfrm>
          <a:prstGeom prst="ellipse">
            <a:avLst/>
          </a:prstGeom>
          <a:solidFill>
            <a:srgbClr val="667EEA"/>
          </a:solidFill>
          <a:ln/>
        </p:spPr>
      </p:sp>
      <p:sp>
        <p:nvSpPr>
          <p:cNvPr id="6" name="Text 4"/>
          <p:cNvSpPr/>
          <p:nvPr/>
        </p:nvSpPr>
        <p:spPr>
          <a:xfrm>
            <a:off x="640080" y="1325880"/>
            <a:ext cx="548640" cy="36576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7" name="Text 5"/>
          <p:cNvSpPr/>
          <p:nvPr/>
        </p:nvSpPr>
        <p:spPr>
          <a:xfrm>
            <a:off x="1371600" y="1325880"/>
            <a:ext cx="7132320" cy="457200"/>
          </a:xfrm>
          <a:prstGeom prst="rect">
            <a:avLst/>
          </a:prstGeom>
          <a:noFill/>
          <a:ln/>
        </p:spPr>
        <p:txBody>
          <a:bodyPr wrap="square" rtlCol="0" anchor="ctr"/>
          <a:lstStyle/>
          <a:p>
            <a:pPr indent="0" marL="0">
              <a:buNone/>
            </a:pPr>
            <a:r>
              <a:rPr lang="en-US" sz="1600" dirty="0">
                <a:solidFill>
                  <a:srgbClr val="FFFFFF"/>
                </a:solidFill>
                <a:latin typeface="Arial" pitchFamily="34" charset="0"/>
                <a:ea typeface="Arial" pitchFamily="34" charset="-122"/>
                <a:cs typeface="Arial" pitchFamily="34" charset="-120"/>
              </a:rPr>
              <a:t>O problema da distração é real, mas tem solução</a:t>
            </a:r>
            <a:endParaRPr lang="en-US" sz="1600" dirty="0"/>
          </a:p>
        </p:txBody>
      </p:sp>
      <p:sp>
        <p:nvSpPr>
          <p:cNvPr id="8" name="Shape 6"/>
          <p:cNvSpPr/>
          <p:nvPr/>
        </p:nvSpPr>
        <p:spPr>
          <a:xfrm>
            <a:off x="457200" y="2103120"/>
            <a:ext cx="8229600" cy="822960"/>
          </a:xfrm>
          <a:prstGeom prst="roundRect">
            <a:avLst/>
          </a:prstGeom>
          <a:solidFill>
            <a:srgbClr val="2A2A4A"/>
          </a:solidFill>
          <a:ln w="25400">
            <a:solidFill>
              <a:srgbClr val="22C55E"/>
            </a:solidFill>
            <a:prstDash val="solid"/>
          </a:ln>
        </p:spPr>
      </p:sp>
      <p:sp>
        <p:nvSpPr>
          <p:cNvPr id="9" name="Shape 7"/>
          <p:cNvSpPr/>
          <p:nvPr/>
        </p:nvSpPr>
        <p:spPr>
          <a:xfrm>
            <a:off x="640080" y="2240280"/>
            <a:ext cx="548640" cy="548640"/>
          </a:xfrm>
          <a:prstGeom prst="ellipse">
            <a:avLst/>
          </a:prstGeom>
          <a:solidFill>
            <a:srgbClr val="22C55E"/>
          </a:solidFill>
          <a:ln/>
        </p:spPr>
      </p:sp>
      <p:sp>
        <p:nvSpPr>
          <p:cNvPr id="10" name="Text 8"/>
          <p:cNvSpPr/>
          <p:nvPr/>
        </p:nvSpPr>
        <p:spPr>
          <a:xfrm>
            <a:off x="640080" y="2331720"/>
            <a:ext cx="548640" cy="36576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1" name="Text 9"/>
          <p:cNvSpPr/>
          <p:nvPr/>
        </p:nvSpPr>
        <p:spPr>
          <a:xfrm>
            <a:off x="1371600" y="2331720"/>
            <a:ext cx="7132320" cy="457200"/>
          </a:xfrm>
          <a:prstGeom prst="rect">
            <a:avLst/>
          </a:prstGeom>
          <a:noFill/>
          <a:ln/>
        </p:spPr>
        <p:txBody>
          <a:bodyPr wrap="square" rtlCol="0" anchor="ctr"/>
          <a:lstStyle/>
          <a:p>
            <a:pPr indent="0" marL="0">
              <a:buNone/>
            </a:pPr>
            <a:r>
              <a:rPr lang="en-US" sz="1600" dirty="0">
                <a:solidFill>
                  <a:srgbClr val="FFFFFF"/>
                </a:solidFill>
                <a:latin typeface="Arial" pitchFamily="34" charset="0"/>
                <a:ea typeface="Arial" pitchFamily="34" charset="-122"/>
                <a:cs typeface="Arial" pitchFamily="34" charset="-120"/>
              </a:rPr>
              <a:t>O método deste curso é baseado em ciência comprovada</a:t>
            </a:r>
            <a:endParaRPr lang="en-US" sz="1600" dirty="0"/>
          </a:p>
        </p:txBody>
      </p:sp>
      <p:sp>
        <p:nvSpPr>
          <p:cNvPr id="12" name="Shape 10"/>
          <p:cNvSpPr/>
          <p:nvPr/>
        </p:nvSpPr>
        <p:spPr>
          <a:xfrm>
            <a:off x="457200" y="3108960"/>
            <a:ext cx="8229600" cy="822960"/>
          </a:xfrm>
          <a:prstGeom prst="roundRect">
            <a:avLst/>
          </a:prstGeom>
          <a:solidFill>
            <a:srgbClr val="2A2A4A"/>
          </a:solidFill>
          <a:ln w="25400">
            <a:solidFill>
              <a:srgbClr val="3B82F6"/>
            </a:solidFill>
            <a:prstDash val="solid"/>
          </a:ln>
        </p:spPr>
      </p:sp>
      <p:sp>
        <p:nvSpPr>
          <p:cNvPr id="13" name="Shape 11"/>
          <p:cNvSpPr/>
          <p:nvPr/>
        </p:nvSpPr>
        <p:spPr>
          <a:xfrm>
            <a:off x="640080" y="3246120"/>
            <a:ext cx="548640" cy="548640"/>
          </a:xfrm>
          <a:prstGeom prst="ellipse">
            <a:avLst/>
          </a:prstGeom>
          <a:solidFill>
            <a:srgbClr val="3B82F6"/>
          </a:solidFill>
          <a:ln/>
        </p:spPr>
      </p:sp>
      <p:sp>
        <p:nvSpPr>
          <p:cNvPr id="14" name="Text 12"/>
          <p:cNvSpPr/>
          <p:nvPr/>
        </p:nvSpPr>
        <p:spPr>
          <a:xfrm>
            <a:off x="640080" y="3337560"/>
            <a:ext cx="548640" cy="36576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5" name="Text 13"/>
          <p:cNvSpPr/>
          <p:nvPr/>
        </p:nvSpPr>
        <p:spPr>
          <a:xfrm>
            <a:off x="1371600" y="3337560"/>
            <a:ext cx="7132320" cy="457200"/>
          </a:xfrm>
          <a:prstGeom prst="rect">
            <a:avLst/>
          </a:prstGeom>
          <a:noFill/>
          <a:ln/>
        </p:spPr>
        <p:txBody>
          <a:bodyPr wrap="square" rtlCol="0" anchor="ctr"/>
          <a:lstStyle/>
          <a:p>
            <a:pPr indent="0" marL="0">
              <a:buNone/>
            </a:pPr>
            <a:r>
              <a:rPr lang="en-US" sz="1600" dirty="0">
                <a:solidFill>
                  <a:srgbClr val="FFFFFF"/>
                </a:solidFill>
                <a:latin typeface="Arial" pitchFamily="34" charset="0"/>
                <a:ea typeface="Arial" pitchFamily="34" charset="-122"/>
                <a:cs typeface="Arial" pitchFamily="34" charset="-120"/>
              </a:rPr>
              <a:t>Seu propósito pessoal é fundamental para o sucesso</a:t>
            </a:r>
            <a:endParaRPr lang="en-US" sz="1600" dirty="0"/>
          </a:p>
        </p:txBody>
      </p:sp>
      <p:sp>
        <p:nvSpPr>
          <p:cNvPr id="16" name="Shape 14"/>
          <p:cNvSpPr/>
          <p:nvPr/>
        </p:nvSpPr>
        <p:spPr>
          <a:xfrm>
            <a:off x="8869680" y="1097280"/>
            <a:ext cx="91440" cy="3017520"/>
          </a:xfrm>
          <a:prstGeom prst="rect">
            <a:avLst/>
          </a:prstGeom>
          <a:solidFill>
            <a:srgbClr val="667EEA"/>
          </a:solidFill>
          <a:ln/>
        </p:spPr>
      </p:sp>
      <p:pic>
        <p:nvPicPr>
          <p:cNvPr id="18"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Shape 1"/>
          <p:cNvSpPr/>
          <p:nvPr/>
        </p:nvSpPr>
        <p:spPr>
          <a:xfrm>
            <a:off x="0" y="777240"/>
            <a:ext cx="2286000" cy="45720"/>
          </a:xfrm>
          <a:prstGeom prst="rect">
            <a:avLst/>
          </a:prstGeom>
          <a:solidFill>
            <a:srgbClr val="667EEA"/>
          </a:solidFill>
          <a:ln/>
        </p:spPr>
      </p:sp>
      <p:sp>
        <p:nvSpPr>
          <p:cNvPr id="4" name="Shape 2"/>
          <p:cNvSpPr/>
          <p:nvPr/>
        </p:nvSpPr>
        <p:spPr>
          <a:xfrm>
            <a:off x="274320" y="137160"/>
            <a:ext cx="548640" cy="548640"/>
          </a:xfrm>
          <a:prstGeom prst="ellipse">
            <a:avLst/>
          </a:prstGeom>
          <a:solidFill>
            <a:srgbClr val="667EEA"/>
          </a:solidFill>
          <a:ln/>
        </p:spPr>
      </p:sp>
      <p:sp>
        <p:nvSpPr>
          <p:cNvPr id="5" name="Text 3"/>
          <p:cNvSpPr/>
          <p:nvPr/>
        </p:nvSpPr>
        <p:spPr>
          <a:xfrm>
            <a:off x="274320" y="228600"/>
            <a:ext cx="54864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p:nvPr/>
        </p:nvSpPr>
        <p:spPr>
          <a:xfrm>
            <a:off x="1005840" y="228600"/>
            <a:ext cx="77724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Por que este curso existe</a:t>
            </a:r>
            <a:endParaRPr lang="en-US" sz="2000" dirty="0"/>
          </a:p>
        </p:txBody>
      </p:sp>
      <p:sp>
        <p:nvSpPr>
          <p:cNvPr id="7" name="Shape 5"/>
          <p:cNvSpPr/>
          <p:nvPr/>
        </p:nvSpPr>
        <p:spPr>
          <a:xfrm>
            <a:off x="457200" y="1097280"/>
            <a:ext cx="8229600" cy="777240"/>
          </a:xfrm>
          <a:prstGeom prst="roundRect">
            <a:avLst/>
          </a:prstGeom>
          <a:solidFill>
            <a:srgbClr val="2A2A4A"/>
          </a:solidFill>
          <a:ln w="19050">
            <a:solidFill>
              <a:srgbClr val="667EEA"/>
            </a:solidFill>
            <a:prstDash val="solid"/>
          </a:ln>
        </p:spPr>
      </p:sp>
      <p:sp>
        <p:nvSpPr>
          <p:cNvPr id="8" name="Shape 6"/>
          <p:cNvSpPr/>
          <p:nvPr/>
        </p:nvSpPr>
        <p:spPr>
          <a:xfrm>
            <a:off x="457200" y="1097280"/>
            <a:ext cx="109728" cy="777240"/>
          </a:xfrm>
          <a:prstGeom prst="rect">
            <a:avLst/>
          </a:prstGeom>
          <a:solidFill>
            <a:srgbClr val="667EEA"/>
          </a:solidFill>
          <a:ln/>
        </p:spPr>
      </p:sp>
      <p:sp>
        <p:nvSpPr>
          <p:cNvPr id="9" name="Text 7"/>
          <p:cNvSpPr/>
          <p:nvPr/>
        </p:nvSpPr>
        <p:spPr>
          <a:xfrm>
            <a:off x="685800" y="1325880"/>
            <a:ext cx="274320" cy="320040"/>
          </a:xfrm>
          <a:prstGeom prst="rect">
            <a:avLst/>
          </a:prstGeom>
          <a:noFill/>
          <a:ln/>
        </p:spPr>
        <p:txBody>
          <a:bodyPr wrap="square" rtlCol="0" anchor="ctr"/>
          <a:lstStyle/>
          <a:p>
            <a:pPr indent="0" marL="0">
              <a:buNone/>
            </a:pPr>
            <a:r>
              <a:rPr lang="en-US" sz="1600" b="1" dirty="0">
                <a:solidFill>
                  <a:srgbClr val="667EEA"/>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960120" y="13258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A epidemia da distração no mundo moderno</a:t>
            </a:r>
            <a:endParaRPr lang="en-US" sz="1400" dirty="0"/>
          </a:p>
        </p:txBody>
      </p:sp>
      <p:sp>
        <p:nvSpPr>
          <p:cNvPr id="11" name="Shape 9"/>
          <p:cNvSpPr/>
          <p:nvPr/>
        </p:nvSpPr>
        <p:spPr>
          <a:xfrm>
            <a:off x="457200" y="2011680"/>
            <a:ext cx="8229600" cy="777240"/>
          </a:xfrm>
          <a:prstGeom prst="roundRect">
            <a:avLst/>
          </a:prstGeom>
          <a:solidFill>
            <a:srgbClr val="2A2A4A"/>
          </a:solidFill>
          <a:ln w="19050">
            <a:solidFill>
              <a:srgbClr val="667EEA"/>
            </a:solidFill>
            <a:prstDash val="solid"/>
          </a:ln>
        </p:spPr>
      </p:sp>
      <p:sp>
        <p:nvSpPr>
          <p:cNvPr id="12" name="Shape 10"/>
          <p:cNvSpPr/>
          <p:nvPr/>
        </p:nvSpPr>
        <p:spPr>
          <a:xfrm>
            <a:off x="457200" y="2011680"/>
            <a:ext cx="109728" cy="777240"/>
          </a:xfrm>
          <a:prstGeom prst="rect">
            <a:avLst/>
          </a:prstGeom>
          <a:solidFill>
            <a:srgbClr val="667EEA"/>
          </a:solidFill>
          <a:ln/>
        </p:spPr>
      </p:sp>
      <p:sp>
        <p:nvSpPr>
          <p:cNvPr id="13" name="Text 11"/>
          <p:cNvSpPr/>
          <p:nvPr/>
        </p:nvSpPr>
        <p:spPr>
          <a:xfrm>
            <a:off x="685800" y="2240280"/>
            <a:ext cx="274320" cy="320040"/>
          </a:xfrm>
          <a:prstGeom prst="rect">
            <a:avLst/>
          </a:prstGeom>
          <a:noFill/>
          <a:ln/>
        </p:spPr>
        <p:txBody>
          <a:bodyPr wrap="square" rtlCol="0" anchor="ctr"/>
          <a:lstStyle/>
          <a:p>
            <a:pPr indent="0" marL="0">
              <a:buNone/>
            </a:pPr>
            <a:r>
              <a:rPr lang="en-US" sz="1600" b="1" dirty="0">
                <a:solidFill>
                  <a:srgbClr val="667EEA"/>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960120" y="22402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Como a falta de foco afeta os estudos</a:t>
            </a:r>
            <a:endParaRPr lang="en-US" sz="1400" dirty="0"/>
          </a:p>
        </p:txBody>
      </p:sp>
      <p:sp>
        <p:nvSpPr>
          <p:cNvPr id="15" name="Shape 13"/>
          <p:cNvSpPr/>
          <p:nvPr/>
        </p:nvSpPr>
        <p:spPr>
          <a:xfrm>
            <a:off x="457200" y="2926080"/>
            <a:ext cx="8229600" cy="777240"/>
          </a:xfrm>
          <a:prstGeom prst="roundRect">
            <a:avLst/>
          </a:prstGeom>
          <a:solidFill>
            <a:srgbClr val="2A2A4A"/>
          </a:solidFill>
          <a:ln w="19050">
            <a:solidFill>
              <a:srgbClr val="667EEA"/>
            </a:solidFill>
            <a:prstDash val="solid"/>
          </a:ln>
        </p:spPr>
      </p:sp>
      <p:sp>
        <p:nvSpPr>
          <p:cNvPr id="16" name="Shape 14"/>
          <p:cNvSpPr/>
          <p:nvPr/>
        </p:nvSpPr>
        <p:spPr>
          <a:xfrm>
            <a:off x="457200" y="2926080"/>
            <a:ext cx="109728" cy="777240"/>
          </a:xfrm>
          <a:prstGeom prst="rect">
            <a:avLst/>
          </a:prstGeom>
          <a:solidFill>
            <a:srgbClr val="667EEA"/>
          </a:solidFill>
          <a:ln/>
        </p:spPr>
      </p:sp>
      <p:sp>
        <p:nvSpPr>
          <p:cNvPr id="17" name="Text 15"/>
          <p:cNvSpPr/>
          <p:nvPr/>
        </p:nvSpPr>
        <p:spPr>
          <a:xfrm>
            <a:off x="685800" y="3154680"/>
            <a:ext cx="274320" cy="320040"/>
          </a:xfrm>
          <a:prstGeom prst="rect">
            <a:avLst/>
          </a:prstGeom>
          <a:noFill/>
          <a:ln/>
        </p:spPr>
        <p:txBody>
          <a:bodyPr wrap="square" rtlCol="0" anchor="ctr"/>
          <a:lstStyle/>
          <a:p>
            <a:pPr indent="0" marL="0">
              <a:buNone/>
            </a:pPr>
            <a:r>
              <a:rPr lang="en-US" sz="1600" b="1" dirty="0">
                <a:solidFill>
                  <a:srgbClr val="667EEA"/>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960120" y="31546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A promessa do curso: transformação real</a:t>
            </a:r>
            <a:endParaRPr lang="en-US" sz="1400" dirty="0"/>
          </a:p>
        </p:txBody>
      </p:sp>
      <p:sp>
        <p:nvSpPr>
          <p:cNvPr id="19" name="Shape 17"/>
          <p:cNvSpPr/>
          <p:nvPr/>
        </p:nvSpPr>
        <p:spPr>
          <a:xfrm>
            <a:off x="8686800" y="4114800"/>
            <a:ext cx="457200" cy="457200"/>
          </a:xfrm>
          <a:prstGeom prst="rect">
            <a:avLst/>
          </a:prstGeom>
          <a:solidFill>
            <a:srgbClr val="667EEA"/>
          </a:solidFill>
          <a:ln/>
        </p:spPr>
      </p:sp>
      <p:pic>
        <p:nvPicPr>
          <p:cNvPr id="21"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Shape 1"/>
          <p:cNvSpPr/>
          <p:nvPr/>
        </p:nvSpPr>
        <p:spPr>
          <a:xfrm>
            <a:off x="0" y="777240"/>
            <a:ext cx="4572000" cy="45720"/>
          </a:xfrm>
          <a:prstGeom prst="rect">
            <a:avLst/>
          </a:prstGeom>
          <a:solidFill>
            <a:srgbClr val="22C55E"/>
          </a:solidFill>
          <a:ln/>
        </p:spPr>
      </p:sp>
      <p:sp>
        <p:nvSpPr>
          <p:cNvPr id="4" name="Shape 2"/>
          <p:cNvSpPr/>
          <p:nvPr/>
        </p:nvSpPr>
        <p:spPr>
          <a:xfrm>
            <a:off x="274320" y="137160"/>
            <a:ext cx="548640" cy="548640"/>
          </a:xfrm>
          <a:prstGeom prst="ellipse">
            <a:avLst/>
          </a:prstGeom>
          <a:solidFill>
            <a:srgbClr val="22C55E"/>
          </a:solidFill>
          <a:ln/>
        </p:spPr>
      </p:sp>
      <p:sp>
        <p:nvSpPr>
          <p:cNvPr id="5" name="Text 3"/>
          <p:cNvSpPr/>
          <p:nvPr/>
        </p:nvSpPr>
        <p:spPr>
          <a:xfrm>
            <a:off x="274320" y="228600"/>
            <a:ext cx="54864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6" name="Text 4"/>
          <p:cNvSpPr/>
          <p:nvPr/>
        </p:nvSpPr>
        <p:spPr>
          <a:xfrm>
            <a:off x="1005840" y="228600"/>
            <a:ext cx="77724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Credibilidade do método</a:t>
            </a:r>
            <a:endParaRPr lang="en-US" sz="2000" dirty="0"/>
          </a:p>
        </p:txBody>
      </p:sp>
      <p:sp>
        <p:nvSpPr>
          <p:cNvPr id="7" name="Shape 5"/>
          <p:cNvSpPr/>
          <p:nvPr/>
        </p:nvSpPr>
        <p:spPr>
          <a:xfrm>
            <a:off x="457200" y="1097280"/>
            <a:ext cx="8229600" cy="777240"/>
          </a:xfrm>
          <a:prstGeom prst="roundRect">
            <a:avLst/>
          </a:prstGeom>
          <a:solidFill>
            <a:srgbClr val="2A2A4A"/>
          </a:solidFill>
          <a:ln w="19050">
            <a:solidFill>
              <a:srgbClr val="22C55E"/>
            </a:solidFill>
            <a:prstDash val="solid"/>
          </a:ln>
        </p:spPr>
      </p:sp>
      <p:sp>
        <p:nvSpPr>
          <p:cNvPr id="8" name="Shape 6"/>
          <p:cNvSpPr/>
          <p:nvPr/>
        </p:nvSpPr>
        <p:spPr>
          <a:xfrm>
            <a:off x="457200" y="1097280"/>
            <a:ext cx="109728" cy="777240"/>
          </a:xfrm>
          <a:prstGeom prst="rect">
            <a:avLst/>
          </a:prstGeom>
          <a:solidFill>
            <a:srgbClr val="22C55E"/>
          </a:solidFill>
          <a:ln/>
        </p:spPr>
      </p:sp>
      <p:sp>
        <p:nvSpPr>
          <p:cNvPr id="9" name="Text 7"/>
          <p:cNvSpPr/>
          <p:nvPr/>
        </p:nvSpPr>
        <p:spPr>
          <a:xfrm>
            <a:off x="685800" y="1325880"/>
            <a:ext cx="274320" cy="320040"/>
          </a:xfrm>
          <a:prstGeom prst="rect">
            <a:avLst/>
          </a:prstGeom>
          <a:noFill/>
          <a:ln/>
        </p:spPr>
        <p:txBody>
          <a:bodyPr wrap="square" rtlCol="0" anchor="ctr"/>
          <a:lstStyle/>
          <a:p>
            <a:pPr indent="0" marL="0">
              <a:buNone/>
            </a:pPr>
            <a:r>
              <a:rPr lang="en-US" sz="1600" b="1" dirty="0">
                <a:solidFill>
                  <a:srgbClr val="22C55E"/>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960120" y="13258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Base científica (neurociência e psicologia cognitiva)</a:t>
            </a:r>
            <a:endParaRPr lang="en-US" sz="1400" dirty="0"/>
          </a:p>
        </p:txBody>
      </p:sp>
      <p:sp>
        <p:nvSpPr>
          <p:cNvPr id="11" name="Shape 9"/>
          <p:cNvSpPr/>
          <p:nvPr/>
        </p:nvSpPr>
        <p:spPr>
          <a:xfrm>
            <a:off x="457200" y="2011680"/>
            <a:ext cx="8229600" cy="777240"/>
          </a:xfrm>
          <a:prstGeom prst="roundRect">
            <a:avLst/>
          </a:prstGeom>
          <a:solidFill>
            <a:srgbClr val="2A2A4A"/>
          </a:solidFill>
          <a:ln w="19050">
            <a:solidFill>
              <a:srgbClr val="22C55E"/>
            </a:solidFill>
            <a:prstDash val="solid"/>
          </a:ln>
        </p:spPr>
      </p:sp>
      <p:sp>
        <p:nvSpPr>
          <p:cNvPr id="12" name="Shape 10"/>
          <p:cNvSpPr/>
          <p:nvPr/>
        </p:nvSpPr>
        <p:spPr>
          <a:xfrm>
            <a:off x="457200" y="2011680"/>
            <a:ext cx="109728" cy="777240"/>
          </a:xfrm>
          <a:prstGeom prst="rect">
            <a:avLst/>
          </a:prstGeom>
          <a:solidFill>
            <a:srgbClr val="22C55E"/>
          </a:solidFill>
          <a:ln/>
        </p:spPr>
      </p:sp>
      <p:sp>
        <p:nvSpPr>
          <p:cNvPr id="13" name="Text 11"/>
          <p:cNvSpPr/>
          <p:nvPr/>
        </p:nvSpPr>
        <p:spPr>
          <a:xfrm>
            <a:off x="685800" y="2240280"/>
            <a:ext cx="274320" cy="320040"/>
          </a:xfrm>
          <a:prstGeom prst="rect">
            <a:avLst/>
          </a:prstGeom>
          <a:noFill/>
          <a:ln/>
        </p:spPr>
        <p:txBody>
          <a:bodyPr wrap="square" rtlCol="0" anchor="ctr"/>
          <a:lstStyle/>
          <a:p>
            <a:pPr indent="0" marL="0">
              <a:buNone/>
            </a:pPr>
            <a:r>
              <a:rPr lang="en-US" sz="1600" b="1" dirty="0">
                <a:solidFill>
                  <a:srgbClr val="22C55E"/>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960120" y="22402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Referências: Chris Bailey, Cal Newport, Scott Young</a:t>
            </a:r>
            <a:endParaRPr lang="en-US" sz="1400" dirty="0"/>
          </a:p>
        </p:txBody>
      </p:sp>
      <p:sp>
        <p:nvSpPr>
          <p:cNvPr id="15" name="Shape 13"/>
          <p:cNvSpPr/>
          <p:nvPr/>
        </p:nvSpPr>
        <p:spPr>
          <a:xfrm>
            <a:off x="457200" y="2926080"/>
            <a:ext cx="8229600" cy="777240"/>
          </a:xfrm>
          <a:prstGeom prst="roundRect">
            <a:avLst/>
          </a:prstGeom>
          <a:solidFill>
            <a:srgbClr val="2A2A4A"/>
          </a:solidFill>
          <a:ln w="19050">
            <a:solidFill>
              <a:srgbClr val="22C55E"/>
            </a:solidFill>
            <a:prstDash val="solid"/>
          </a:ln>
        </p:spPr>
      </p:sp>
      <p:sp>
        <p:nvSpPr>
          <p:cNvPr id="16" name="Shape 14"/>
          <p:cNvSpPr/>
          <p:nvPr/>
        </p:nvSpPr>
        <p:spPr>
          <a:xfrm>
            <a:off x="457200" y="2926080"/>
            <a:ext cx="109728" cy="777240"/>
          </a:xfrm>
          <a:prstGeom prst="rect">
            <a:avLst/>
          </a:prstGeom>
          <a:solidFill>
            <a:srgbClr val="22C55E"/>
          </a:solidFill>
          <a:ln/>
        </p:spPr>
      </p:sp>
      <p:sp>
        <p:nvSpPr>
          <p:cNvPr id="17" name="Text 15"/>
          <p:cNvSpPr/>
          <p:nvPr/>
        </p:nvSpPr>
        <p:spPr>
          <a:xfrm>
            <a:off x="685800" y="3154680"/>
            <a:ext cx="274320" cy="320040"/>
          </a:xfrm>
          <a:prstGeom prst="rect">
            <a:avLst/>
          </a:prstGeom>
          <a:noFill/>
          <a:ln/>
        </p:spPr>
        <p:txBody>
          <a:bodyPr wrap="square" rtlCol="0" anchor="ctr"/>
          <a:lstStyle/>
          <a:p>
            <a:pPr indent="0" marL="0">
              <a:buNone/>
            </a:pPr>
            <a:r>
              <a:rPr lang="en-US" sz="1600" b="1" dirty="0">
                <a:solidFill>
                  <a:srgbClr val="22C55E"/>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960120" y="31546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Resultados comprovados de estudantes</a:t>
            </a:r>
            <a:endParaRPr lang="en-US" sz="1400" dirty="0"/>
          </a:p>
        </p:txBody>
      </p:sp>
      <p:sp>
        <p:nvSpPr>
          <p:cNvPr id="19" name="Shape 17"/>
          <p:cNvSpPr/>
          <p:nvPr/>
        </p:nvSpPr>
        <p:spPr>
          <a:xfrm>
            <a:off x="8686800" y="4114800"/>
            <a:ext cx="457200" cy="457200"/>
          </a:xfrm>
          <a:prstGeom prst="rect">
            <a:avLst/>
          </a:prstGeom>
          <a:solidFill>
            <a:srgbClr val="22C55E"/>
          </a:solidFill>
          <a:ln/>
        </p:spPr>
      </p:sp>
      <p:pic>
        <p:nvPicPr>
          <p:cNvPr id="21"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Shape 1"/>
          <p:cNvSpPr/>
          <p:nvPr/>
        </p:nvSpPr>
        <p:spPr>
          <a:xfrm>
            <a:off x="0" y="777240"/>
            <a:ext cx="6858000" cy="45720"/>
          </a:xfrm>
          <a:prstGeom prst="rect">
            <a:avLst/>
          </a:prstGeom>
          <a:solidFill>
            <a:srgbClr val="3B82F6"/>
          </a:solidFill>
          <a:ln/>
        </p:spPr>
      </p:sp>
      <p:sp>
        <p:nvSpPr>
          <p:cNvPr id="4" name="Shape 2"/>
          <p:cNvSpPr/>
          <p:nvPr/>
        </p:nvSpPr>
        <p:spPr>
          <a:xfrm>
            <a:off x="274320" y="137160"/>
            <a:ext cx="548640" cy="548640"/>
          </a:xfrm>
          <a:prstGeom prst="ellipse">
            <a:avLst/>
          </a:prstGeom>
          <a:solidFill>
            <a:srgbClr val="3B82F6"/>
          </a:solidFill>
          <a:ln/>
        </p:spPr>
      </p:sp>
      <p:sp>
        <p:nvSpPr>
          <p:cNvPr id="5" name="Text 3"/>
          <p:cNvSpPr/>
          <p:nvPr/>
        </p:nvSpPr>
        <p:spPr>
          <a:xfrm>
            <a:off x="274320" y="228600"/>
            <a:ext cx="54864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6" name="Text 4"/>
          <p:cNvSpPr/>
          <p:nvPr/>
        </p:nvSpPr>
        <p:spPr>
          <a:xfrm>
            <a:off x="1005840" y="228600"/>
            <a:ext cx="77724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Seu propósito pessoal</a:t>
            </a:r>
            <a:endParaRPr lang="en-US" sz="2000" dirty="0"/>
          </a:p>
        </p:txBody>
      </p:sp>
      <p:sp>
        <p:nvSpPr>
          <p:cNvPr id="7" name="Shape 5"/>
          <p:cNvSpPr/>
          <p:nvPr/>
        </p:nvSpPr>
        <p:spPr>
          <a:xfrm>
            <a:off x="457200" y="1097280"/>
            <a:ext cx="8229600" cy="777240"/>
          </a:xfrm>
          <a:prstGeom prst="roundRect">
            <a:avLst/>
          </a:prstGeom>
          <a:solidFill>
            <a:srgbClr val="2A2A4A"/>
          </a:solidFill>
          <a:ln w="19050">
            <a:solidFill>
              <a:srgbClr val="3B82F6"/>
            </a:solidFill>
            <a:prstDash val="solid"/>
          </a:ln>
        </p:spPr>
      </p:sp>
      <p:sp>
        <p:nvSpPr>
          <p:cNvPr id="8" name="Shape 6"/>
          <p:cNvSpPr/>
          <p:nvPr/>
        </p:nvSpPr>
        <p:spPr>
          <a:xfrm>
            <a:off x="457200" y="1097280"/>
            <a:ext cx="109728" cy="777240"/>
          </a:xfrm>
          <a:prstGeom prst="rect">
            <a:avLst/>
          </a:prstGeom>
          <a:solidFill>
            <a:srgbClr val="3B82F6"/>
          </a:solidFill>
          <a:ln/>
        </p:spPr>
      </p:sp>
      <p:sp>
        <p:nvSpPr>
          <p:cNvPr id="9" name="Text 7"/>
          <p:cNvSpPr/>
          <p:nvPr/>
        </p:nvSpPr>
        <p:spPr>
          <a:xfrm>
            <a:off x="685800" y="1325880"/>
            <a:ext cx="274320" cy="320040"/>
          </a:xfrm>
          <a:prstGeom prst="rect">
            <a:avLst/>
          </a:prstGeom>
          <a:noFill/>
          <a:ln/>
        </p:spPr>
        <p:txBody>
          <a:bodyPr wrap="square" rtlCol="0" anchor="ctr"/>
          <a:lstStyle/>
          <a:p>
            <a:pPr indent="0" marL="0">
              <a:buNone/>
            </a:pPr>
            <a:r>
              <a:rPr lang="en-US" sz="1600" b="1" dirty="0">
                <a:solidFill>
                  <a:srgbClr val="3B82F6"/>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960120" y="13258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Por que você está aqui?</a:t>
            </a:r>
            <a:endParaRPr lang="en-US" sz="1400" dirty="0"/>
          </a:p>
        </p:txBody>
      </p:sp>
      <p:sp>
        <p:nvSpPr>
          <p:cNvPr id="11" name="Shape 9"/>
          <p:cNvSpPr/>
          <p:nvPr/>
        </p:nvSpPr>
        <p:spPr>
          <a:xfrm>
            <a:off x="457200" y="2011680"/>
            <a:ext cx="8229600" cy="777240"/>
          </a:xfrm>
          <a:prstGeom prst="roundRect">
            <a:avLst/>
          </a:prstGeom>
          <a:solidFill>
            <a:srgbClr val="2A2A4A"/>
          </a:solidFill>
          <a:ln w="19050">
            <a:solidFill>
              <a:srgbClr val="3B82F6"/>
            </a:solidFill>
            <a:prstDash val="solid"/>
          </a:ln>
        </p:spPr>
      </p:sp>
      <p:sp>
        <p:nvSpPr>
          <p:cNvPr id="12" name="Shape 10"/>
          <p:cNvSpPr/>
          <p:nvPr/>
        </p:nvSpPr>
        <p:spPr>
          <a:xfrm>
            <a:off x="457200" y="2011680"/>
            <a:ext cx="109728" cy="777240"/>
          </a:xfrm>
          <a:prstGeom prst="rect">
            <a:avLst/>
          </a:prstGeom>
          <a:solidFill>
            <a:srgbClr val="3B82F6"/>
          </a:solidFill>
          <a:ln/>
        </p:spPr>
      </p:sp>
      <p:sp>
        <p:nvSpPr>
          <p:cNvPr id="13" name="Text 11"/>
          <p:cNvSpPr/>
          <p:nvPr/>
        </p:nvSpPr>
        <p:spPr>
          <a:xfrm>
            <a:off x="685800" y="2240280"/>
            <a:ext cx="274320" cy="320040"/>
          </a:xfrm>
          <a:prstGeom prst="rect">
            <a:avLst/>
          </a:prstGeom>
          <a:noFill/>
          <a:ln/>
        </p:spPr>
        <p:txBody>
          <a:bodyPr wrap="square" rtlCol="0" anchor="ctr"/>
          <a:lstStyle/>
          <a:p>
            <a:pPr indent="0" marL="0">
              <a:buNone/>
            </a:pPr>
            <a:r>
              <a:rPr lang="en-US" sz="1600" b="1" dirty="0">
                <a:solidFill>
                  <a:srgbClr val="3B82F6"/>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960120" y="22402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Definindo objetivos claros</a:t>
            </a:r>
            <a:endParaRPr lang="en-US" sz="1400" dirty="0"/>
          </a:p>
        </p:txBody>
      </p:sp>
      <p:sp>
        <p:nvSpPr>
          <p:cNvPr id="15" name="Shape 13"/>
          <p:cNvSpPr/>
          <p:nvPr/>
        </p:nvSpPr>
        <p:spPr>
          <a:xfrm>
            <a:off x="457200" y="2926080"/>
            <a:ext cx="8229600" cy="777240"/>
          </a:xfrm>
          <a:prstGeom prst="roundRect">
            <a:avLst/>
          </a:prstGeom>
          <a:solidFill>
            <a:srgbClr val="2A2A4A"/>
          </a:solidFill>
          <a:ln w="19050">
            <a:solidFill>
              <a:srgbClr val="3B82F6"/>
            </a:solidFill>
            <a:prstDash val="solid"/>
          </a:ln>
        </p:spPr>
      </p:sp>
      <p:sp>
        <p:nvSpPr>
          <p:cNvPr id="16" name="Shape 14"/>
          <p:cNvSpPr/>
          <p:nvPr/>
        </p:nvSpPr>
        <p:spPr>
          <a:xfrm>
            <a:off x="457200" y="2926080"/>
            <a:ext cx="109728" cy="777240"/>
          </a:xfrm>
          <a:prstGeom prst="rect">
            <a:avLst/>
          </a:prstGeom>
          <a:solidFill>
            <a:srgbClr val="3B82F6"/>
          </a:solidFill>
          <a:ln/>
        </p:spPr>
      </p:sp>
      <p:sp>
        <p:nvSpPr>
          <p:cNvPr id="17" name="Text 15"/>
          <p:cNvSpPr/>
          <p:nvPr/>
        </p:nvSpPr>
        <p:spPr>
          <a:xfrm>
            <a:off x="685800" y="3154680"/>
            <a:ext cx="274320" cy="320040"/>
          </a:xfrm>
          <a:prstGeom prst="rect">
            <a:avLst/>
          </a:prstGeom>
          <a:noFill/>
          <a:ln/>
        </p:spPr>
        <p:txBody>
          <a:bodyPr wrap="square" rtlCol="0" anchor="ctr"/>
          <a:lstStyle/>
          <a:p>
            <a:pPr indent="0" marL="0">
              <a:buNone/>
            </a:pPr>
            <a:r>
              <a:rPr lang="en-US" sz="1600" b="1" dirty="0">
                <a:solidFill>
                  <a:srgbClr val="3B82F6"/>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960120" y="31546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O poder do "porquê" na motivação</a:t>
            </a:r>
            <a:endParaRPr lang="en-US" sz="1400" dirty="0"/>
          </a:p>
        </p:txBody>
      </p:sp>
      <p:sp>
        <p:nvSpPr>
          <p:cNvPr id="19" name="Shape 17"/>
          <p:cNvSpPr/>
          <p:nvPr/>
        </p:nvSpPr>
        <p:spPr>
          <a:xfrm>
            <a:off x="8686800" y="4114800"/>
            <a:ext cx="457200" cy="457200"/>
          </a:xfrm>
          <a:prstGeom prst="rect">
            <a:avLst/>
          </a:prstGeom>
          <a:solidFill>
            <a:srgbClr val="3B82F6"/>
          </a:solidFill>
          <a:ln/>
        </p:spPr>
      </p:sp>
      <p:pic>
        <p:nvPicPr>
          <p:cNvPr id="21"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Shape 1"/>
          <p:cNvSpPr/>
          <p:nvPr/>
        </p:nvSpPr>
        <p:spPr>
          <a:xfrm>
            <a:off x="0" y="777240"/>
            <a:ext cx="9144000" cy="45720"/>
          </a:xfrm>
          <a:prstGeom prst="rect">
            <a:avLst/>
          </a:prstGeom>
          <a:solidFill>
            <a:srgbClr val="9333EA"/>
          </a:solidFill>
          <a:ln/>
        </p:spPr>
      </p:sp>
      <p:sp>
        <p:nvSpPr>
          <p:cNvPr id="4" name="Shape 2"/>
          <p:cNvSpPr/>
          <p:nvPr/>
        </p:nvSpPr>
        <p:spPr>
          <a:xfrm>
            <a:off x="274320" y="137160"/>
            <a:ext cx="548640" cy="548640"/>
          </a:xfrm>
          <a:prstGeom prst="ellipse">
            <a:avLst/>
          </a:prstGeom>
          <a:solidFill>
            <a:srgbClr val="9333EA"/>
          </a:solidFill>
          <a:ln/>
        </p:spPr>
      </p:sp>
      <p:sp>
        <p:nvSpPr>
          <p:cNvPr id="5" name="Text 3"/>
          <p:cNvSpPr/>
          <p:nvPr/>
        </p:nvSpPr>
        <p:spPr>
          <a:xfrm>
            <a:off x="274320" y="228600"/>
            <a:ext cx="54864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6" name="Text 4"/>
          <p:cNvSpPr/>
          <p:nvPr/>
        </p:nvSpPr>
        <p:spPr>
          <a:xfrm>
            <a:off x="1005840" y="228600"/>
            <a:ext cx="77724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O caminho que vamos percorrer</a:t>
            </a:r>
            <a:endParaRPr lang="en-US" sz="2000" dirty="0"/>
          </a:p>
        </p:txBody>
      </p:sp>
      <p:sp>
        <p:nvSpPr>
          <p:cNvPr id="7" name="Shape 5"/>
          <p:cNvSpPr/>
          <p:nvPr/>
        </p:nvSpPr>
        <p:spPr>
          <a:xfrm>
            <a:off x="457200" y="1097280"/>
            <a:ext cx="8229600" cy="777240"/>
          </a:xfrm>
          <a:prstGeom prst="roundRect">
            <a:avLst/>
          </a:prstGeom>
          <a:solidFill>
            <a:srgbClr val="2A2A4A"/>
          </a:solidFill>
          <a:ln w="19050">
            <a:solidFill>
              <a:srgbClr val="9333EA"/>
            </a:solidFill>
            <a:prstDash val="solid"/>
          </a:ln>
        </p:spPr>
      </p:sp>
      <p:sp>
        <p:nvSpPr>
          <p:cNvPr id="8" name="Shape 6"/>
          <p:cNvSpPr/>
          <p:nvPr/>
        </p:nvSpPr>
        <p:spPr>
          <a:xfrm>
            <a:off x="457200" y="1097280"/>
            <a:ext cx="109728" cy="777240"/>
          </a:xfrm>
          <a:prstGeom prst="rect">
            <a:avLst/>
          </a:prstGeom>
          <a:solidFill>
            <a:srgbClr val="9333EA"/>
          </a:solidFill>
          <a:ln/>
        </p:spPr>
      </p:sp>
      <p:sp>
        <p:nvSpPr>
          <p:cNvPr id="9" name="Text 7"/>
          <p:cNvSpPr/>
          <p:nvPr/>
        </p:nvSpPr>
        <p:spPr>
          <a:xfrm>
            <a:off x="685800" y="1325880"/>
            <a:ext cx="274320" cy="320040"/>
          </a:xfrm>
          <a:prstGeom prst="rect">
            <a:avLst/>
          </a:prstGeom>
          <a:noFill/>
          <a:ln/>
        </p:spPr>
        <p:txBody>
          <a:bodyPr wrap="square" rtlCol="0" anchor="ctr"/>
          <a:lstStyle/>
          <a:p>
            <a:pPr indent="0" marL="0">
              <a:buNone/>
            </a:pPr>
            <a:r>
              <a:rPr lang="en-US" sz="1600" b="1" dirty="0">
                <a:solidFill>
                  <a:srgbClr val="9333EA"/>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960120" y="13258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Visão geral dos dois módulos</a:t>
            </a:r>
            <a:endParaRPr lang="en-US" sz="1400" dirty="0"/>
          </a:p>
        </p:txBody>
      </p:sp>
      <p:sp>
        <p:nvSpPr>
          <p:cNvPr id="11" name="Shape 9"/>
          <p:cNvSpPr/>
          <p:nvPr/>
        </p:nvSpPr>
        <p:spPr>
          <a:xfrm>
            <a:off x="457200" y="2011680"/>
            <a:ext cx="8229600" cy="777240"/>
          </a:xfrm>
          <a:prstGeom prst="roundRect">
            <a:avLst/>
          </a:prstGeom>
          <a:solidFill>
            <a:srgbClr val="2A2A4A"/>
          </a:solidFill>
          <a:ln w="19050">
            <a:solidFill>
              <a:srgbClr val="9333EA"/>
            </a:solidFill>
            <a:prstDash val="solid"/>
          </a:ln>
        </p:spPr>
      </p:sp>
      <p:sp>
        <p:nvSpPr>
          <p:cNvPr id="12" name="Shape 10"/>
          <p:cNvSpPr/>
          <p:nvPr/>
        </p:nvSpPr>
        <p:spPr>
          <a:xfrm>
            <a:off x="457200" y="2011680"/>
            <a:ext cx="109728" cy="777240"/>
          </a:xfrm>
          <a:prstGeom prst="rect">
            <a:avLst/>
          </a:prstGeom>
          <a:solidFill>
            <a:srgbClr val="9333EA"/>
          </a:solidFill>
          <a:ln/>
        </p:spPr>
      </p:sp>
      <p:sp>
        <p:nvSpPr>
          <p:cNvPr id="13" name="Text 11"/>
          <p:cNvSpPr/>
          <p:nvPr/>
        </p:nvSpPr>
        <p:spPr>
          <a:xfrm>
            <a:off x="685800" y="2240280"/>
            <a:ext cx="274320" cy="320040"/>
          </a:xfrm>
          <a:prstGeom prst="rect">
            <a:avLst/>
          </a:prstGeom>
          <a:noFill/>
          <a:ln/>
        </p:spPr>
        <p:txBody>
          <a:bodyPr wrap="square" rtlCol="0" anchor="ctr"/>
          <a:lstStyle/>
          <a:p>
            <a:pPr indent="0" marL="0">
              <a:buNone/>
            </a:pPr>
            <a:r>
              <a:rPr lang="en-US" sz="1600" b="1" dirty="0">
                <a:solidFill>
                  <a:srgbClr val="9333EA"/>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960120" y="22402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Estrutura das 30 aulas</a:t>
            </a:r>
            <a:endParaRPr lang="en-US" sz="1400" dirty="0"/>
          </a:p>
        </p:txBody>
      </p:sp>
      <p:sp>
        <p:nvSpPr>
          <p:cNvPr id="15" name="Shape 13"/>
          <p:cNvSpPr/>
          <p:nvPr/>
        </p:nvSpPr>
        <p:spPr>
          <a:xfrm>
            <a:off x="457200" y="2926080"/>
            <a:ext cx="8229600" cy="777240"/>
          </a:xfrm>
          <a:prstGeom prst="roundRect">
            <a:avLst/>
          </a:prstGeom>
          <a:solidFill>
            <a:srgbClr val="2A2A4A"/>
          </a:solidFill>
          <a:ln w="19050">
            <a:solidFill>
              <a:srgbClr val="9333EA"/>
            </a:solidFill>
            <a:prstDash val="solid"/>
          </a:ln>
        </p:spPr>
      </p:sp>
      <p:sp>
        <p:nvSpPr>
          <p:cNvPr id="16" name="Shape 14"/>
          <p:cNvSpPr/>
          <p:nvPr/>
        </p:nvSpPr>
        <p:spPr>
          <a:xfrm>
            <a:off x="457200" y="2926080"/>
            <a:ext cx="109728" cy="777240"/>
          </a:xfrm>
          <a:prstGeom prst="rect">
            <a:avLst/>
          </a:prstGeom>
          <a:solidFill>
            <a:srgbClr val="9333EA"/>
          </a:solidFill>
          <a:ln/>
        </p:spPr>
      </p:sp>
      <p:sp>
        <p:nvSpPr>
          <p:cNvPr id="17" name="Text 15"/>
          <p:cNvSpPr/>
          <p:nvPr/>
        </p:nvSpPr>
        <p:spPr>
          <a:xfrm>
            <a:off x="685800" y="3154680"/>
            <a:ext cx="274320" cy="320040"/>
          </a:xfrm>
          <a:prstGeom prst="rect">
            <a:avLst/>
          </a:prstGeom>
          <a:noFill/>
          <a:ln/>
        </p:spPr>
        <p:txBody>
          <a:bodyPr wrap="square" rtlCol="0" anchor="ctr"/>
          <a:lstStyle/>
          <a:p>
            <a:pPr indent="0" marL="0">
              <a:buNone/>
            </a:pPr>
            <a:r>
              <a:rPr lang="en-US" sz="1600" b="1" dirty="0">
                <a:solidFill>
                  <a:srgbClr val="9333EA"/>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960120" y="31546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Como aproveitar ao máximo o curso</a:t>
            </a:r>
            <a:endParaRPr lang="en-US" sz="1400" dirty="0"/>
          </a:p>
        </p:txBody>
      </p:sp>
      <p:sp>
        <p:nvSpPr>
          <p:cNvPr id="19" name="Shape 17"/>
          <p:cNvSpPr/>
          <p:nvPr/>
        </p:nvSpPr>
        <p:spPr>
          <a:xfrm>
            <a:off x="8686800" y="4114800"/>
            <a:ext cx="457200" cy="457200"/>
          </a:xfrm>
          <a:prstGeom prst="rect">
            <a:avLst/>
          </a:prstGeom>
          <a:solidFill>
            <a:srgbClr val="9333EA"/>
          </a:solidFill>
          <a:ln/>
        </p:spPr>
      </p:sp>
      <p:pic>
        <p:nvPicPr>
          <p:cNvPr id="21"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 Pontos-Chave</a:t>
            </a:r>
            <a:endParaRPr lang="en-US" sz="2000" dirty="0"/>
          </a:p>
        </p:txBody>
      </p:sp>
      <p:sp>
        <p:nvSpPr>
          <p:cNvPr id="4" name="Shape 2"/>
          <p:cNvSpPr/>
          <p:nvPr/>
        </p:nvSpPr>
        <p:spPr>
          <a:xfrm>
            <a:off x="0" y="777240"/>
            <a:ext cx="9144000" cy="45720"/>
          </a:xfrm>
          <a:prstGeom prst="rect">
            <a:avLst/>
          </a:prstGeom>
          <a:solidFill>
            <a:srgbClr val="22C55E"/>
          </a:solidFill>
          <a:ln/>
        </p:spPr>
      </p:sp>
      <p:sp>
        <p:nvSpPr>
          <p:cNvPr id="5" name="Shape 3"/>
          <p:cNvSpPr/>
          <p:nvPr/>
        </p:nvSpPr>
        <p:spPr>
          <a:xfrm>
            <a:off x="685800" y="1097280"/>
            <a:ext cx="54864" cy="3200400"/>
          </a:xfrm>
          <a:prstGeom prst="rect">
            <a:avLst/>
          </a:prstGeom>
          <a:solidFill>
            <a:srgbClr val="3D3D5C"/>
          </a:solidFill>
          <a:ln/>
        </p:spPr>
      </p:sp>
      <p:sp>
        <p:nvSpPr>
          <p:cNvPr id="6" name="Shape 4"/>
          <p:cNvSpPr/>
          <p:nvPr/>
        </p:nvSpPr>
        <p:spPr>
          <a:xfrm>
            <a:off x="502920" y="1188720"/>
            <a:ext cx="457200" cy="457200"/>
          </a:xfrm>
          <a:prstGeom prst="ellipse">
            <a:avLst/>
          </a:prstGeom>
          <a:solidFill>
            <a:srgbClr val="667EEA"/>
          </a:solidFill>
          <a:ln/>
        </p:spPr>
      </p:sp>
      <p:sp>
        <p:nvSpPr>
          <p:cNvPr id="7" name="Text 5"/>
          <p:cNvSpPr/>
          <p:nvPr/>
        </p:nvSpPr>
        <p:spPr>
          <a:xfrm>
            <a:off x="502920" y="1234440"/>
            <a:ext cx="45720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8" name="Shape 6"/>
          <p:cNvSpPr/>
          <p:nvPr/>
        </p:nvSpPr>
        <p:spPr>
          <a:xfrm>
            <a:off x="1188720" y="1097280"/>
            <a:ext cx="7498080" cy="640080"/>
          </a:xfrm>
          <a:prstGeom prst="roundRect">
            <a:avLst/>
          </a:prstGeom>
          <a:solidFill>
            <a:srgbClr val="2A2A4A"/>
          </a:solidFill>
          <a:ln w="25400">
            <a:solidFill>
              <a:srgbClr val="667EEA"/>
            </a:solidFill>
            <a:prstDash val="solid"/>
          </a:ln>
        </p:spPr>
      </p:sp>
      <p:sp>
        <p:nvSpPr>
          <p:cNvPr id="9" name="Text 7"/>
          <p:cNvSpPr/>
          <p:nvPr/>
        </p:nvSpPr>
        <p:spPr>
          <a:xfrm>
            <a:off x="1371600" y="1234440"/>
            <a:ext cx="713232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O problema da distração é real, mas tem solução</a:t>
            </a:r>
            <a:endParaRPr lang="en-US" sz="1400" dirty="0"/>
          </a:p>
        </p:txBody>
      </p:sp>
      <p:sp>
        <p:nvSpPr>
          <p:cNvPr id="10" name="Shape 8"/>
          <p:cNvSpPr/>
          <p:nvPr/>
        </p:nvSpPr>
        <p:spPr>
          <a:xfrm>
            <a:off x="502920" y="2011680"/>
            <a:ext cx="457200" cy="457200"/>
          </a:xfrm>
          <a:prstGeom prst="ellipse">
            <a:avLst/>
          </a:prstGeom>
          <a:solidFill>
            <a:srgbClr val="22C55E"/>
          </a:solidFill>
          <a:ln/>
        </p:spPr>
      </p:sp>
      <p:sp>
        <p:nvSpPr>
          <p:cNvPr id="11" name="Text 9"/>
          <p:cNvSpPr/>
          <p:nvPr/>
        </p:nvSpPr>
        <p:spPr>
          <a:xfrm>
            <a:off x="502920" y="2057400"/>
            <a:ext cx="45720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2" name="Shape 10"/>
          <p:cNvSpPr/>
          <p:nvPr/>
        </p:nvSpPr>
        <p:spPr>
          <a:xfrm>
            <a:off x="1188720" y="1920240"/>
            <a:ext cx="7498080" cy="640080"/>
          </a:xfrm>
          <a:prstGeom prst="roundRect">
            <a:avLst/>
          </a:prstGeom>
          <a:solidFill>
            <a:srgbClr val="2A2A4A"/>
          </a:solidFill>
          <a:ln w="25400">
            <a:solidFill>
              <a:srgbClr val="22C55E"/>
            </a:solidFill>
            <a:prstDash val="solid"/>
          </a:ln>
        </p:spPr>
      </p:sp>
      <p:sp>
        <p:nvSpPr>
          <p:cNvPr id="13" name="Text 11"/>
          <p:cNvSpPr/>
          <p:nvPr/>
        </p:nvSpPr>
        <p:spPr>
          <a:xfrm>
            <a:off x="1371600" y="2057400"/>
            <a:ext cx="713232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O método deste curso é baseado em ciência comprovada</a:t>
            </a:r>
            <a:endParaRPr lang="en-US" sz="1400" dirty="0"/>
          </a:p>
        </p:txBody>
      </p:sp>
      <p:sp>
        <p:nvSpPr>
          <p:cNvPr id="14" name="Shape 12"/>
          <p:cNvSpPr/>
          <p:nvPr/>
        </p:nvSpPr>
        <p:spPr>
          <a:xfrm>
            <a:off x="502920" y="2834640"/>
            <a:ext cx="457200" cy="457200"/>
          </a:xfrm>
          <a:prstGeom prst="ellipse">
            <a:avLst/>
          </a:prstGeom>
          <a:solidFill>
            <a:srgbClr val="3B82F6"/>
          </a:solidFill>
          <a:ln/>
        </p:spPr>
      </p:sp>
      <p:sp>
        <p:nvSpPr>
          <p:cNvPr id="15" name="Text 13"/>
          <p:cNvSpPr/>
          <p:nvPr/>
        </p:nvSpPr>
        <p:spPr>
          <a:xfrm>
            <a:off x="502920" y="2880360"/>
            <a:ext cx="45720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6" name="Shape 14"/>
          <p:cNvSpPr/>
          <p:nvPr/>
        </p:nvSpPr>
        <p:spPr>
          <a:xfrm>
            <a:off x="1188720" y="2743200"/>
            <a:ext cx="7498080" cy="640080"/>
          </a:xfrm>
          <a:prstGeom prst="roundRect">
            <a:avLst/>
          </a:prstGeom>
          <a:solidFill>
            <a:srgbClr val="2A2A4A"/>
          </a:solidFill>
          <a:ln w="25400">
            <a:solidFill>
              <a:srgbClr val="3B82F6"/>
            </a:solidFill>
            <a:prstDash val="solid"/>
          </a:ln>
        </p:spPr>
      </p:sp>
      <p:sp>
        <p:nvSpPr>
          <p:cNvPr id="17" name="Text 15"/>
          <p:cNvSpPr/>
          <p:nvPr/>
        </p:nvSpPr>
        <p:spPr>
          <a:xfrm>
            <a:off x="1371600" y="2880360"/>
            <a:ext cx="713232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Seu propósito pessoal é fundamental para o sucesso</a:t>
            </a:r>
            <a:endParaRPr lang="en-US" sz="1400" dirty="0"/>
          </a:p>
        </p:txBody>
      </p:sp>
      <p:sp>
        <p:nvSpPr>
          <p:cNvPr id="18" name="Shape 16"/>
          <p:cNvSpPr/>
          <p:nvPr/>
        </p:nvSpPr>
        <p:spPr>
          <a:xfrm>
            <a:off x="502920" y="3657600"/>
            <a:ext cx="457200" cy="457200"/>
          </a:xfrm>
          <a:prstGeom prst="ellipse">
            <a:avLst/>
          </a:prstGeom>
          <a:solidFill>
            <a:srgbClr val="9333EA"/>
          </a:solidFill>
          <a:ln/>
        </p:spPr>
      </p:sp>
      <p:sp>
        <p:nvSpPr>
          <p:cNvPr id="19" name="Text 17"/>
          <p:cNvSpPr/>
          <p:nvPr/>
        </p:nvSpPr>
        <p:spPr>
          <a:xfrm>
            <a:off x="502920" y="3703320"/>
            <a:ext cx="45720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20" name="Shape 18"/>
          <p:cNvSpPr/>
          <p:nvPr/>
        </p:nvSpPr>
        <p:spPr>
          <a:xfrm>
            <a:off x="1188720" y="3566160"/>
            <a:ext cx="7498080" cy="640080"/>
          </a:xfrm>
          <a:prstGeom prst="roundRect">
            <a:avLst/>
          </a:prstGeom>
          <a:solidFill>
            <a:srgbClr val="2A2A4A"/>
          </a:solidFill>
          <a:ln w="25400">
            <a:solidFill>
              <a:srgbClr val="9333EA"/>
            </a:solidFill>
            <a:prstDash val="solid"/>
          </a:ln>
        </p:spPr>
      </p:sp>
      <p:sp>
        <p:nvSpPr>
          <p:cNvPr id="21" name="Text 19"/>
          <p:cNvSpPr/>
          <p:nvPr/>
        </p:nvSpPr>
        <p:spPr>
          <a:xfrm>
            <a:off x="1371600" y="3703320"/>
            <a:ext cx="713232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São 30 aulas em 2 módulos: Hiperfoco e Foco Disperso</a:t>
            </a:r>
            <a:endParaRPr lang="en-US" sz="1400" dirty="0"/>
          </a:p>
        </p:txBody>
      </p:sp>
      <p:pic>
        <p:nvPicPr>
          <p:cNvPr id="23"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 Infográfico da Aula</a:t>
            </a:r>
            <a:endParaRPr lang="en-US" sz="2000" dirty="0"/>
          </a:p>
        </p:txBody>
      </p:sp>
      <p:pic>
        <p:nvPicPr>
          <p:cNvPr id="4" name="Image 0" descr="preencoded.png">    </p:cNvPr>
          <p:cNvPicPr>
            <a:picLocks noChangeAspect="1"/>
          </p:cNvPicPr>
          <p:nvPr/>
        </p:nvPicPr>
        <p:blipFill>
          <a:blip r:embed="rId1"/>
          <a:stretch>
            <a:fillRect/>
          </a:stretch>
        </p:blipFill>
        <p:spPr>
          <a:xfrm>
            <a:off x="274320" y="914400"/>
            <a:ext cx="5486400" cy="3383280"/>
          </a:xfrm>
          <a:prstGeom prst="rect">
            <a:avLst/>
          </a:prstGeom>
        </p:spPr>
      </p:pic>
      <p:sp>
        <p:nvSpPr>
          <p:cNvPr id="5" name="Text 2"/>
          <p:cNvSpPr/>
          <p:nvPr/>
        </p:nvSpPr>
        <p:spPr>
          <a:xfrm>
            <a:off x="5943600" y="914400"/>
            <a:ext cx="3017520" cy="365760"/>
          </a:xfrm>
          <a:prstGeom prst="rect">
            <a:avLst/>
          </a:prstGeom>
          <a:noFill/>
          <a:ln/>
        </p:spPr>
        <p:txBody>
          <a:bodyPr wrap="square" rtlCol="0" anchor="ctr"/>
          <a:lstStyle/>
          <a:p>
            <a:pPr indent="0" marL="0">
              <a:buNone/>
            </a:pPr>
            <a:r>
              <a:rPr lang="en-US" sz="1200" b="1" dirty="0">
                <a:solidFill>
                  <a:srgbClr val="22C55E"/>
                </a:solidFill>
                <a:latin typeface="Arial" pitchFamily="34" charset="0"/>
                <a:ea typeface="Arial" pitchFamily="34" charset="-122"/>
                <a:cs typeface="Arial" pitchFamily="34" charset="-120"/>
              </a:rPr>
              <a:t>Conceitos Principais:</a:t>
            </a:r>
            <a:endParaRPr lang="en-US" sz="1200" dirty="0"/>
          </a:p>
        </p:txBody>
      </p:sp>
      <p:sp>
        <p:nvSpPr>
          <p:cNvPr id="6" name="Shape 3"/>
          <p:cNvSpPr/>
          <p:nvPr/>
        </p:nvSpPr>
        <p:spPr>
          <a:xfrm>
            <a:off x="5943600" y="1371600"/>
            <a:ext cx="228600" cy="228600"/>
          </a:xfrm>
          <a:prstGeom prst="ellipse">
            <a:avLst/>
          </a:prstGeom>
          <a:solidFill>
            <a:srgbClr val="667EEA"/>
          </a:solidFill>
          <a:ln/>
        </p:spPr>
      </p:sp>
      <p:sp>
        <p:nvSpPr>
          <p:cNvPr id="7" name="Text 4"/>
          <p:cNvSpPr/>
          <p:nvPr/>
        </p:nvSpPr>
        <p:spPr>
          <a:xfrm>
            <a:off x="6309360" y="1325880"/>
            <a:ext cx="2560320" cy="731520"/>
          </a:xfrm>
          <a:prstGeom prst="rect">
            <a:avLst/>
          </a:prstGeom>
          <a:noFill/>
          <a:ln/>
        </p:spPr>
        <p:txBody>
          <a:bodyPr wrap="square" rtlCol="0" anchor="t"/>
          <a:lstStyle/>
          <a:p>
            <a:pPr indent="0" marL="0">
              <a:buNone/>
            </a:pPr>
            <a:r>
              <a:rPr lang="en-US" sz="1000" dirty="0">
                <a:solidFill>
                  <a:srgbClr val="FFFFFF"/>
                </a:solidFill>
                <a:latin typeface="Arial" pitchFamily="34" charset="0"/>
                <a:ea typeface="Arial" pitchFamily="34" charset="-122"/>
                <a:cs typeface="Arial" pitchFamily="34" charset="-120"/>
              </a:rPr>
              <a:t>O problema da distração é real, mas tem solução</a:t>
            </a:r>
            <a:endParaRPr lang="en-US" sz="1000" dirty="0"/>
          </a:p>
        </p:txBody>
      </p:sp>
      <p:sp>
        <p:nvSpPr>
          <p:cNvPr id="8" name="Shape 5"/>
          <p:cNvSpPr/>
          <p:nvPr/>
        </p:nvSpPr>
        <p:spPr>
          <a:xfrm>
            <a:off x="5943600" y="2148840"/>
            <a:ext cx="228600" cy="228600"/>
          </a:xfrm>
          <a:prstGeom prst="ellipse">
            <a:avLst/>
          </a:prstGeom>
          <a:solidFill>
            <a:srgbClr val="667EEA"/>
          </a:solidFill>
          <a:ln/>
        </p:spPr>
      </p:sp>
      <p:sp>
        <p:nvSpPr>
          <p:cNvPr id="9" name="Text 6"/>
          <p:cNvSpPr/>
          <p:nvPr/>
        </p:nvSpPr>
        <p:spPr>
          <a:xfrm>
            <a:off x="6309360" y="2103120"/>
            <a:ext cx="2560320" cy="731520"/>
          </a:xfrm>
          <a:prstGeom prst="rect">
            <a:avLst/>
          </a:prstGeom>
          <a:noFill/>
          <a:ln/>
        </p:spPr>
        <p:txBody>
          <a:bodyPr wrap="square" rtlCol="0" anchor="t"/>
          <a:lstStyle/>
          <a:p>
            <a:pPr indent="0" marL="0">
              <a:buNone/>
            </a:pPr>
            <a:r>
              <a:rPr lang="en-US" sz="1000" dirty="0">
                <a:solidFill>
                  <a:srgbClr val="FFFFFF"/>
                </a:solidFill>
                <a:latin typeface="Arial" pitchFamily="34" charset="0"/>
                <a:ea typeface="Arial" pitchFamily="34" charset="-122"/>
                <a:cs typeface="Arial" pitchFamily="34" charset="-120"/>
              </a:rPr>
              <a:t>O método deste curso é baseado em ciência comprovada</a:t>
            </a:r>
            <a:endParaRPr lang="en-US" sz="1000" dirty="0"/>
          </a:p>
        </p:txBody>
      </p:sp>
      <p:sp>
        <p:nvSpPr>
          <p:cNvPr id="10" name="Shape 7"/>
          <p:cNvSpPr/>
          <p:nvPr/>
        </p:nvSpPr>
        <p:spPr>
          <a:xfrm>
            <a:off x="5943600" y="2926080"/>
            <a:ext cx="228600" cy="228600"/>
          </a:xfrm>
          <a:prstGeom prst="ellipse">
            <a:avLst/>
          </a:prstGeom>
          <a:solidFill>
            <a:srgbClr val="667EEA"/>
          </a:solidFill>
          <a:ln/>
        </p:spPr>
      </p:sp>
      <p:sp>
        <p:nvSpPr>
          <p:cNvPr id="11" name="Text 8"/>
          <p:cNvSpPr/>
          <p:nvPr/>
        </p:nvSpPr>
        <p:spPr>
          <a:xfrm>
            <a:off x="6309360" y="2880360"/>
            <a:ext cx="2560320" cy="731520"/>
          </a:xfrm>
          <a:prstGeom prst="rect">
            <a:avLst/>
          </a:prstGeom>
          <a:noFill/>
          <a:ln/>
        </p:spPr>
        <p:txBody>
          <a:bodyPr wrap="square" rtlCol="0" anchor="t"/>
          <a:lstStyle/>
          <a:p>
            <a:pPr indent="0" marL="0">
              <a:buNone/>
            </a:pPr>
            <a:r>
              <a:rPr lang="en-US" sz="1000" dirty="0">
                <a:solidFill>
                  <a:srgbClr val="FFFFFF"/>
                </a:solidFill>
                <a:latin typeface="Arial" pitchFamily="34" charset="0"/>
                <a:ea typeface="Arial" pitchFamily="34" charset="-122"/>
                <a:cs typeface="Arial" pitchFamily="34" charset="-120"/>
              </a:rPr>
              <a:t>Seu propósito pessoal é fundamental para o sucesso</a:t>
            </a:r>
            <a:endParaRPr lang="en-US" sz="1000" dirty="0"/>
          </a:p>
        </p:txBody>
      </p:sp>
      <p:sp>
        <p:nvSpPr>
          <p:cNvPr id="12" name="Shape 9"/>
          <p:cNvSpPr/>
          <p:nvPr/>
        </p:nvSpPr>
        <p:spPr>
          <a:xfrm>
            <a:off x="5943600" y="3703320"/>
            <a:ext cx="228600" cy="228600"/>
          </a:xfrm>
          <a:prstGeom prst="ellipse">
            <a:avLst/>
          </a:prstGeom>
          <a:solidFill>
            <a:srgbClr val="667EEA"/>
          </a:solidFill>
          <a:ln/>
        </p:spPr>
      </p:sp>
      <p:sp>
        <p:nvSpPr>
          <p:cNvPr id="13" name="Text 10"/>
          <p:cNvSpPr/>
          <p:nvPr/>
        </p:nvSpPr>
        <p:spPr>
          <a:xfrm>
            <a:off x="6309360" y="3657600"/>
            <a:ext cx="2560320" cy="731520"/>
          </a:xfrm>
          <a:prstGeom prst="rect">
            <a:avLst/>
          </a:prstGeom>
          <a:noFill/>
          <a:ln/>
        </p:spPr>
        <p:txBody>
          <a:bodyPr wrap="square" rtlCol="0" anchor="t"/>
          <a:lstStyle/>
          <a:p>
            <a:pPr indent="0" marL="0">
              <a:buNone/>
            </a:pPr>
            <a:r>
              <a:rPr lang="en-US" sz="1000" dirty="0">
                <a:solidFill>
                  <a:srgbClr val="FFFFFF"/>
                </a:solidFill>
                <a:latin typeface="Arial" pitchFamily="34" charset="0"/>
                <a:ea typeface="Arial" pitchFamily="34" charset="-122"/>
                <a:cs typeface="Arial" pitchFamily="34" charset="-120"/>
              </a:rPr>
              <a:t>São 30 aulas em 2 módulos: Hiperfoco e Foco Disperso</a:t>
            </a:r>
            <a:endParaRPr lang="en-US" sz="1000" dirty="0"/>
          </a:p>
        </p:txBody>
      </p:sp>
      <p:pic>
        <p:nvPicPr>
          <p:cNvPr id="15" name="Image 1" descr="preencoded.png">    </p:cNvPr>
          <p:cNvPicPr>
            <a:picLocks noChangeAspect="1"/>
          </p:cNvPicPr>
          <p:nvPr/>
        </p:nvPicPr>
        <p:blipFill>
          <a:blip r:embed="rId2"/>
          <a:stretch>
            <a:fillRect/>
          </a:stretch>
        </p:blipFill>
        <p:spPr>
          <a:xfrm>
            <a:off x="7498080" y="4389120"/>
            <a:ext cx="1371600" cy="5486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 Atividade Prática</a:t>
            </a:r>
            <a:endParaRPr lang="en-US" sz="2000" dirty="0"/>
          </a:p>
        </p:txBody>
      </p:sp>
      <p:sp>
        <p:nvSpPr>
          <p:cNvPr id="4" name="Shape 2"/>
          <p:cNvSpPr/>
          <p:nvPr/>
        </p:nvSpPr>
        <p:spPr>
          <a:xfrm>
            <a:off x="457200" y="1005840"/>
            <a:ext cx="8229600" cy="2560320"/>
          </a:xfrm>
          <a:prstGeom prst="roundRect">
            <a:avLst/>
          </a:prstGeom>
          <a:solidFill>
            <a:srgbClr val="2A2A4A"/>
          </a:solidFill>
          <a:ln w="38100">
            <a:solidFill>
              <a:srgbClr val="22C55E"/>
            </a:solidFill>
            <a:prstDash val="solid"/>
          </a:ln>
        </p:spPr>
      </p:sp>
      <p:sp>
        <p:nvSpPr>
          <p:cNvPr id="5" name="Shape 3"/>
          <p:cNvSpPr/>
          <p:nvPr/>
        </p:nvSpPr>
        <p:spPr>
          <a:xfrm>
            <a:off x="731520" y="1280160"/>
            <a:ext cx="731520" cy="731520"/>
          </a:xfrm>
          <a:prstGeom prst="ellipse">
            <a:avLst/>
          </a:prstGeom>
          <a:solidFill>
            <a:srgbClr val="22C55E"/>
          </a:solidFill>
          <a:ln/>
        </p:spPr>
      </p:sp>
      <p:sp>
        <p:nvSpPr>
          <p:cNvPr id="6" name="Text 4"/>
          <p:cNvSpPr/>
          <p:nvPr/>
        </p:nvSpPr>
        <p:spPr>
          <a:xfrm>
            <a:off x="731520" y="1371600"/>
            <a:ext cx="731520" cy="54864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a:t>
            </a:r>
            <a:endParaRPr lang="en-US" sz="2800" dirty="0"/>
          </a:p>
        </p:txBody>
      </p:sp>
      <p:sp>
        <p:nvSpPr>
          <p:cNvPr id="7" name="Text 5"/>
          <p:cNvSpPr/>
          <p:nvPr/>
        </p:nvSpPr>
        <p:spPr>
          <a:xfrm>
            <a:off x="1645920" y="1280160"/>
            <a:ext cx="6858000" cy="457200"/>
          </a:xfrm>
          <a:prstGeom prst="rect">
            <a:avLst/>
          </a:prstGeom>
          <a:noFill/>
          <a:ln/>
        </p:spPr>
        <p:txBody>
          <a:bodyPr wrap="square" rtlCol="0" anchor="ctr"/>
          <a:lstStyle/>
          <a:p>
            <a:pPr indent="0" marL="0">
              <a:buNone/>
            </a:pPr>
            <a:r>
              <a:rPr lang="en-US" sz="1600" b="1" dirty="0">
                <a:solidFill>
                  <a:srgbClr val="22C55E"/>
                </a:solidFill>
                <a:latin typeface="Arial" pitchFamily="34" charset="0"/>
                <a:ea typeface="Arial" pitchFamily="34" charset="-122"/>
                <a:cs typeface="Arial" pitchFamily="34" charset="-120"/>
              </a:rPr>
              <a:t>Sua Missão:</a:t>
            </a:r>
            <a:endParaRPr lang="en-US" sz="1600" dirty="0"/>
          </a:p>
        </p:txBody>
      </p:sp>
      <p:sp>
        <p:nvSpPr>
          <p:cNvPr id="8" name="Text 6"/>
          <p:cNvSpPr/>
          <p:nvPr/>
        </p:nvSpPr>
        <p:spPr>
          <a:xfrm>
            <a:off x="1645920" y="1737360"/>
            <a:ext cx="6766560" cy="1645920"/>
          </a:xfrm>
          <a:prstGeom prst="rect">
            <a:avLst/>
          </a:prstGeom>
          <a:noFill/>
          <a:ln/>
        </p:spPr>
        <p:txBody>
          <a:bodyPr wrap="square" rtlCol="0" anchor="t"/>
          <a:lstStyle/>
          <a:p>
            <a:pPr indent="0" marL="0">
              <a:buNone/>
            </a:pPr>
            <a:r>
              <a:rPr lang="en-US" sz="1400" dirty="0">
                <a:solidFill>
                  <a:srgbClr val="FFFFFF"/>
                </a:solidFill>
                <a:latin typeface="Arial" pitchFamily="34" charset="0"/>
                <a:ea typeface="Arial" pitchFamily="34" charset="-122"/>
                <a:cs typeface="Arial" pitchFamily="34" charset="-120"/>
              </a:rPr>
              <a:t>&gt; **Antes de avançar para a próxima aula, complete esta atividade no Moodle!**</a:t>
            </a:r>
            <a:endParaRPr lang="en-US" sz="1400" dirty="0"/>
          </a:p>
        </p:txBody>
      </p:sp>
      <p:sp>
        <p:nvSpPr>
          <p:cNvPr id="9" name="Shape 7"/>
          <p:cNvSpPr/>
          <p:nvPr/>
        </p:nvSpPr>
        <p:spPr>
          <a:xfrm>
            <a:off x="457200" y="3749040"/>
            <a:ext cx="8229600" cy="640080"/>
          </a:xfrm>
          <a:prstGeom prst="roundRect">
            <a:avLst/>
          </a:prstGeom>
          <a:solidFill>
            <a:srgbClr val="1E3A5F"/>
          </a:solidFill>
          <a:ln w="12700">
            <a:solidFill>
              <a:srgbClr val="667EEA"/>
            </a:solidFill>
            <a:prstDash val="solid"/>
          </a:ln>
        </p:spPr>
      </p:sp>
      <p:sp>
        <p:nvSpPr>
          <p:cNvPr id="10" name="Text 8"/>
          <p:cNvSpPr/>
          <p:nvPr/>
        </p:nvSpPr>
        <p:spPr>
          <a:xfrm>
            <a:off x="457200" y="3886200"/>
            <a:ext cx="8229600" cy="365760"/>
          </a:xfrm>
          <a:prstGeom prst="rect">
            <a:avLst/>
          </a:prstGeom>
          <a:noFill/>
          <a:ln/>
        </p:spPr>
        <p:txBody>
          <a:bodyPr wrap="square" rtlCol="0" anchor="ctr"/>
          <a:lstStyle/>
          <a:p>
            <a:pPr algn="ctr" indent="0" marL="0">
              <a:buNone/>
            </a:pPr>
            <a:r>
              <a:rPr lang="en-US" sz="1300" dirty="0">
                <a:solidFill>
                  <a:srgbClr val="FFFFFF"/>
                </a:solidFill>
                <a:latin typeface="Arial" pitchFamily="34" charset="0"/>
                <a:ea typeface="Arial" pitchFamily="34" charset="-122"/>
                <a:cs typeface="Arial" pitchFamily="34" charset="-120"/>
              </a:rPr>
              <a:t>📤 Envie na área de atividades do Moodle</a:t>
            </a:r>
            <a:endParaRPr lang="en-US" sz="1300" dirty="0"/>
          </a:p>
        </p:txBody>
      </p:sp>
      <p:pic>
        <p:nvPicPr>
          <p:cNvPr id="12"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Aula 01 - Encerramento</a:t>
            </a:r>
            <a:endParaRPr lang="en-US" sz="2000" dirty="0"/>
          </a:p>
        </p:txBody>
      </p:sp>
      <p:sp>
        <p:nvSpPr>
          <p:cNvPr id="4" name="Shape 2"/>
          <p:cNvSpPr/>
          <p:nvPr/>
        </p:nvSpPr>
        <p:spPr>
          <a:xfrm>
            <a:off x="0" y="822960"/>
            <a:ext cx="2743200" cy="91440"/>
          </a:xfrm>
          <a:prstGeom prst="rect">
            <a:avLst/>
          </a:prstGeom>
          <a:solidFill>
            <a:srgbClr val="667EEA"/>
          </a:solidFill>
          <a:ln/>
        </p:spPr>
      </p:sp>
      <p:sp>
        <p:nvSpPr>
          <p:cNvPr id="5" name="Shape 3"/>
          <p:cNvSpPr/>
          <p:nvPr/>
        </p:nvSpPr>
        <p:spPr>
          <a:xfrm>
            <a:off x="3200400" y="822960"/>
            <a:ext cx="2743200" cy="91440"/>
          </a:xfrm>
          <a:prstGeom prst="rect">
            <a:avLst/>
          </a:prstGeom>
          <a:solidFill>
            <a:srgbClr val="22C55E"/>
          </a:solidFill>
          <a:ln/>
        </p:spPr>
      </p:sp>
      <p:sp>
        <p:nvSpPr>
          <p:cNvPr id="6" name="Shape 4"/>
          <p:cNvSpPr/>
          <p:nvPr/>
        </p:nvSpPr>
        <p:spPr>
          <a:xfrm>
            <a:off x="6400800" y="822960"/>
            <a:ext cx="2743200" cy="91440"/>
          </a:xfrm>
          <a:prstGeom prst="rect">
            <a:avLst/>
          </a:prstGeom>
          <a:solidFill>
            <a:srgbClr val="3B82F6"/>
          </a:solidFill>
          <a:ln/>
        </p:spPr>
      </p:sp>
      <p:sp>
        <p:nvSpPr>
          <p:cNvPr id="7" name="Shape 5"/>
          <p:cNvSpPr/>
          <p:nvPr/>
        </p:nvSpPr>
        <p:spPr>
          <a:xfrm>
            <a:off x="914400" y="1371600"/>
            <a:ext cx="7315200" cy="1828800"/>
          </a:xfrm>
          <a:prstGeom prst="roundRect">
            <a:avLst/>
          </a:prstGeom>
          <a:solidFill>
            <a:srgbClr val="2A2A4A"/>
          </a:solidFill>
          <a:ln w="25400">
            <a:solidFill>
              <a:srgbClr val="667EEA"/>
            </a:solidFill>
            <a:prstDash val="solid"/>
          </a:ln>
        </p:spPr>
      </p:sp>
      <p:sp>
        <p:nvSpPr>
          <p:cNvPr id="8" name="Text 6"/>
          <p:cNvSpPr/>
          <p:nvPr/>
        </p:nvSpPr>
        <p:spPr>
          <a:xfrm>
            <a:off x="1097280" y="1371600"/>
            <a:ext cx="457200" cy="731520"/>
          </a:xfrm>
          <a:prstGeom prst="rect">
            <a:avLst/>
          </a:prstGeom>
          <a:noFill/>
          <a:ln/>
        </p:spPr>
        <p:txBody>
          <a:bodyPr wrap="square" rtlCol="0" anchor="ctr"/>
          <a:lstStyle/>
          <a:p>
            <a:pPr indent="0" marL="0">
              <a:buNone/>
            </a:pPr>
            <a:r>
              <a:rPr lang="en-US" sz="4800" i="1" dirty="0">
                <a:solidFill>
                  <a:srgbClr val="667EEA"/>
                </a:solidFill>
                <a:latin typeface="Georgia" pitchFamily="34" charset="0"/>
                <a:ea typeface="Georgia" pitchFamily="34" charset="-122"/>
                <a:cs typeface="Georgia" pitchFamily="34" charset="-120"/>
              </a:rPr>
              <a:t>"</a:t>
            </a:r>
            <a:endParaRPr lang="en-US" sz="4800" dirty="0"/>
          </a:p>
        </p:txBody>
      </p:sp>
      <p:sp>
        <p:nvSpPr>
          <p:cNvPr id="9" name="Text 7"/>
          <p:cNvSpPr/>
          <p:nvPr/>
        </p:nvSpPr>
        <p:spPr>
          <a:xfrm>
            <a:off x="1371600" y="1737360"/>
            <a:ext cx="6400800" cy="1097280"/>
          </a:xfrm>
          <a:prstGeom prst="rect">
            <a:avLst/>
          </a:prstGeom>
          <a:noFill/>
          <a:ln/>
        </p:spPr>
        <p:txBody>
          <a:bodyPr wrap="square" rtlCol="0" anchor="ctr"/>
          <a:lstStyle/>
          <a:p>
            <a:pPr algn="ctr" indent="0" marL="0">
              <a:buNone/>
            </a:pPr>
            <a:r>
              <a:rPr lang="en-US" sz="1600" i="1" dirty="0">
                <a:solidFill>
                  <a:srgbClr val="FFFFFF"/>
                </a:solidFill>
                <a:latin typeface="Arial" pitchFamily="34" charset="0"/>
                <a:ea typeface="Arial" pitchFamily="34" charset="-122"/>
                <a:cs typeface="Arial" pitchFamily="34" charset="-120"/>
              </a:rPr>
              <a:t>A jornada de mil milhas começa com um único passo. Você acabou de dar o seu.</a:t>
            </a:r>
            <a:endParaRPr lang="en-US" sz="1600" dirty="0"/>
          </a:p>
        </p:txBody>
      </p:sp>
      <p:sp>
        <p:nvSpPr>
          <p:cNvPr id="10" name="Shape 8"/>
          <p:cNvSpPr/>
          <p:nvPr/>
        </p:nvSpPr>
        <p:spPr>
          <a:xfrm>
            <a:off x="0" y="3840480"/>
            <a:ext cx="9144000" cy="822960"/>
          </a:xfrm>
          <a:prstGeom prst="rect">
            <a:avLst/>
          </a:prstGeom>
          <a:solidFill>
            <a:srgbClr val="0F172A"/>
          </a:solidFill>
          <a:ln/>
        </p:spPr>
      </p:sp>
      <p:sp>
        <p:nvSpPr>
          <p:cNvPr id="11" name="Text 9"/>
          <p:cNvSpPr/>
          <p:nvPr/>
        </p:nvSpPr>
        <p:spPr>
          <a:xfrm>
            <a:off x="457200" y="3977640"/>
            <a:ext cx="3657600" cy="274320"/>
          </a:xfrm>
          <a:prstGeom prst="rect">
            <a:avLst/>
          </a:prstGeom>
          <a:noFill/>
          <a:ln/>
        </p:spPr>
        <p:txBody>
          <a:bodyPr wrap="square" rtlCol="0" anchor="ctr"/>
          <a:lstStyle/>
          <a:p>
            <a:pPr indent="0" marL="0">
              <a:buNone/>
            </a:pPr>
            <a:r>
              <a:rPr lang="en-US" sz="1400" b="1" dirty="0">
                <a:solidFill>
                  <a:srgbClr val="22C55E"/>
                </a:solidFill>
                <a:latin typeface="Arial" pitchFamily="34" charset="0"/>
                <a:ea typeface="Arial" pitchFamily="34" charset="-122"/>
                <a:cs typeface="Arial" pitchFamily="34" charset="-120"/>
              </a:rPr>
              <a:t>Educa com Talento</a:t>
            </a:r>
            <a:endParaRPr lang="en-US" sz="1400" dirty="0"/>
          </a:p>
        </p:txBody>
      </p:sp>
      <p:sp>
        <p:nvSpPr>
          <p:cNvPr id="12" name="Text 10"/>
          <p:cNvSpPr/>
          <p:nvPr/>
        </p:nvSpPr>
        <p:spPr>
          <a:xfrm>
            <a:off x="457200" y="4251960"/>
            <a:ext cx="3657600" cy="228600"/>
          </a:xfrm>
          <a:prstGeom prst="rect">
            <a:avLst/>
          </a:prstGeom>
          <a:noFill/>
          <a:ln/>
        </p:spPr>
        <p:txBody>
          <a:bodyPr wrap="square" rtlCol="0" anchor="ctr"/>
          <a:lstStyle/>
          <a:p>
            <a:pPr indent="0" marL="0">
              <a:buNone/>
            </a:pPr>
            <a:r>
              <a:rPr lang="en-US" sz="1000" dirty="0">
                <a:solidFill>
                  <a:srgbClr val="667EEA"/>
                </a:solidFill>
                <a:latin typeface="Arial" pitchFamily="34" charset="0"/>
                <a:ea typeface="Arial" pitchFamily="34" charset="-122"/>
                <a:cs typeface="Arial" pitchFamily="34" charset="-120"/>
              </a:rPr>
              <a:t>www.educacomtalento.com.br</a:t>
            </a:r>
            <a:endParaRPr lang="en-US" sz="1000" dirty="0"/>
          </a:p>
        </p:txBody>
      </p:sp>
      <p:pic>
        <p:nvPicPr>
          <p:cNvPr id="14" name="Image 0" descr="preencoded.png">    </p:cNvPr>
          <p:cNvPicPr>
            <a:picLocks noChangeAspect="1"/>
          </p:cNvPicPr>
          <p:nvPr/>
        </p:nvPicPr>
        <p:blipFill>
          <a:blip r:embed="rId1"/>
          <a:stretch>
            <a:fillRect/>
          </a:stretch>
        </p:blipFill>
        <p:spPr>
          <a:xfrm>
            <a:off x="6400800" y="3886200"/>
            <a:ext cx="2286000" cy="9144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Educa com Talento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Aula 01: Credibilidade, Propósito e o Caminho</dc:title>
  <dc:subject>Foco e Produtividade nos Estudos</dc:subject>
  <dc:creator>Educa com Talento</dc:creator>
  <cp:lastModifiedBy>Educa com Talento</cp:lastModifiedBy>
  <cp:revision>1</cp:revision>
  <dcterms:created xsi:type="dcterms:W3CDTF">2025-12-18T20:33:49Z</dcterms:created>
  <dcterms:modified xsi:type="dcterms:W3CDTF">2025-12-18T20:33:49Z</dcterms:modified>
</cp:coreProperties>
</file>