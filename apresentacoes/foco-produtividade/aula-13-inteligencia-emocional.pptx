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Você já tentou estudar quando estava ansioso, frustrado ou desanimado? Provavelmente não rendeu nada. As emoções são filtros através dos quais todo aprendizado passa.
Hoje vamos desenvolver sua Inteligência Emocional aplicada aos estudos.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Nesta aula, você vai aprender os conceitos principais apresentados nos objetivos. Você já tentou estudar quando estava ansioso, frustrado ou desanimado? Provavelmente não rendeu nada. As emoções são filtros através dos quais todo aprendizado passa.
Hoje vamos desenvolver sua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dos pontos principais da aula. Conceitos fundamentais apresentados. Técnicas práticas demonstradas. Aplicação imediata possível. Conexão com próximos conteúdos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infográfico resume visualmente os principais conceitos da aula. Use-o para reforçar o aprendizado. Conceitos fundamentais apresentados. Técnicas práticas demonstradas. Aplicação imediata possível. Conexão com próximos conteúdos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é hora da prática! 1. Diário Emocional de Estudo (1 semana):
   - Antes de estudar: Como me sinto? (1-10)
   - Durante: Que emoções surgem?
   - Depois: Como ficou meu humor?
2. Pratique a respiração 4-7-8 por 3 dias
3. Identifique 3 gatilhos e crie um plano para 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Sua performance nos estudos está diretamente ligada ao seu estado emocional. Cuide das suas emoções como cuida do seu ambiente de estudo.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914400"/>
          </a:xfrm>
          <a:prstGeom prst="rect">
            <a:avLst/>
          </a:prstGeom>
          <a:solidFill>
            <a:srgbClr val="0F172A"/>
          </a:solidFill>
          <a:ln/>
        </p:spPr>
      </p:sp>
      <p:sp>
        <p:nvSpPr>
          <p:cNvPr id="3" name="Text 1"/>
          <p:cNvSpPr/>
          <p:nvPr/>
        </p:nvSpPr>
        <p:spPr>
          <a:xfrm>
            <a:off x="457200" y="320040"/>
            <a:ext cx="8229600" cy="36576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1 - Hiperfoco e Hiperprodutividade | Bloco: Aprendizagem</a:t>
            </a:r>
            <a:endParaRPr lang="en-US" sz="1400" dirty="0"/>
          </a:p>
        </p:txBody>
      </p:sp>
      <p:sp>
        <p:nvSpPr>
          <p:cNvPr id="4" name="Shape 2"/>
          <p:cNvSpPr/>
          <p:nvPr/>
        </p:nvSpPr>
        <p:spPr>
          <a:xfrm>
            <a:off x="274320" y="1371600"/>
            <a:ext cx="73152" cy="2286000"/>
          </a:xfrm>
          <a:prstGeom prst="rect">
            <a:avLst/>
          </a:prstGeom>
          <a:solidFill>
            <a:srgbClr val="667EEA"/>
          </a:solidFill>
          <a:ln/>
        </p:spPr>
      </p:sp>
      <p:sp>
        <p:nvSpPr>
          <p:cNvPr id="5" name="Shape 3"/>
          <p:cNvSpPr/>
          <p:nvPr/>
        </p:nvSpPr>
        <p:spPr>
          <a:xfrm>
            <a:off x="548640" y="1463040"/>
            <a:ext cx="1097280" cy="1097280"/>
          </a:xfrm>
          <a:prstGeom prst="ellipse">
            <a:avLst/>
          </a:prstGeom>
          <a:solidFill>
            <a:srgbClr val="667EEA"/>
          </a:solidFill>
          <a:ln/>
        </p:spPr>
      </p:sp>
      <p:sp>
        <p:nvSpPr>
          <p:cNvPr id="6" name="Text 4"/>
          <p:cNvSpPr/>
          <p:nvPr/>
        </p:nvSpPr>
        <p:spPr>
          <a:xfrm>
            <a:off x="548640" y="1691640"/>
            <a:ext cx="1097280" cy="64008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13</a:t>
            </a:r>
            <a:endParaRPr lang="en-US" sz="3200" dirty="0"/>
          </a:p>
        </p:txBody>
      </p:sp>
      <p:sp>
        <p:nvSpPr>
          <p:cNvPr id="7" name="Text 5"/>
          <p:cNvSpPr/>
          <p:nvPr/>
        </p:nvSpPr>
        <p:spPr>
          <a:xfrm>
            <a:off x="1828800" y="1463040"/>
            <a:ext cx="6858000" cy="914400"/>
          </a:xfrm>
          <a:prstGeom prst="rect">
            <a:avLst/>
          </a:prstGeom>
          <a:noFill/>
          <a:ln/>
        </p:spPr>
        <p:txBody>
          <a:bodyPr wrap="square" rtlCol="0" anchor="ctr"/>
          <a:lstStyle/>
          <a:p>
            <a:pPr indent="0" marL="0">
              <a:buNone/>
            </a:pPr>
            <a:r>
              <a:rPr lang="en-US" sz="2800" b="1" dirty="0">
                <a:solidFill>
                  <a:srgbClr val="FFFFFF"/>
                </a:solidFill>
                <a:latin typeface="Arial" pitchFamily="34" charset="0"/>
                <a:ea typeface="Arial" pitchFamily="34" charset="-122"/>
                <a:cs typeface="Arial" pitchFamily="34" charset="-120"/>
              </a:rPr>
              <a:t>Inteligência Emocional e Autocontrole</a:t>
            </a:r>
            <a:endParaRPr lang="en-US" sz="2800" dirty="0"/>
          </a:p>
        </p:txBody>
      </p:sp>
      <p:sp>
        <p:nvSpPr>
          <p:cNvPr id="8" name="Text 6"/>
          <p:cNvSpPr/>
          <p:nvPr/>
        </p:nvSpPr>
        <p:spPr>
          <a:xfrm>
            <a:off x="1828800" y="2377440"/>
            <a:ext cx="6858000" cy="457200"/>
          </a:xfrm>
          <a:prstGeom prst="rect">
            <a:avLst/>
          </a:prstGeom>
          <a:noFill/>
          <a:ln/>
        </p:spPr>
        <p:txBody>
          <a:bodyPr wrap="square" rtlCol="0" anchor="ctr"/>
          <a:lstStyle/>
          <a:p>
            <a:pPr indent="0" marL="0">
              <a:buNone/>
            </a:pPr>
            <a:r>
              <a:rPr lang="en-US" sz="1600" dirty="0">
                <a:solidFill>
                  <a:srgbClr val="667EEA"/>
                </a:solidFill>
                <a:latin typeface="Arial" pitchFamily="34" charset="0"/>
                <a:ea typeface="Arial" pitchFamily="34" charset="-122"/>
                <a:cs typeface="Arial" pitchFamily="34" charset="-120"/>
              </a:rPr>
              <a:t>Foco e Produtividade nos Estudos</a:t>
            </a:r>
            <a:endParaRPr lang="en-US" sz="1600" dirty="0"/>
          </a:p>
        </p:txBody>
      </p:sp>
      <p:sp>
        <p:nvSpPr>
          <p:cNvPr id="9" name="Shape 7"/>
          <p:cNvSpPr/>
          <p:nvPr/>
        </p:nvSpPr>
        <p:spPr>
          <a:xfrm>
            <a:off x="1828800" y="3017520"/>
            <a:ext cx="2743200" cy="54864"/>
          </a:xfrm>
          <a:prstGeom prst="rect">
            <a:avLst/>
          </a:prstGeom>
          <a:solidFill>
            <a:srgbClr val="22C55E"/>
          </a:solidFill>
          <a:ln/>
        </p:spPr>
      </p:sp>
      <p:sp>
        <p:nvSpPr>
          <p:cNvPr id="10" name="Shape 8"/>
          <p:cNvSpPr/>
          <p:nvPr/>
        </p:nvSpPr>
        <p:spPr>
          <a:xfrm>
            <a:off x="457200" y="3474720"/>
            <a:ext cx="2560320" cy="731520"/>
          </a:xfrm>
          <a:prstGeom prst="roundRect">
            <a:avLst/>
          </a:prstGeom>
          <a:solidFill>
            <a:srgbClr val="2A2A4A"/>
          </a:solidFill>
          <a:ln w="12700">
            <a:solidFill>
              <a:srgbClr val="667EEA"/>
            </a:solidFill>
            <a:prstDash val="solid"/>
          </a:ln>
        </p:spPr>
      </p:sp>
      <p:sp>
        <p:nvSpPr>
          <p:cNvPr id="11" name="Text 9"/>
          <p:cNvSpPr/>
          <p:nvPr/>
        </p:nvSpPr>
        <p:spPr>
          <a:xfrm>
            <a:off x="4572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Duração: ~20-25 minutos</a:t>
            </a:r>
            <a:endParaRPr lang="en-US" sz="1100" dirty="0"/>
          </a:p>
        </p:txBody>
      </p:sp>
      <p:sp>
        <p:nvSpPr>
          <p:cNvPr id="12" name="Shape 10"/>
          <p:cNvSpPr/>
          <p:nvPr/>
        </p:nvSpPr>
        <p:spPr>
          <a:xfrm>
            <a:off x="3200400" y="3474720"/>
            <a:ext cx="2560320" cy="731520"/>
          </a:xfrm>
          <a:prstGeom prst="roundRect">
            <a:avLst/>
          </a:prstGeom>
          <a:solidFill>
            <a:srgbClr val="2A2A4A"/>
          </a:solidFill>
          <a:ln w="12700">
            <a:solidFill>
              <a:srgbClr val="22C55E"/>
            </a:solidFill>
            <a:prstDash val="solid"/>
          </a:ln>
        </p:spPr>
      </p:sp>
      <p:sp>
        <p:nvSpPr>
          <p:cNvPr id="13" name="Text 11"/>
          <p:cNvSpPr/>
          <p:nvPr/>
        </p:nvSpPr>
        <p:spPr>
          <a:xfrm>
            <a:off x="32004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Nível: Intermediário</a:t>
            </a:r>
            <a:endParaRPr lang="en-US" sz="1100" dirty="0"/>
          </a:p>
        </p:txBody>
      </p:sp>
      <p:sp>
        <p:nvSpPr>
          <p:cNvPr id="14" name="Shape 12"/>
          <p:cNvSpPr/>
          <p:nvPr/>
        </p:nvSpPr>
        <p:spPr>
          <a:xfrm>
            <a:off x="5943600" y="3474720"/>
            <a:ext cx="2560320" cy="731520"/>
          </a:xfrm>
          <a:prstGeom prst="roundRect">
            <a:avLst/>
          </a:prstGeom>
          <a:solidFill>
            <a:srgbClr val="2A2A4A"/>
          </a:solidFill>
          <a:ln w="12700">
            <a:solidFill>
              <a:srgbClr val="3B82F6"/>
            </a:solidFill>
            <a:prstDash val="solid"/>
          </a:ln>
        </p:spPr>
      </p:sp>
      <p:sp>
        <p:nvSpPr>
          <p:cNvPr id="15" name="Text 13"/>
          <p:cNvSpPr/>
          <p:nvPr/>
        </p:nvSpPr>
        <p:spPr>
          <a:xfrm>
            <a:off x="5943600" y="3611880"/>
            <a:ext cx="2560320" cy="457200"/>
          </a:xfrm>
          <a:prstGeom prst="rect">
            <a:avLst/>
          </a:prstGeom>
          <a:noFill/>
          <a:ln/>
        </p:spPr>
        <p:txBody>
          <a:bodyPr wrap="square" rtlCol="0" anchor="ctr"/>
          <a:lstStyle/>
          <a:p>
            <a:pPr algn="ctr" indent="0" marL="0">
              <a:buNone/>
            </a:pPr>
            <a:r>
              <a:rPr lang="en-US" sz="1100" dirty="0">
                <a:solidFill>
                  <a:srgbClr val="FFFFFF"/>
                </a:solidFill>
                <a:latin typeface="Arial" pitchFamily="34" charset="0"/>
                <a:ea typeface="Arial" pitchFamily="34" charset="-122"/>
                <a:cs typeface="Arial" pitchFamily="34" charset="-120"/>
              </a:rPr>
              <a:t>🎯 Prático</a:t>
            </a:r>
            <a:endParaRPr lang="en-US" sz="1100" dirty="0"/>
          </a:p>
        </p:txBody>
      </p:sp>
      <p:pic>
        <p:nvPicPr>
          <p:cNvPr id="17"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Objetivos da Aula</a:t>
            </a:r>
            <a:endParaRPr lang="en-US" sz="2000" dirty="0"/>
          </a:p>
        </p:txBody>
      </p:sp>
      <p:sp>
        <p:nvSpPr>
          <p:cNvPr id="4" name="Shape 2"/>
          <p:cNvSpPr/>
          <p:nvPr/>
        </p:nvSpPr>
        <p:spPr>
          <a:xfrm>
            <a:off x="457200" y="1097280"/>
            <a:ext cx="8229600" cy="822960"/>
          </a:xfrm>
          <a:prstGeom prst="roundRect">
            <a:avLst/>
          </a:prstGeom>
          <a:solidFill>
            <a:srgbClr val="2A2A4A"/>
          </a:solidFill>
          <a:ln w="25400">
            <a:solidFill>
              <a:srgbClr val="667EEA"/>
            </a:solidFill>
            <a:prstDash val="solid"/>
          </a:ln>
        </p:spPr>
      </p:sp>
      <p:sp>
        <p:nvSpPr>
          <p:cNvPr id="5" name="Shape 3"/>
          <p:cNvSpPr/>
          <p:nvPr/>
        </p:nvSpPr>
        <p:spPr>
          <a:xfrm>
            <a:off x="640080" y="1234440"/>
            <a:ext cx="548640" cy="548640"/>
          </a:xfrm>
          <a:prstGeom prst="ellipse">
            <a:avLst/>
          </a:prstGeom>
          <a:solidFill>
            <a:srgbClr val="667EEA"/>
          </a:solidFill>
          <a:ln/>
        </p:spPr>
      </p:sp>
      <p:sp>
        <p:nvSpPr>
          <p:cNvPr id="6" name="Text 4"/>
          <p:cNvSpPr/>
          <p:nvPr/>
        </p:nvSpPr>
        <p:spPr>
          <a:xfrm>
            <a:off x="640080" y="132588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7" name="Text 5"/>
          <p:cNvSpPr/>
          <p:nvPr/>
        </p:nvSpPr>
        <p:spPr>
          <a:xfrm>
            <a:off x="1371600" y="132588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Conceitos fundamentais apresentados</a:t>
            </a:r>
            <a:endParaRPr lang="en-US" sz="1600" dirty="0"/>
          </a:p>
        </p:txBody>
      </p:sp>
      <p:sp>
        <p:nvSpPr>
          <p:cNvPr id="8" name="Shape 6"/>
          <p:cNvSpPr/>
          <p:nvPr/>
        </p:nvSpPr>
        <p:spPr>
          <a:xfrm>
            <a:off x="457200" y="2103120"/>
            <a:ext cx="8229600" cy="822960"/>
          </a:xfrm>
          <a:prstGeom prst="roundRect">
            <a:avLst/>
          </a:prstGeom>
          <a:solidFill>
            <a:srgbClr val="2A2A4A"/>
          </a:solidFill>
          <a:ln w="25400">
            <a:solidFill>
              <a:srgbClr val="22C55E"/>
            </a:solidFill>
            <a:prstDash val="solid"/>
          </a:ln>
        </p:spPr>
      </p:sp>
      <p:sp>
        <p:nvSpPr>
          <p:cNvPr id="9" name="Shape 7"/>
          <p:cNvSpPr/>
          <p:nvPr/>
        </p:nvSpPr>
        <p:spPr>
          <a:xfrm>
            <a:off x="640080" y="2240280"/>
            <a:ext cx="548640" cy="548640"/>
          </a:xfrm>
          <a:prstGeom prst="ellipse">
            <a:avLst/>
          </a:prstGeom>
          <a:solidFill>
            <a:srgbClr val="22C55E"/>
          </a:solidFill>
          <a:ln/>
        </p:spPr>
      </p:sp>
      <p:sp>
        <p:nvSpPr>
          <p:cNvPr id="10" name="Text 8"/>
          <p:cNvSpPr/>
          <p:nvPr/>
        </p:nvSpPr>
        <p:spPr>
          <a:xfrm>
            <a:off x="640080" y="233172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1" name="Text 9"/>
          <p:cNvSpPr/>
          <p:nvPr/>
        </p:nvSpPr>
        <p:spPr>
          <a:xfrm>
            <a:off x="1371600" y="233172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Técnicas práticas demonstradas</a:t>
            </a:r>
            <a:endParaRPr lang="en-US" sz="1600" dirty="0"/>
          </a:p>
        </p:txBody>
      </p:sp>
      <p:sp>
        <p:nvSpPr>
          <p:cNvPr id="12" name="Shape 10"/>
          <p:cNvSpPr/>
          <p:nvPr/>
        </p:nvSpPr>
        <p:spPr>
          <a:xfrm>
            <a:off x="457200" y="3108960"/>
            <a:ext cx="8229600" cy="822960"/>
          </a:xfrm>
          <a:prstGeom prst="roundRect">
            <a:avLst/>
          </a:prstGeom>
          <a:solidFill>
            <a:srgbClr val="2A2A4A"/>
          </a:solidFill>
          <a:ln w="25400">
            <a:solidFill>
              <a:srgbClr val="3B82F6"/>
            </a:solidFill>
            <a:prstDash val="solid"/>
          </a:ln>
        </p:spPr>
      </p:sp>
      <p:sp>
        <p:nvSpPr>
          <p:cNvPr id="13" name="Shape 11"/>
          <p:cNvSpPr/>
          <p:nvPr/>
        </p:nvSpPr>
        <p:spPr>
          <a:xfrm>
            <a:off x="640080" y="3246120"/>
            <a:ext cx="548640" cy="548640"/>
          </a:xfrm>
          <a:prstGeom prst="ellipse">
            <a:avLst/>
          </a:prstGeom>
          <a:solidFill>
            <a:srgbClr val="3B82F6"/>
          </a:solidFill>
          <a:ln/>
        </p:spPr>
      </p:sp>
      <p:sp>
        <p:nvSpPr>
          <p:cNvPr id="14" name="Text 12"/>
          <p:cNvSpPr/>
          <p:nvPr/>
        </p:nvSpPr>
        <p:spPr>
          <a:xfrm>
            <a:off x="640080" y="3337560"/>
            <a:ext cx="548640" cy="36576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5" name="Text 13"/>
          <p:cNvSpPr/>
          <p:nvPr/>
        </p:nvSpPr>
        <p:spPr>
          <a:xfrm>
            <a:off x="1371600" y="3337560"/>
            <a:ext cx="7132320" cy="457200"/>
          </a:xfrm>
          <a:prstGeom prst="rect">
            <a:avLst/>
          </a:prstGeom>
          <a:noFill/>
          <a:ln/>
        </p:spPr>
        <p:txBody>
          <a:bodyPr wrap="square" rtlCol="0" anchor="ctr"/>
          <a:lstStyle/>
          <a:p>
            <a:pPr indent="0" marL="0">
              <a:buNone/>
            </a:pPr>
            <a:r>
              <a:rPr lang="en-US" sz="1600" dirty="0">
                <a:solidFill>
                  <a:srgbClr val="FFFFFF"/>
                </a:solidFill>
                <a:latin typeface="Arial" pitchFamily="34" charset="0"/>
                <a:ea typeface="Arial" pitchFamily="34" charset="-122"/>
                <a:cs typeface="Arial" pitchFamily="34" charset="-120"/>
              </a:rPr>
              <a:t>Aplicação imediata possível</a:t>
            </a:r>
            <a:endParaRPr lang="en-US" sz="1600" dirty="0"/>
          </a:p>
        </p:txBody>
      </p:sp>
      <p:sp>
        <p:nvSpPr>
          <p:cNvPr id="16" name="Shape 14"/>
          <p:cNvSpPr/>
          <p:nvPr/>
        </p:nvSpPr>
        <p:spPr>
          <a:xfrm>
            <a:off x="8869680" y="1097280"/>
            <a:ext cx="91440" cy="3017520"/>
          </a:xfrm>
          <a:prstGeom prst="rect">
            <a:avLst/>
          </a:prstGeom>
          <a:solidFill>
            <a:srgbClr val="667EEA"/>
          </a:solidFill>
          <a:ln/>
        </p:spPr>
      </p:sp>
      <p:pic>
        <p:nvPicPr>
          <p:cNvPr id="18"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2286000" cy="45720"/>
          </a:xfrm>
          <a:prstGeom prst="rect">
            <a:avLst/>
          </a:prstGeom>
          <a:solidFill>
            <a:srgbClr val="667EEA"/>
          </a:solidFill>
          <a:ln/>
        </p:spPr>
      </p:sp>
      <p:sp>
        <p:nvSpPr>
          <p:cNvPr id="4" name="Shape 2"/>
          <p:cNvSpPr/>
          <p:nvPr/>
        </p:nvSpPr>
        <p:spPr>
          <a:xfrm>
            <a:off x="274320" y="137160"/>
            <a:ext cx="548640" cy="548640"/>
          </a:xfrm>
          <a:prstGeom prst="ellipse">
            <a:avLst/>
          </a:prstGeom>
          <a:solidFill>
            <a:srgbClr val="667E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Emoções e aprendizado</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667EEA"/>
            </a:solidFill>
            <a:prstDash val="solid"/>
          </a:ln>
        </p:spPr>
      </p:sp>
      <p:sp>
        <p:nvSpPr>
          <p:cNvPr id="8" name="Shape 6"/>
          <p:cNvSpPr/>
          <p:nvPr/>
        </p:nvSpPr>
        <p:spPr>
          <a:xfrm>
            <a:off x="457200" y="1097280"/>
            <a:ext cx="109728" cy="777240"/>
          </a:xfrm>
          <a:prstGeom prst="rect">
            <a:avLst/>
          </a:prstGeom>
          <a:solidFill>
            <a:srgbClr val="667E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Como emoções afetam o foco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667EEA"/>
            </a:solidFill>
            <a:prstDash val="solid"/>
          </a:ln>
        </p:spPr>
      </p:sp>
      <p:sp>
        <p:nvSpPr>
          <p:cNvPr id="12" name="Shape 10"/>
          <p:cNvSpPr/>
          <p:nvPr/>
        </p:nvSpPr>
        <p:spPr>
          <a:xfrm>
            <a:off x="457200" y="2011680"/>
            <a:ext cx="109728" cy="777240"/>
          </a:xfrm>
          <a:prstGeom prst="rect">
            <a:avLst/>
          </a:prstGeom>
          <a:solidFill>
            <a:srgbClr val="667E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Ansiedade como sabotadora</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667EEA"/>
            </a:solidFill>
            <a:prstDash val="solid"/>
          </a:ln>
        </p:spPr>
      </p:sp>
      <p:sp>
        <p:nvSpPr>
          <p:cNvPr id="16" name="Shape 14"/>
          <p:cNvSpPr/>
          <p:nvPr/>
        </p:nvSpPr>
        <p:spPr>
          <a:xfrm>
            <a:off x="457200" y="2926080"/>
            <a:ext cx="109728" cy="777240"/>
          </a:xfrm>
          <a:prstGeom prst="rect">
            <a:avLst/>
          </a:prstGeom>
          <a:solidFill>
            <a:srgbClr val="667E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667E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Estado emocional ideal para estudar</a:t>
            </a:r>
            <a:endParaRPr lang="en-US" sz="1400" dirty="0"/>
          </a:p>
        </p:txBody>
      </p:sp>
      <p:sp>
        <p:nvSpPr>
          <p:cNvPr id="19" name="Shape 17"/>
          <p:cNvSpPr/>
          <p:nvPr/>
        </p:nvSpPr>
        <p:spPr>
          <a:xfrm>
            <a:off x="8686800" y="4114800"/>
            <a:ext cx="457200" cy="457200"/>
          </a:xfrm>
          <a:prstGeom prst="rect">
            <a:avLst/>
          </a:prstGeom>
          <a:solidFill>
            <a:srgbClr val="667EEA"/>
          </a:solidFill>
          <a:ln/>
        </p:spPr>
      </p:sp>
      <p:pic>
        <p:nvPicPr>
          <p:cNvPr id="20"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4572000" cy="45720"/>
          </a:xfrm>
          <a:prstGeom prst="rect">
            <a:avLst/>
          </a:prstGeom>
          <a:solidFill>
            <a:srgbClr val="22C55E"/>
          </a:solidFill>
          <a:ln/>
        </p:spPr>
      </p:sp>
      <p:sp>
        <p:nvSpPr>
          <p:cNvPr id="4" name="Shape 2"/>
          <p:cNvSpPr/>
          <p:nvPr/>
        </p:nvSpPr>
        <p:spPr>
          <a:xfrm>
            <a:off x="274320" y="137160"/>
            <a:ext cx="548640" cy="548640"/>
          </a:xfrm>
          <a:prstGeom prst="ellipse">
            <a:avLst/>
          </a:prstGeom>
          <a:solidFill>
            <a:srgbClr val="22C55E"/>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Autoconhecimento emocional</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22C55E"/>
            </a:solidFill>
            <a:prstDash val="solid"/>
          </a:ln>
        </p:spPr>
      </p:sp>
      <p:sp>
        <p:nvSpPr>
          <p:cNvPr id="8" name="Shape 6"/>
          <p:cNvSpPr/>
          <p:nvPr/>
        </p:nvSpPr>
        <p:spPr>
          <a:xfrm>
            <a:off x="457200" y="1097280"/>
            <a:ext cx="109728" cy="777240"/>
          </a:xfrm>
          <a:prstGeom prst="rect">
            <a:avLst/>
          </a:prstGeom>
          <a:solidFill>
            <a:srgbClr val="22C55E"/>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Identificando seus gatilhos</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22C55E"/>
            </a:solidFill>
            <a:prstDash val="solid"/>
          </a:ln>
        </p:spPr>
      </p:sp>
      <p:sp>
        <p:nvSpPr>
          <p:cNvPr id="12" name="Shape 10"/>
          <p:cNvSpPr/>
          <p:nvPr/>
        </p:nvSpPr>
        <p:spPr>
          <a:xfrm>
            <a:off x="457200" y="2011680"/>
            <a:ext cx="109728" cy="777240"/>
          </a:xfrm>
          <a:prstGeom prst="rect">
            <a:avLst/>
          </a:prstGeom>
          <a:solidFill>
            <a:srgbClr val="22C55E"/>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Padrões emocionais no estudo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22C55E"/>
            </a:solidFill>
            <a:prstDash val="solid"/>
          </a:ln>
        </p:spPr>
      </p:sp>
      <p:sp>
        <p:nvSpPr>
          <p:cNvPr id="16" name="Shape 14"/>
          <p:cNvSpPr/>
          <p:nvPr/>
        </p:nvSpPr>
        <p:spPr>
          <a:xfrm>
            <a:off x="457200" y="2926080"/>
            <a:ext cx="109728" cy="777240"/>
          </a:xfrm>
          <a:prstGeom prst="rect">
            <a:avLst/>
          </a:prstGeom>
          <a:solidFill>
            <a:srgbClr val="22C55E"/>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O termômetro emocional</a:t>
            </a:r>
            <a:endParaRPr lang="en-US" sz="1400" dirty="0"/>
          </a:p>
        </p:txBody>
      </p:sp>
      <p:sp>
        <p:nvSpPr>
          <p:cNvPr id="19" name="Shape 17"/>
          <p:cNvSpPr/>
          <p:nvPr/>
        </p:nvSpPr>
        <p:spPr>
          <a:xfrm>
            <a:off x="8686800" y="4114800"/>
            <a:ext cx="457200" cy="457200"/>
          </a:xfrm>
          <a:prstGeom prst="rect">
            <a:avLst/>
          </a:prstGeom>
          <a:solidFill>
            <a:srgbClr val="22C55E"/>
          </a:solidFill>
          <a:ln/>
        </p:spPr>
      </p:sp>
      <p:pic>
        <p:nvPicPr>
          <p:cNvPr id="20"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6858000" cy="45720"/>
          </a:xfrm>
          <a:prstGeom prst="rect">
            <a:avLst/>
          </a:prstGeom>
          <a:solidFill>
            <a:srgbClr val="3B82F6"/>
          </a:solidFill>
          <a:ln/>
        </p:spPr>
      </p:sp>
      <p:sp>
        <p:nvSpPr>
          <p:cNvPr id="4" name="Shape 2"/>
          <p:cNvSpPr/>
          <p:nvPr/>
        </p:nvSpPr>
        <p:spPr>
          <a:xfrm>
            <a:off x="274320" y="137160"/>
            <a:ext cx="548640" cy="548640"/>
          </a:xfrm>
          <a:prstGeom prst="ellipse">
            <a:avLst/>
          </a:prstGeom>
          <a:solidFill>
            <a:srgbClr val="3B82F6"/>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Técnicas de regulação</a:t>
            </a:r>
            <a:endParaRPr lang="en-US" sz="2000" dirty="0"/>
          </a:p>
        </p:txBody>
      </p:sp>
      <p:sp>
        <p:nvSpPr>
          <p:cNvPr id="7" name="Shape 5"/>
          <p:cNvSpPr/>
          <p:nvPr/>
        </p:nvSpPr>
        <p:spPr>
          <a:xfrm>
            <a:off x="457200" y="1097280"/>
            <a:ext cx="3931920" cy="777240"/>
          </a:xfrm>
          <a:prstGeom prst="roundRect">
            <a:avLst/>
          </a:prstGeom>
          <a:solidFill>
            <a:srgbClr val="2A2A4A"/>
          </a:solidFill>
          <a:ln w="19050">
            <a:solidFill>
              <a:srgbClr val="3B82F6"/>
            </a:solidFill>
            <a:prstDash val="solid"/>
          </a:ln>
        </p:spPr>
      </p:sp>
      <p:sp>
        <p:nvSpPr>
          <p:cNvPr id="8" name="Shape 6"/>
          <p:cNvSpPr/>
          <p:nvPr/>
        </p:nvSpPr>
        <p:spPr>
          <a:xfrm>
            <a:off x="457200" y="1097280"/>
            <a:ext cx="109728" cy="777240"/>
          </a:xfrm>
          <a:prstGeom prst="rect">
            <a:avLst/>
          </a:prstGeom>
          <a:solidFill>
            <a:srgbClr val="3B82F6"/>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Respiração 4-7-8</a:t>
            </a:r>
            <a:endParaRPr lang="en-US" sz="1400" dirty="0"/>
          </a:p>
        </p:txBody>
      </p:sp>
      <p:sp>
        <p:nvSpPr>
          <p:cNvPr id="11" name="Shape 9"/>
          <p:cNvSpPr/>
          <p:nvPr/>
        </p:nvSpPr>
        <p:spPr>
          <a:xfrm>
            <a:off x="4572000" y="1097280"/>
            <a:ext cx="3931920" cy="777240"/>
          </a:xfrm>
          <a:prstGeom prst="roundRect">
            <a:avLst/>
          </a:prstGeom>
          <a:solidFill>
            <a:srgbClr val="2A2A4A"/>
          </a:solidFill>
          <a:ln w="19050">
            <a:solidFill>
              <a:srgbClr val="3B82F6"/>
            </a:solidFill>
            <a:prstDash val="solid"/>
          </a:ln>
        </p:spPr>
      </p:sp>
      <p:sp>
        <p:nvSpPr>
          <p:cNvPr id="12" name="Shape 10"/>
          <p:cNvSpPr/>
          <p:nvPr/>
        </p:nvSpPr>
        <p:spPr>
          <a:xfrm>
            <a:off x="4572000" y="1097280"/>
            <a:ext cx="109728" cy="777240"/>
          </a:xfrm>
          <a:prstGeom prst="rect">
            <a:avLst/>
          </a:prstGeom>
          <a:solidFill>
            <a:srgbClr val="3B82F6"/>
          </a:solidFill>
          <a:ln/>
        </p:spPr>
      </p:sp>
      <p:sp>
        <p:nvSpPr>
          <p:cNvPr id="13" name="Text 11"/>
          <p:cNvSpPr/>
          <p:nvPr/>
        </p:nvSpPr>
        <p:spPr>
          <a:xfrm>
            <a:off x="4800600" y="13258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5074920" y="13258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Reframing cognitivo</a:t>
            </a:r>
            <a:endParaRPr lang="en-US" sz="1400" dirty="0"/>
          </a:p>
        </p:txBody>
      </p:sp>
      <p:sp>
        <p:nvSpPr>
          <p:cNvPr id="15" name="Shape 13"/>
          <p:cNvSpPr/>
          <p:nvPr/>
        </p:nvSpPr>
        <p:spPr>
          <a:xfrm>
            <a:off x="457200" y="2011680"/>
            <a:ext cx="3931920" cy="777240"/>
          </a:xfrm>
          <a:prstGeom prst="roundRect">
            <a:avLst/>
          </a:prstGeom>
          <a:solidFill>
            <a:srgbClr val="2A2A4A"/>
          </a:solidFill>
          <a:ln w="19050">
            <a:solidFill>
              <a:srgbClr val="3B82F6"/>
            </a:solidFill>
            <a:prstDash val="solid"/>
          </a:ln>
        </p:spPr>
      </p:sp>
      <p:sp>
        <p:nvSpPr>
          <p:cNvPr id="16" name="Shape 14"/>
          <p:cNvSpPr/>
          <p:nvPr/>
        </p:nvSpPr>
        <p:spPr>
          <a:xfrm>
            <a:off x="457200" y="2011680"/>
            <a:ext cx="109728" cy="777240"/>
          </a:xfrm>
          <a:prstGeom prst="rect">
            <a:avLst/>
          </a:prstGeom>
          <a:solidFill>
            <a:srgbClr val="3B82F6"/>
          </a:solidFill>
          <a:ln/>
        </p:spPr>
      </p:sp>
      <p:sp>
        <p:nvSpPr>
          <p:cNvPr id="17" name="Text 15"/>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Grounding (ancoragem)</a:t>
            </a:r>
            <a:endParaRPr lang="en-US" sz="1400" dirty="0"/>
          </a:p>
        </p:txBody>
      </p:sp>
      <p:sp>
        <p:nvSpPr>
          <p:cNvPr id="19" name="Shape 17"/>
          <p:cNvSpPr/>
          <p:nvPr/>
        </p:nvSpPr>
        <p:spPr>
          <a:xfrm>
            <a:off x="4572000" y="2011680"/>
            <a:ext cx="3931920" cy="777240"/>
          </a:xfrm>
          <a:prstGeom prst="roundRect">
            <a:avLst/>
          </a:prstGeom>
          <a:solidFill>
            <a:srgbClr val="2A2A4A"/>
          </a:solidFill>
          <a:ln w="19050">
            <a:solidFill>
              <a:srgbClr val="3B82F6"/>
            </a:solidFill>
            <a:prstDash val="solid"/>
          </a:ln>
        </p:spPr>
      </p:sp>
      <p:sp>
        <p:nvSpPr>
          <p:cNvPr id="20" name="Shape 18"/>
          <p:cNvSpPr/>
          <p:nvPr/>
        </p:nvSpPr>
        <p:spPr>
          <a:xfrm>
            <a:off x="4572000" y="2011680"/>
            <a:ext cx="109728" cy="777240"/>
          </a:xfrm>
          <a:prstGeom prst="rect">
            <a:avLst/>
          </a:prstGeom>
          <a:solidFill>
            <a:srgbClr val="3B82F6"/>
          </a:solidFill>
          <a:ln/>
        </p:spPr>
      </p:sp>
      <p:sp>
        <p:nvSpPr>
          <p:cNvPr id="21" name="Text 19"/>
          <p:cNvSpPr/>
          <p:nvPr/>
        </p:nvSpPr>
        <p:spPr>
          <a:xfrm>
            <a:off x="4800600" y="2240280"/>
            <a:ext cx="274320" cy="320040"/>
          </a:xfrm>
          <a:prstGeom prst="rect">
            <a:avLst/>
          </a:prstGeom>
          <a:noFill/>
          <a:ln/>
        </p:spPr>
        <p:txBody>
          <a:bodyPr wrap="square" rtlCol="0" anchor="ctr"/>
          <a:lstStyle/>
          <a:p>
            <a:pPr indent="0" marL="0">
              <a:buNone/>
            </a:pPr>
            <a:r>
              <a:rPr lang="en-US" sz="1600" b="1" dirty="0">
                <a:solidFill>
                  <a:srgbClr val="3B82F6"/>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5074920" y="2240280"/>
            <a:ext cx="320040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Pausas estratégicas</a:t>
            </a:r>
            <a:endParaRPr lang="en-US" sz="1400" dirty="0"/>
          </a:p>
        </p:txBody>
      </p:sp>
      <p:sp>
        <p:nvSpPr>
          <p:cNvPr id="23" name="Shape 21"/>
          <p:cNvSpPr/>
          <p:nvPr/>
        </p:nvSpPr>
        <p:spPr>
          <a:xfrm>
            <a:off x="8686800" y="4114800"/>
            <a:ext cx="457200" cy="457200"/>
          </a:xfrm>
          <a:prstGeom prst="rect">
            <a:avLst/>
          </a:prstGeom>
          <a:solidFill>
            <a:srgbClr val="3B82F6"/>
          </a:solidFill>
          <a:ln/>
        </p:spPr>
      </p:sp>
      <p:pic>
        <p:nvPicPr>
          <p:cNvPr id="24"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Shape 1"/>
          <p:cNvSpPr/>
          <p:nvPr/>
        </p:nvSpPr>
        <p:spPr>
          <a:xfrm>
            <a:off x="0" y="777240"/>
            <a:ext cx="9144000" cy="45720"/>
          </a:xfrm>
          <a:prstGeom prst="rect">
            <a:avLst/>
          </a:prstGeom>
          <a:solidFill>
            <a:srgbClr val="9333EA"/>
          </a:solidFill>
          <a:ln/>
        </p:spPr>
      </p:sp>
      <p:sp>
        <p:nvSpPr>
          <p:cNvPr id="4" name="Shape 2"/>
          <p:cNvSpPr/>
          <p:nvPr/>
        </p:nvSpPr>
        <p:spPr>
          <a:xfrm>
            <a:off x="274320" y="137160"/>
            <a:ext cx="548640" cy="548640"/>
          </a:xfrm>
          <a:prstGeom prst="ellipse">
            <a:avLst/>
          </a:prstGeom>
          <a:solidFill>
            <a:srgbClr val="9333EA"/>
          </a:solidFill>
          <a:ln/>
        </p:spPr>
      </p:sp>
      <p:sp>
        <p:nvSpPr>
          <p:cNvPr id="5" name="Text 3"/>
          <p:cNvSpPr/>
          <p:nvPr/>
        </p:nvSpPr>
        <p:spPr>
          <a:xfrm>
            <a:off x="274320" y="228600"/>
            <a:ext cx="54864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6" name="Text 4"/>
          <p:cNvSpPr/>
          <p:nvPr/>
        </p:nvSpPr>
        <p:spPr>
          <a:xfrm>
            <a:off x="1005840" y="228600"/>
            <a:ext cx="77724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Construindo resiliência</a:t>
            </a:r>
            <a:endParaRPr lang="en-US" sz="2000" dirty="0"/>
          </a:p>
        </p:txBody>
      </p:sp>
      <p:sp>
        <p:nvSpPr>
          <p:cNvPr id="7" name="Shape 5"/>
          <p:cNvSpPr/>
          <p:nvPr/>
        </p:nvSpPr>
        <p:spPr>
          <a:xfrm>
            <a:off x="457200" y="1097280"/>
            <a:ext cx="8229600" cy="777240"/>
          </a:xfrm>
          <a:prstGeom prst="roundRect">
            <a:avLst/>
          </a:prstGeom>
          <a:solidFill>
            <a:srgbClr val="2A2A4A"/>
          </a:solidFill>
          <a:ln w="19050">
            <a:solidFill>
              <a:srgbClr val="9333EA"/>
            </a:solidFill>
            <a:prstDash val="solid"/>
          </a:ln>
        </p:spPr>
      </p:sp>
      <p:sp>
        <p:nvSpPr>
          <p:cNvPr id="8" name="Shape 6"/>
          <p:cNvSpPr/>
          <p:nvPr/>
        </p:nvSpPr>
        <p:spPr>
          <a:xfrm>
            <a:off x="457200" y="1097280"/>
            <a:ext cx="109728" cy="777240"/>
          </a:xfrm>
          <a:prstGeom prst="rect">
            <a:avLst/>
          </a:prstGeom>
          <a:solidFill>
            <a:srgbClr val="9333EA"/>
          </a:solidFill>
          <a:ln/>
        </p:spPr>
      </p:sp>
      <p:sp>
        <p:nvSpPr>
          <p:cNvPr id="9" name="Text 7"/>
          <p:cNvSpPr/>
          <p:nvPr/>
        </p:nvSpPr>
        <p:spPr>
          <a:xfrm>
            <a:off x="685800" y="13258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960120" y="13258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Lidando com frustração</a:t>
            </a:r>
            <a:endParaRPr lang="en-US" sz="1400" dirty="0"/>
          </a:p>
        </p:txBody>
      </p:sp>
      <p:sp>
        <p:nvSpPr>
          <p:cNvPr id="11" name="Shape 9"/>
          <p:cNvSpPr/>
          <p:nvPr/>
        </p:nvSpPr>
        <p:spPr>
          <a:xfrm>
            <a:off x="457200" y="2011680"/>
            <a:ext cx="8229600" cy="777240"/>
          </a:xfrm>
          <a:prstGeom prst="roundRect">
            <a:avLst/>
          </a:prstGeom>
          <a:solidFill>
            <a:srgbClr val="2A2A4A"/>
          </a:solidFill>
          <a:ln w="19050">
            <a:solidFill>
              <a:srgbClr val="9333EA"/>
            </a:solidFill>
            <a:prstDash val="solid"/>
          </a:ln>
        </p:spPr>
      </p:sp>
      <p:sp>
        <p:nvSpPr>
          <p:cNvPr id="12" name="Shape 10"/>
          <p:cNvSpPr/>
          <p:nvPr/>
        </p:nvSpPr>
        <p:spPr>
          <a:xfrm>
            <a:off x="457200" y="2011680"/>
            <a:ext cx="109728" cy="777240"/>
          </a:xfrm>
          <a:prstGeom prst="rect">
            <a:avLst/>
          </a:prstGeom>
          <a:solidFill>
            <a:srgbClr val="9333EA"/>
          </a:solidFill>
          <a:ln/>
        </p:spPr>
      </p:sp>
      <p:sp>
        <p:nvSpPr>
          <p:cNvPr id="13" name="Text 11"/>
          <p:cNvSpPr/>
          <p:nvPr/>
        </p:nvSpPr>
        <p:spPr>
          <a:xfrm>
            <a:off x="685800" y="22402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960120" y="22402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Transformando erros em aprendizado</a:t>
            </a:r>
            <a:endParaRPr lang="en-US" sz="1400" dirty="0"/>
          </a:p>
        </p:txBody>
      </p:sp>
      <p:sp>
        <p:nvSpPr>
          <p:cNvPr id="15" name="Shape 13"/>
          <p:cNvSpPr/>
          <p:nvPr/>
        </p:nvSpPr>
        <p:spPr>
          <a:xfrm>
            <a:off x="457200" y="2926080"/>
            <a:ext cx="8229600" cy="777240"/>
          </a:xfrm>
          <a:prstGeom prst="roundRect">
            <a:avLst/>
          </a:prstGeom>
          <a:solidFill>
            <a:srgbClr val="2A2A4A"/>
          </a:solidFill>
          <a:ln w="19050">
            <a:solidFill>
              <a:srgbClr val="9333EA"/>
            </a:solidFill>
            <a:prstDash val="solid"/>
          </a:ln>
        </p:spPr>
      </p:sp>
      <p:sp>
        <p:nvSpPr>
          <p:cNvPr id="16" name="Shape 14"/>
          <p:cNvSpPr/>
          <p:nvPr/>
        </p:nvSpPr>
        <p:spPr>
          <a:xfrm>
            <a:off x="457200" y="2926080"/>
            <a:ext cx="109728" cy="777240"/>
          </a:xfrm>
          <a:prstGeom prst="rect">
            <a:avLst/>
          </a:prstGeom>
          <a:solidFill>
            <a:srgbClr val="9333EA"/>
          </a:solidFill>
          <a:ln/>
        </p:spPr>
      </p:sp>
      <p:sp>
        <p:nvSpPr>
          <p:cNvPr id="17" name="Text 15"/>
          <p:cNvSpPr/>
          <p:nvPr/>
        </p:nvSpPr>
        <p:spPr>
          <a:xfrm>
            <a:off x="685800" y="3154680"/>
            <a:ext cx="274320" cy="320040"/>
          </a:xfrm>
          <a:prstGeom prst="rect">
            <a:avLst/>
          </a:prstGeom>
          <a:noFill/>
          <a:ln/>
        </p:spPr>
        <p:txBody>
          <a:bodyPr wrap="square" rtlCol="0" anchor="ctr"/>
          <a:lstStyle/>
          <a:p>
            <a:pPr indent="0" marL="0">
              <a:buNone/>
            </a:pPr>
            <a:r>
              <a:rPr lang="en-US" sz="1600" b="1" dirty="0">
                <a:solidFill>
                  <a:srgbClr val="9333EA"/>
                </a:solidFill>
                <a:latin typeface="Arial" pitchFamily="34" charset="0"/>
                <a:ea typeface="Arial" pitchFamily="34" charset="-122"/>
                <a:cs typeface="Arial" pitchFamily="34" charset="-120"/>
              </a:rPr>
              <a:t>▸</a:t>
            </a:r>
            <a:endParaRPr lang="en-US" sz="1600" dirty="0"/>
          </a:p>
        </p:txBody>
      </p:sp>
      <p:sp>
        <p:nvSpPr>
          <p:cNvPr id="18" name="Text 16"/>
          <p:cNvSpPr/>
          <p:nvPr/>
        </p:nvSpPr>
        <p:spPr>
          <a:xfrm>
            <a:off x="960120" y="3154680"/>
            <a:ext cx="749808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Mentalidade de crescimento</a:t>
            </a:r>
            <a:endParaRPr lang="en-US" sz="1400" dirty="0"/>
          </a:p>
        </p:txBody>
      </p:sp>
      <p:sp>
        <p:nvSpPr>
          <p:cNvPr id="19" name="Shape 17"/>
          <p:cNvSpPr/>
          <p:nvPr/>
        </p:nvSpPr>
        <p:spPr>
          <a:xfrm>
            <a:off x="8686800" y="4114800"/>
            <a:ext cx="457200" cy="457200"/>
          </a:xfrm>
          <a:prstGeom prst="rect">
            <a:avLst/>
          </a:prstGeom>
          <a:solidFill>
            <a:srgbClr val="9333EA"/>
          </a:solidFill>
          <a:ln/>
        </p:spPr>
      </p:sp>
      <p:pic>
        <p:nvPicPr>
          <p:cNvPr id="20"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Pontos-Chave</a:t>
            </a:r>
            <a:endParaRPr lang="en-US" sz="2000" dirty="0"/>
          </a:p>
        </p:txBody>
      </p:sp>
      <p:sp>
        <p:nvSpPr>
          <p:cNvPr id="4" name="Shape 2"/>
          <p:cNvSpPr/>
          <p:nvPr/>
        </p:nvSpPr>
        <p:spPr>
          <a:xfrm>
            <a:off x="0" y="777240"/>
            <a:ext cx="9144000" cy="45720"/>
          </a:xfrm>
          <a:prstGeom prst="rect">
            <a:avLst/>
          </a:prstGeom>
          <a:solidFill>
            <a:srgbClr val="22C55E"/>
          </a:solidFill>
          <a:ln/>
        </p:spPr>
      </p:sp>
      <p:sp>
        <p:nvSpPr>
          <p:cNvPr id="5" name="Shape 3"/>
          <p:cNvSpPr/>
          <p:nvPr/>
        </p:nvSpPr>
        <p:spPr>
          <a:xfrm>
            <a:off x="685800" y="1097280"/>
            <a:ext cx="54864" cy="3200400"/>
          </a:xfrm>
          <a:prstGeom prst="rect">
            <a:avLst/>
          </a:prstGeom>
          <a:solidFill>
            <a:srgbClr val="3D3D5C"/>
          </a:solidFill>
          <a:ln/>
        </p:spPr>
      </p:sp>
      <p:sp>
        <p:nvSpPr>
          <p:cNvPr id="6" name="Shape 4"/>
          <p:cNvSpPr/>
          <p:nvPr/>
        </p:nvSpPr>
        <p:spPr>
          <a:xfrm>
            <a:off x="502920" y="1188720"/>
            <a:ext cx="457200" cy="457200"/>
          </a:xfrm>
          <a:prstGeom prst="ellipse">
            <a:avLst/>
          </a:prstGeom>
          <a:solidFill>
            <a:srgbClr val="667EEA"/>
          </a:solidFill>
          <a:ln/>
        </p:spPr>
      </p:sp>
      <p:sp>
        <p:nvSpPr>
          <p:cNvPr id="7" name="Text 5"/>
          <p:cNvSpPr/>
          <p:nvPr/>
        </p:nvSpPr>
        <p:spPr>
          <a:xfrm>
            <a:off x="502920" y="123444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8" name="Shape 6"/>
          <p:cNvSpPr/>
          <p:nvPr/>
        </p:nvSpPr>
        <p:spPr>
          <a:xfrm>
            <a:off x="1188720" y="1097280"/>
            <a:ext cx="7498080" cy="640080"/>
          </a:xfrm>
          <a:prstGeom prst="roundRect">
            <a:avLst/>
          </a:prstGeom>
          <a:solidFill>
            <a:srgbClr val="2A2A4A"/>
          </a:solidFill>
          <a:ln w="25400">
            <a:solidFill>
              <a:srgbClr val="667EEA"/>
            </a:solidFill>
            <a:prstDash val="solid"/>
          </a:ln>
        </p:spPr>
      </p:sp>
      <p:sp>
        <p:nvSpPr>
          <p:cNvPr id="9" name="Text 7"/>
          <p:cNvSpPr/>
          <p:nvPr/>
        </p:nvSpPr>
        <p:spPr>
          <a:xfrm>
            <a:off x="1371600" y="123444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Conceitos fundamentais apresentados</a:t>
            </a:r>
            <a:endParaRPr lang="en-US" sz="1400" dirty="0"/>
          </a:p>
        </p:txBody>
      </p:sp>
      <p:sp>
        <p:nvSpPr>
          <p:cNvPr id="10" name="Shape 8"/>
          <p:cNvSpPr/>
          <p:nvPr/>
        </p:nvSpPr>
        <p:spPr>
          <a:xfrm>
            <a:off x="502920" y="2011680"/>
            <a:ext cx="457200" cy="457200"/>
          </a:xfrm>
          <a:prstGeom prst="ellipse">
            <a:avLst/>
          </a:prstGeom>
          <a:solidFill>
            <a:srgbClr val="22C55E"/>
          </a:solidFill>
          <a:ln/>
        </p:spPr>
      </p:sp>
      <p:sp>
        <p:nvSpPr>
          <p:cNvPr id="11" name="Text 9"/>
          <p:cNvSpPr/>
          <p:nvPr/>
        </p:nvSpPr>
        <p:spPr>
          <a:xfrm>
            <a:off x="502920" y="205740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1188720" y="1920240"/>
            <a:ext cx="7498080" cy="640080"/>
          </a:xfrm>
          <a:prstGeom prst="roundRect">
            <a:avLst/>
          </a:prstGeom>
          <a:solidFill>
            <a:srgbClr val="2A2A4A"/>
          </a:solidFill>
          <a:ln w="25400">
            <a:solidFill>
              <a:srgbClr val="22C55E"/>
            </a:solidFill>
            <a:prstDash val="solid"/>
          </a:ln>
        </p:spPr>
      </p:sp>
      <p:sp>
        <p:nvSpPr>
          <p:cNvPr id="13" name="Text 11"/>
          <p:cNvSpPr/>
          <p:nvPr/>
        </p:nvSpPr>
        <p:spPr>
          <a:xfrm>
            <a:off x="1371600" y="205740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Técnicas práticas demonstradas</a:t>
            </a:r>
            <a:endParaRPr lang="en-US" sz="1400" dirty="0"/>
          </a:p>
        </p:txBody>
      </p:sp>
      <p:sp>
        <p:nvSpPr>
          <p:cNvPr id="14" name="Shape 12"/>
          <p:cNvSpPr/>
          <p:nvPr/>
        </p:nvSpPr>
        <p:spPr>
          <a:xfrm>
            <a:off x="502920" y="2834640"/>
            <a:ext cx="457200" cy="457200"/>
          </a:xfrm>
          <a:prstGeom prst="ellipse">
            <a:avLst/>
          </a:prstGeom>
          <a:solidFill>
            <a:srgbClr val="3B82F6"/>
          </a:solidFill>
          <a:ln/>
        </p:spPr>
      </p:sp>
      <p:sp>
        <p:nvSpPr>
          <p:cNvPr id="15" name="Text 13"/>
          <p:cNvSpPr/>
          <p:nvPr/>
        </p:nvSpPr>
        <p:spPr>
          <a:xfrm>
            <a:off x="502920" y="288036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16" name="Shape 14"/>
          <p:cNvSpPr/>
          <p:nvPr/>
        </p:nvSpPr>
        <p:spPr>
          <a:xfrm>
            <a:off x="1188720" y="2743200"/>
            <a:ext cx="7498080" cy="640080"/>
          </a:xfrm>
          <a:prstGeom prst="roundRect">
            <a:avLst/>
          </a:prstGeom>
          <a:solidFill>
            <a:srgbClr val="2A2A4A"/>
          </a:solidFill>
          <a:ln w="25400">
            <a:solidFill>
              <a:srgbClr val="3B82F6"/>
            </a:solidFill>
            <a:prstDash val="solid"/>
          </a:ln>
        </p:spPr>
      </p:sp>
      <p:sp>
        <p:nvSpPr>
          <p:cNvPr id="17" name="Text 15"/>
          <p:cNvSpPr/>
          <p:nvPr/>
        </p:nvSpPr>
        <p:spPr>
          <a:xfrm>
            <a:off x="1371600" y="288036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Aplicação imediata possível</a:t>
            </a:r>
            <a:endParaRPr lang="en-US" sz="1400" dirty="0"/>
          </a:p>
        </p:txBody>
      </p:sp>
      <p:sp>
        <p:nvSpPr>
          <p:cNvPr id="18" name="Shape 16"/>
          <p:cNvSpPr/>
          <p:nvPr/>
        </p:nvSpPr>
        <p:spPr>
          <a:xfrm>
            <a:off x="502920" y="3657600"/>
            <a:ext cx="457200" cy="457200"/>
          </a:xfrm>
          <a:prstGeom prst="ellipse">
            <a:avLst/>
          </a:prstGeom>
          <a:solidFill>
            <a:srgbClr val="9333EA"/>
          </a:solidFill>
          <a:ln/>
        </p:spPr>
      </p:sp>
      <p:sp>
        <p:nvSpPr>
          <p:cNvPr id="19" name="Text 17"/>
          <p:cNvSpPr/>
          <p:nvPr/>
        </p:nvSpPr>
        <p:spPr>
          <a:xfrm>
            <a:off x="502920" y="3703320"/>
            <a:ext cx="457200" cy="36576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1188720" y="3566160"/>
            <a:ext cx="7498080" cy="640080"/>
          </a:xfrm>
          <a:prstGeom prst="roundRect">
            <a:avLst/>
          </a:prstGeom>
          <a:solidFill>
            <a:srgbClr val="2A2A4A"/>
          </a:solidFill>
          <a:ln w="25400">
            <a:solidFill>
              <a:srgbClr val="9333EA"/>
            </a:solidFill>
            <a:prstDash val="solid"/>
          </a:ln>
        </p:spPr>
      </p:sp>
      <p:sp>
        <p:nvSpPr>
          <p:cNvPr id="21" name="Text 19"/>
          <p:cNvSpPr/>
          <p:nvPr/>
        </p:nvSpPr>
        <p:spPr>
          <a:xfrm>
            <a:off x="1371600" y="3703320"/>
            <a:ext cx="7132320" cy="411480"/>
          </a:xfrm>
          <a:prstGeom prst="rect">
            <a:avLst/>
          </a:prstGeom>
          <a:noFill/>
          <a:ln/>
        </p:spPr>
        <p:txBody>
          <a:bodyPr wrap="square" rtlCol="0" anchor="ctr"/>
          <a:lstStyle/>
          <a:p>
            <a:pPr indent="0" marL="0">
              <a:buNone/>
            </a:pPr>
            <a:r>
              <a:rPr lang="en-US" sz="1400" dirty="0">
                <a:solidFill>
                  <a:srgbClr val="FFFFFF"/>
                </a:solidFill>
                <a:latin typeface="Arial" pitchFamily="34" charset="0"/>
                <a:ea typeface="Arial" pitchFamily="34" charset="-122"/>
                <a:cs typeface="Arial" pitchFamily="34" charset="-120"/>
              </a:rPr>
              <a:t>Conexão com próximos conteúdos</a:t>
            </a:r>
            <a:endParaRPr lang="en-US" sz="1400" dirty="0"/>
          </a:p>
        </p:txBody>
      </p:sp>
      <p:pic>
        <p:nvPicPr>
          <p:cNvPr id="23"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Infográfico da Aula</a:t>
            </a:r>
            <a:endParaRPr lang="en-US" sz="2000" dirty="0"/>
          </a:p>
        </p:txBody>
      </p:sp>
      <p:pic>
        <p:nvPicPr>
          <p:cNvPr id="4" name="Image 0" descr="preencoded.png">    </p:cNvPr>
          <p:cNvPicPr>
            <a:picLocks noChangeAspect="1"/>
          </p:cNvPicPr>
          <p:nvPr/>
        </p:nvPicPr>
        <p:blipFill>
          <a:blip r:embed="rId1"/>
          <a:stretch>
            <a:fillRect/>
          </a:stretch>
        </p:blipFill>
        <p:spPr>
          <a:xfrm>
            <a:off x="274320" y="914400"/>
            <a:ext cx="5486400" cy="3383280"/>
          </a:xfrm>
          <a:prstGeom prst="rect">
            <a:avLst/>
          </a:prstGeom>
        </p:spPr>
      </p:pic>
      <p:sp>
        <p:nvSpPr>
          <p:cNvPr id="5" name="Text 2"/>
          <p:cNvSpPr/>
          <p:nvPr/>
        </p:nvSpPr>
        <p:spPr>
          <a:xfrm>
            <a:off x="5943600" y="914400"/>
            <a:ext cx="3017520" cy="365760"/>
          </a:xfrm>
          <a:prstGeom prst="rect">
            <a:avLst/>
          </a:prstGeom>
          <a:noFill/>
          <a:ln/>
        </p:spPr>
        <p:txBody>
          <a:bodyPr wrap="square" rtlCol="0" anchor="ctr"/>
          <a:lstStyle/>
          <a:p>
            <a:pPr indent="0" marL="0">
              <a:buNone/>
            </a:pPr>
            <a:r>
              <a:rPr lang="en-US" sz="1200" b="1" dirty="0">
                <a:solidFill>
                  <a:srgbClr val="22C55E"/>
                </a:solidFill>
                <a:latin typeface="Arial" pitchFamily="34" charset="0"/>
                <a:ea typeface="Arial" pitchFamily="34" charset="-122"/>
                <a:cs typeface="Arial" pitchFamily="34" charset="-120"/>
              </a:rPr>
              <a:t>Conceitos Principais:</a:t>
            </a:r>
            <a:endParaRPr lang="en-US" sz="1200" dirty="0"/>
          </a:p>
        </p:txBody>
      </p:sp>
      <p:sp>
        <p:nvSpPr>
          <p:cNvPr id="6" name="Shape 3"/>
          <p:cNvSpPr/>
          <p:nvPr/>
        </p:nvSpPr>
        <p:spPr>
          <a:xfrm>
            <a:off x="5943600" y="1371600"/>
            <a:ext cx="228600" cy="228600"/>
          </a:xfrm>
          <a:prstGeom prst="ellipse">
            <a:avLst/>
          </a:prstGeom>
          <a:solidFill>
            <a:srgbClr val="667EEA"/>
          </a:solidFill>
          <a:ln/>
        </p:spPr>
      </p:sp>
      <p:sp>
        <p:nvSpPr>
          <p:cNvPr id="7" name="Text 4"/>
          <p:cNvSpPr/>
          <p:nvPr/>
        </p:nvSpPr>
        <p:spPr>
          <a:xfrm>
            <a:off x="6309360" y="132588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Conceitos fundamentais apresentados</a:t>
            </a:r>
            <a:endParaRPr lang="en-US" sz="1000" dirty="0"/>
          </a:p>
        </p:txBody>
      </p:sp>
      <p:sp>
        <p:nvSpPr>
          <p:cNvPr id="8" name="Shape 5"/>
          <p:cNvSpPr/>
          <p:nvPr/>
        </p:nvSpPr>
        <p:spPr>
          <a:xfrm>
            <a:off x="5943600" y="2148840"/>
            <a:ext cx="228600" cy="228600"/>
          </a:xfrm>
          <a:prstGeom prst="ellipse">
            <a:avLst/>
          </a:prstGeom>
          <a:solidFill>
            <a:srgbClr val="667EEA"/>
          </a:solidFill>
          <a:ln/>
        </p:spPr>
      </p:sp>
      <p:sp>
        <p:nvSpPr>
          <p:cNvPr id="9" name="Text 6"/>
          <p:cNvSpPr/>
          <p:nvPr/>
        </p:nvSpPr>
        <p:spPr>
          <a:xfrm>
            <a:off x="6309360" y="210312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Técnicas práticas demonstradas</a:t>
            </a:r>
            <a:endParaRPr lang="en-US" sz="1000" dirty="0"/>
          </a:p>
        </p:txBody>
      </p:sp>
      <p:sp>
        <p:nvSpPr>
          <p:cNvPr id="10" name="Shape 7"/>
          <p:cNvSpPr/>
          <p:nvPr/>
        </p:nvSpPr>
        <p:spPr>
          <a:xfrm>
            <a:off x="5943600" y="2926080"/>
            <a:ext cx="228600" cy="228600"/>
          </a:xfrm>
          <a:prstGeom prst="ellipse">
            <a:avLst/>
          </a:prstGeom>
          <a:solidFill>
            <a:srgbClr val="667EEA"/>
          </a:solidFill>
          <a:ln/>
        </p:spPr>
      </p:sp>
      <p:sp>
        <p:nvSpPr>
          <p:cNvPr id="11" name="Text 8"/>
          <p:cNvSpPr/>
          <p:nvPr/>
        </p:nvSpPr>
        <p:spPr>
          <a:xfrm>
            <a:off x="6309360" y="288036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Aplicação imediata possível</a:t>
            </a:r>
            <a:endParaRPr lang="en-US" sz="1000" dirty="0"/>
          </a:p>
        </p:txBody>
      </p:sp>
      <p:sp>
        <p:nvSpPr>
          <p:cNvPr id="12" name="Shape 9"/>
          <p:cNvSpPr/>
          <p:nvPr/>
        </p:nvSpPr>
        <p:spPr>
          <a:xfrm>
            <a:off x="5943600" y="3703320"/>
            <a:ext cx="228600" cy="228600"/>
          </a:xfrm>
          <a:prstGeom prst="ellipse">
            <a:avLst/>
          </a:prstGeom>
          <a:solidFill>
            <a:srgbClr val="667EEA"/>
          </a:solidFill>
          <a:ln/>
        </p:spPr>
      </p:sp>
      <p:sp>
        <p:nvSpPr>
          <p:cNvPr id="13" name="Text 10"/>
          <p:cNvSpPr/>
          <p:nvPr/>
        </p:nvSpPr>
        <p:spPr>
          <a:xfrm>
            <a:off x="6309360" y="3657600"/>
            <a:ext cx="2560320" cy="731520"/>
          </a:xfrm>
          <a:prstGeom prst="rect">
            <a:avLst/>
          </a:prstGeom>
          <a:noFill/>
          <a:ln/>
        </p:spPr>
        <p:txBody>
          <a:bodyPr wrap="square" rtlCol="0" anchor="t"/>
          <a:lstStyle/>
          <a:p>
            <a:pPr indent="0" marL="0">
              <a:buNone/>
            </a:pPr>
            <a:r>
              <a:rPr lang="en-US" sz="1000" dirty="0">
                <a:solidFill>
                  <a:srgbClr val="FFFFFF"/>
                </a:solidFill>
                <a:latin typeface="Arial" pitchFamily="34" charset="0"/>
                <a:ea typeface="Arial" pitchFamily="34" charset="-122"/>
                <a:cs typeface="Arial" pitchFamily="34" charset="-120"/>
              </a:rPr>
              <a:t>Conexão com próximos conteúdos</a:t>
            </a:r>
            <a:endParaRPr lang="en-US" sz="1000" dirty="0"/>
          </a:p>
        </p:txBody>
      </p:sp>
      <p:pic>
        <p:nvPicPr>
          <p:cNvPr id="15" name="Image 1" descr="preencoded.png">    </p:cNvPr>
          <p:cNvPicPr>
            <a:picLocks noChangeAspect="1"/>
          </p:cNvPicPr>
          <p:nvPr/>
        </p:nvPicPr>
        <p:blipFill>
          <a:blip r:embed="rId2"/>
          <a:stretch>
            <a:fillRect/>
          </a:stretch>
        </p:blipFill>
        <p:spPr>
          <a:xfrm>
            <a:off x="7498080" y="4389120"/>
            <a:ext cx="137160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 Atividade Prática</a:t>
            </a:r>
            <a:endParaRPr lang="en-US" sz="2000" dirty="0"/>
          </a:p>
        </p:txBody>
      </p:sp>
      <p:sp>
        <p:nvSpPr>
          <p:cNvPr id="4" name="Shape 2"/>
          <p:cNvSpPr/>
          <p:nvPr/>
        </p:nvSpPr>
        <p:spPr>
          <a:xfrm>
            <a:off x="457200" y="1005840"/>
            <a:ext cx="8229600" cy="2560320"/>
          </a:xfrm>
          <a:prstGeom prst="roundRect">
            <a:avLst/>
          </a:prstGeom>
          <a:solidFill>
            <a:srgbClr val="2A2A4A"/>
          </a:solidFill>
          <a:ln w="38100">
            <a:solidFill>
              <a:srgbClr val="22C55E"/>
            </a:solidFill>
            <a:prstDash val="solid"/>
          </a:ln>
        </p:spPr>
      </p:sp>
      <p:sp>
        <p:nvSpPr>
          <p:cNvPr id="5" name="Shape 3"/>
          <p:cNvSpPr/>
          <p:nvPr/>
        </p:nvSpPr>
        <p:spPr>
          <a:xfrm>
            <a:off x="731520" y="1280160"/>
            <a:ext cx="731520" cy="731520"/>
          </a:xfrm>
          <a:prstGeom prst="ellipse">
            <a:avLst/>
          </a:prstGeom>
          <a:solidFill>
            <a:srgbClr val="22C55E"/>
          </a:solidFill>
          <a:ln/>
        </p:spPr>
      </p:sp>
      <p:sp>
        <p:nvSpPr>
          <p:cNvPr id="6" name="Text 4"/>
          <p:cNvSpPr/>
          <p:nvPr/>
        </p:nvSpPr>
        <p:spPr>
          <a:xfrm>
            <a:off x="731520" y="1371600"/>
            <a:ext cx="731520" cy="54864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a:t>
            </a:r>
            <a:endParaRPr lang="en-US" sz="2800" dirty="0"/>
          </a:p>
        </p:txBody>
      </p:sp>
      <p:sp>
        <p:nvSpPr>
          <p:cNvPr id="7" name="Text 5"/>
          <p:cNvSpPr/>
          <p:nvPr/>
        </p:nvSpPr>
        <p:spPr>
          <a:xfrm>
            <a:off x="1645920" y="1280160"/>
            <a:ext cx="6858000" cy="457200"/>
          </a:xfrm>
          <a:prstGeom prst="rect">
            <a:avLst/>
          </a:prstGeom>
          <a:noFill/>
          <a:ln/>
        </p:spPr>
        <p:txBody>
          <a:bodyPr wrap="square" rtlCol="0" anchor="ctr"/>
          <a:lstStyle/>
          <a:p>
            <a:pPr indent="0" marL="0">
              <a:buNone/>
            </a:pPr>
            <a:r>
              <a:rPr lang="en-US" sz="1600" b="1" dirty="0">
                <a:solidFill>
                  <a:srgbClr val="22C55E"/>
                </a:solidFill>
                <a:latin typeface="Arial" pitchFamily="34" charset="0"/>
                <a:ea typeface="Arial" pitchFamily="34" charset="-122"/>
                <a:cs typeface="Arial" pitchFamily="34" charset="-120"/>
              </a:rPr>
              <a:t>Sua Missão:</a:t>
            </a:r>
            <a:endParaRPr lang="en-US" sz="1600" dirty="0"/>
          </a:p>
        </p:txBody>
      </p:sp>
      <p:sp>
        <p:nvSpPr>
          <p:cNvPr id="8" name="Text 6"/>
          <p:cNvSpPr/>
          <p:nvPr/>
        </p:nvSpPr>
        <p:spPr>
          <a:xfrm>
            <a:off x="1645920" y="1737360"/>
            <a:ext cx="6766560" cy="1645920"/>
          </a:xfrm>
          <a:prstGeom prst="rect">
            <a:avLst/>
          </a:prstGeom>
          <a:noFill/>
          <a:ln/>
        </p:spPr>
        <p:txBody>
          <a:bodyPr wrap="square" rtlCol="0" anchor="t"/>
          <a:lstStyle/>
          <a:p>
            <a:pPr indent="0" marL="0">
              <a:buNone/>
            </a:pPr>
            <a:r>
              <a:rPr lang="en-US" sz="1400" dirty="0">
                <a:solidFill>
                  <a:srgbClr val="FFFFFF"/>
                </a:solidFill>
                <a:latin typeface="Arial" pitchFamily="34" charset="0"/>
                <a:ea typeface="Arial" pitchFamily="34" charset="-122"/>
                <a:cs typeface="Arial" pitchFamily="34" charset="-120"/>
              </a:rPr>
              <a:t>1. **Diário Emocional de Estudo** (1 semana):</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Antes de estudar: Como me sinto? (1-10)</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Durante: Que emoções surgem?</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   - Depois: Como ficou meu humor?</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2. **Pratique a respiração 4-7-8** por 3 dias</a:t>
            </a:r>
            <a:endParaRPr lang="en-US" sz="1400" dirty="0"/>
          </a:p>
          <a:p>
            <a:pPr indent="0" marL="0">
              <a:buNone/>
            </a:pPr>
            <a:r>
              <a:rPr lang="en-US" sz="1400" dirty="0">
                <a:solidFill>
                  <a:srgbClr val="FFFFFF"/>
                </a:solidFill>
                <a:latin typeface="Arial" pitchFamily="34" charset="0"/>
                <a:ea typeface="Arial" pitchFamily="34" charset="-122"/>
                <a:cs typeface="Arial" pitchFamily="34" charset="-120"/>
              </a:rPr>
              <a:t>3. **Identifique 3 gatilhos** e crie um plano para cada</a:t>
            </a:r>
            <a:endParaRPr lang="en-US" sz="1400" dirty="0"/>
          </a:p>
        </p:txBody>
      </p:sp>
      <p:sp>
        <p:nvSpPr>
          <p:cNvPr id="9" name="Shape 7"/>
          <p:cNvSpPr/>
          <p:nvPr/>
        </p:nvSpPr>
        <p:spPr>
          <a:xfrm>
            <a:off x="457200" y="3749040"/>
            <a:ext cx="8229600" cy="640080"/>
          </a:xfrm>
          <a:prstGeom prst="roundRect">
            <a:avLst/>
          </a:prstGeom>
          <a:solidFill>
            <a:srgbClr val="1E3A5F"/>
          </a:solidFill>
          <a:ln w="12700">
            <a:solidFill>
              <a:srgbClr val="667EEA"/>
            </a:solidFill>
            <a:prstDash val="solid"/>
          </a:ln>
        </p:spPr>
      </p:sp>
      <p:sp>
        <p:nvSpPr>
          <p:cNvPr id="10" name="Text 8"/>
          <p:cNvSpPr/>
          <p:nvPr/>
        </p:nvSpPr>
        <p:spPr>
          <a:xfrm>
            <a:off x="457200" y="3886200"/>
            <a:ext cx="8229600" cy="365760"/>
          </a:xfrm>
          <a:prstGeom prst="rect">
            <a:avLst/>
          </a:prstGeom>
          <a:noFill/>
          <a:ln/>
        </p:spPr>
        <p:txBody>
          <a:bodyPr wrap="square" rtlCol="0" anchor="ctr"/>
          <a:lstStyle/>
          <a:p>
            <a:pPr algn="ctr" indent="0" marL="0">
              <a:buNone/>
            </a:pPr>
            <a:r>
              <a:rPr lang="en-US" sz="1300" dirty="0">
                <a:solidFill>
                  <a:srgbClr val="FFFFFF"/>
                </a:solidFill>
                <a:latin typeface="Arial" pitchFamily="34" charset="0"/>
                <a:ea typeface="Arial" pitchFamily="34" charset="-122"/>
                <a:cs typeface="Arial" pitchFamily="34" charset="-120"/>
              </a:rPr>
              <a:t>📤 Envie na área de atividades do Moodle</a:t>
            </a:r>
            <a:endParaRPr lang="en-US" sz="1300" dirty="0"/>
          </a:p>
        </p:txBody>
      </p:sp>
      <p:pic>
        <p:nvPicPr>
          <p:cNvPr id="12" name="Image 0" descr="preencoded.png">    </p:cNvPr>
          <p:cNvPicPr>
            <a:picLocks noChangeAspect="1"/>
          </p:cNvPicPr>
          <p:nvPr/>
        </p:nvPicPr>
        <p:blipFill>
          <a:blip r:embed="rId1"/>
          <a:stretch>
            <a:fillRect/>
          </a:stretch>
        </p:blipFill>
        <p:spPr>
          <a:xfrm>
            <a:off x="7498080" y="4389120"/>
            <a:ext cx="137160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0F172A"/>
          </a:solidFill>
          <a:ln/>
        </p:spPr>
      </p:sp>
      <p:sp>
        <p:nvSpPr>
          <p:cNvPr id="3" name="Text 1"/>
          <p:cNvSpPr/>
          <p:nvPr/>
        </p:nvSpPr>
        <p:spPr>
          <a:xfrm>
            <a:off x="457200" y="228600"/>
            <a:ext cx="8229600" cy="457200"/>
          </a:xfrm>
          <a:prstGeom prst="rect">
            <a:avLst/>
          </a:prstGeom>
          <a:noFill/>
          <a:ln/>
        </p:spPr>
        <p:txBody>
          <a:bodyPr wrap="square" rtlCol="0" anchor="ctr"/>
          <a:lstStyle/>
          <a:p>
            <a:pPr indent="0" marL="0">
              <a:buNone/>
            </a:pPr>
            <a:r>
              <a:rPr lang="en-US" sz="2000" b="1" dirty="0">
                <a:solidFill>
                  <a:srgbClr val="FFFFFF"/>
                </a:solidFill>
                <a:latin typeface="Arial" pitchFamily="34" charset="0"/>
                <a:ea typeface="Arial" pitchFamily="34" charset="-122"/>
                <a:cs typeface="Arial" pitchFamily="34" charset="-120"/>
              </a:rPr>
              <a:t>Aula 13 - Encerramento</a:t>
            </a:r>
            <a:endParaRPr lang="en-US" sz="2000" dirty="0"/>
          </a:p>
        </p:txBody>
      </p:sp>
      <p:sp>
        <p:nvSpPr>
          <p:cNvPr id="4" name="Shape 2"/>
          <p:cNvSpPr/>
          <p:nvPr/>
        </p:nvSpPr>
        <p:spPr>
          <a:xfrm>
            <a:off x="0" y="822960"/>
            <a:ext cx="2743200" cy="91440"/>
          </a:xfrm>
          <a:prstGeom prst="rect">
            <a:avLst/>
          </a:prstGeom>
          <a:solidFill>
            <a:srgbClr val="667EEA"/>
          </a:solidFill>
          <a:ln/>
        </p:spPr>
      </p:sp>
      <p:sp>
        <p:nvSpPr>
          <p:cNvPr id="5" name="Shape 3"/>
          <p:cNvSpPr/>
          <p:nvPr/>
        </p:nvSpPr>
        <p:spPr>
          <a:xfrm>
            <a:off x="3200400" y="822960"/>
            <a:ext cx="2743200" cy="91440"/>
          </a:xfrm>
          <a:prstGeom prst="rect">
            <a:avLst/>
          </a:prstGeom>
          <a:solidFill>
            <a:srgbClr val="22C55E"/>
          </a:solidFill>
          <a:ln/>
        </p:spPr>
      </p:sp>
      <p:sp>
        <p:nvSpPr>
          <p:cNvPr id="6" name="Shape 4"/>
          <p:cNvSpPr/>
          <p:nvPr/>
        </p:nvSpPr>
        <p:spPr>
          <a:xfrm>
            <a:off x="6400800" y="822960"/>
            <a:ext cx="2743200" cy="91440"/>
          </a:xfrm>
          <a:prstGeom prst="rect">
            <a:avLst/>
          </a:prstGeom>
          <a:solidFill>
            <a:srgbClr val="3B82F6"/>
          </a:solidFill>
          <a:ln/>
        </p:spPr>
      </p:sp>
      <p:sp>
        <p:nvSpPr>
          <p:cNvPr id="7" name="Shape 5"/>
          <p:cNvSpPr/>
          <p:nvPr/>
        </p:nvSpPr>
        <p:spPr>
          <a:xfrm>
            <a:off x="914400" y="1371600"/>
            <a:ext cx="7315200" cy="1828800"/>
          </a:xfrm>
          <a:prstGeom prst="roundRect">
            <a:avLst/>
          </a:prstGeom>
          <a:solidFill>
            <a:srgbClr val="2A2A4A"/>
          </a:solidFill>
          <a:ln w="25400">
            <a:solidFill>
              <a:srgbClr val="667EEA"/>
            </a:solidFill>
            <a:prstDash val="solid"/>
          </a:ln>
        </p:spPr>
      </p:sp>
      <p:sp>
        <p:nvSpPr>
          <p:cNvPr id="8" name="Text 6"/>
          <p:cNvSpPr/>
          <p:nvPr/>
        </p:nvSpPr>
        <p:spPr>
          <a:xfrm>
            <a:off x="1097280" y="1371600"/>
            <a:ext cx="457200" cy="731520"/>
          </a:xfrm>
          <a:prstGeom prst="rect">
            <a:avLst/>
          </a:prstGeom>
          <a:noFill/>
          <a:ln/>
        </p:spPr>
        <p:txBody>
          <a:bodyPr wrap="square" rtlCol="0" anchor="ctr"/>
          <a:lstStyle/>
          <a:p>
            <a:pPr indent="0" marL="0">
              <a:buNone/>
            </a:pPr>
            <a:r>
              <a:rPr lang="en-US" sz="4800" i="1" dirty="0">
                <a:solidFill>
                  <a:srgbClr val="667EEA"/>
                </a:solidFill>
                <a:latin typeface="Georgia" pitchFamily="34" charset="0"/>
                <a:ea typeface="Georgia" pitchFamily="34" charset="-122"/>
                <a:cs typeface="Georgia" pitchFamily="34" charset="-120"/>
              </a:rPr>
              <a:t>"</a:t>
            </a:r>
            <a:endParaRPr lang="en-US" sz="4800" dirty="0"/>
          </a:p>
        </p:txBody>
      </p:sp>
      <p:sp>
        <p:nvSpPr>
          <p:cNvPr id="9" name="Text 7"/>
          <p:cNvSpPr/>
          <p:nvPr/>
        </p:nvSpPr>
        <p:spPr>
          <a:xfrm>
            <a:off x="1371600" y="1737360"/>
            <a:ext cx="6400800" cy="1097280"/>
          </a:xfrm>
          <a:prstGeom prst="rect">
            <a:avLst/>
          </a:prstGeom>
          <a:noFill/>
          <a:ln/>
        </p:spPr>
        <p:txBody>
          <a:bodyPr wrap="square" rtlCol="0" anchor="ctr"/>
          <a:lstStyle/>
          <a:p>
            <a:pPr algn="ctr" indent="0" marL="0">
              <a:buNone/>
            </a:pPr>
            <a:endParaRPr lang="en-US" sz="1600" dirty="0"/>
          </a:p>
        </p:txBody>
      </p:sp>
      <p:sp>
        <p:nvSpPr>
          <p:cNvPr id="10" name="Shape 8"/>
          <p:cNvSpPr/>
          <p:nvPr/>
        </p:nvSpPr>
        <p:spPr>
          <a:xfrm>
            <a:off x="0" y="3840480"/>
            <a:ext cx="9144000" cy="822960"/>
          </a:xfrm>
          <a:prstGeom prst="rect">
            <a:avLst/>
          </a:prstGeom>
          <a:solidFill>
            <a:srgbClr val="0F172A"/>
          </a:solidFill>
          <a:ln/>
        </p:spPr>
      </p:sp>
      <p:sp>
        <p:nvSpPr>
          <p:cNvPr id="11" name="Text 9"/>
          <p:cNvSpPr/>
          <p:nvPr/>
        </p:nvSpPr>
        <p:spPr>
          <a:xfrm>
            <a:off x="457200" y="3977640"/>
            <a:ext cx="3657600" cy="274320"/>
          </a:xfrm>
          <a:prstGeom prst="rect">
            <a:avLst/>
          </a:prstGeom>
          <a:noFill/>
          <a:ln/>
        </p:spPr>
        <p:txBody>
          <a:bodyPr wrap="square" rtlCol="0" anchor="ctr"/>
          <a:lstStyle/>
          <a:p>
            <a:pPr indent="0" marL="0">
              <a:buNone/>
            </a:pPr>
            <a:r>
              <a:rPr lang="en-US" sz="1400" b="1" dirty="0">
                <a:solidFill>
                  <a:srgbClr val="22C55E"/>
                </a:solidFill>
                <a:latin typeface="Arial" pitchFamily="34" charset="0"/>
                <a:ea typeface="Arial" pitchFamily="34" charset="-122"/>
                <a:cs typeface="Arial" pitchFamily="34" charset="-120"/>
              </a:rPr>
              <a:t>Educa com Talento</a:t>
            </a:r>
            <a:endParaRPr lang="en-US" sz="1400" dirty="0"/>
          </a:p>
        </p:txBody>
      </p:sp>
      <p:sp>
        <p:nvSpPr>
          <p:cNvPr id="12" name="Text 10"/>
          <p:cNvSpPr/>
          <p:nvPr/>
        </p:nvSpPr>
        <p:spPr>
          <a:xfrm>
            <a:off x="457200" y="4251960"/>
            <a:ext cx="3657600" cy="228600"/>
          </a:xfrm>
          <a:prstGeom prst="rect">
            <a:avLst/>
          </a:prstGeom>
          <a:noFill/>
          <a:ln/>
        </p:spPr>
        <p:txBody>
          <a:bodyPr wrap="square" rtlCol="0" anchor="ctr"/>
          <a:lstStyle/>
          <a:p>
            <a:pPr indent="0" marL="0">
              <a:buNone/>
            </a:pPr>
            <a:r>
              <a:rPr lang="en-US" sz="1000" dirty="0">
                <a:solidFill>
                  <a:srgbClr val="667EEA"/>
                </a:solidFill>
                <a:latin typeface="Arial" pitchFamily="34" charset="0"/>
                <a:ea typeface="Arial" pitchFamily="34" charset="-122"/>
                <a:cs typeface="Arial" pitchFamily="34" charset="-120"/>
              </a:rPr>
              <a:t>www.educacomtalento.com.br</a:t>
            </a:r>
            <a:endParaRPr lang="en-US" sz="1000" dirty="0"/>
          </a:p>
        </p:txBody>
      </p:sp>
      <p:pic>
        <p:nvPicPr>
          <p:cNvPr id="14" name="Image 0" descr="preencoded.png">    </p:cNvPr>
          <p:cNvPicPr>
            <a:picLocks noChangeAspect="1"/>
          </p:cNvPicPr>
          <p:nvPr/>
        </p:nvPicPr>
        <p:blipFill>
          <a:blip r:embed="rId1"/>
          <a:stretch>
            <a:fillRect/>
          </a:stretch>
        </p:blipFill>
        <p:spPr>
          <a:xfrm>
            <a:off x="6400800" y="3886200"/>
            <a:ext cx="2286000"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Educa com Talento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 13: Inteligência Emocional e Autocontrole</dc:title>
  <dc:subject>Foco e Produtividade nos Estudos</dc:subject>
  <dc:creator>Educa com Talento</dc:creator>
  <cp:lastModifiedBy>Educa com Talento</cp:lastModifiedBy>
  <cp:revision>1</cp:revision>
  <dcterms:created xsi:type="dcterms:W3CDTF">2025-12-18T20:33:56Z</dcterms:created>
  <dcterms:modified xsi:type="dcterms:W3CDTF">2025-12-18T20:33:56Z</dcterms:modified>
</cp:coreProperties>
</file>