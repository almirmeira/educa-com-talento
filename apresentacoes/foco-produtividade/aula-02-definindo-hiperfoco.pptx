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Bem-vindo de volta! Na aula anterior, falamos sobre o propósito e o caminho que vamos percorrer juntos. Hoje, vamos entrar no coração deste curso: vamos definir exatamente o que são Hiperfoco e Hiperprodutividade.
Mas antes, deixa eu te fazer uma pergunta: você sabe a diferença entre estar ocupado e ser produtivo?
Muita gente confunde os dois. Passa o dia inteiro "estudando", mas no final percebe que não absorveu quase nada. Fica cansado, frustrado, e começa a achar que o problema é com ele. Mas não é. O problema é o método.
Hoje você vai entender por que isso acontece e, mais importante, como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Nesta aula, você vai aprender os conceitos principais apresentados nos objetivos. Bem-vindo de volta! Na aula anterior, falamos sobre o propósito e o caminho que vamos percorrer juntos. Hoje, vamos entrar no coração deste curso: vamos definir exatamente o que são Hiperfoco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que é Hiperfoco
Vamos começar pelo Hiperfoco. Esse termo foi popularizado por Chris Bailey, mas o fenômeno é estudado há décadas pela neurociência.
Hiperfoco é um estado de concentração tão profunda que você perde a noção do tempo. É quando você está tão imerso em uma tarefa que o mundo ao redor simplesmente desaparece. Sabe quando você está lendo algo muito interessante e de repente percebe que se passaram duas horas? Isso é hiperfoco.
Do ponto de vista neurológico, o que acontece é fascinante. Quando entramos em hiperfoco, nosso córtex pré-frontal - a parte do cérebro responsável pelo foco e planejamento - assume o controle total. Ao mesmo tempo, a amígdala - responsável por detectar ameaças e distrações - fica "silenciada".
O resultado? Um estado de atenção profunda onde conseguimos processar informações de forma muito mais eficiente.
Agora, é importante distinguir isso da atenção superficial. Atenção superficial é quando você está "meio que" prestando atenção. Seu corpo está na frente do livro, mas sua mente está pensando no que vai jantar, ou naquela mensagem que chegou no celular. Nesse estado, a retenção é mínima.
O hiperfoco é o oposto. É atenção total, sem divisão. E a boa notícia? Qualquer pessoa pode aprender a entrar nesse estado por escolha, não por acaso.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que é Hiperprodutividade
Agora vamos ao segundo conceito: Hiperprodutividade.
Muita gente acha que produtividade é fazer muitas coisas. Não é. Produtividade é fazer as coisas certas, da forma certa, no tempo certo.
A Hiperprodutividade vai além. É quando você consegue extrair o máximo resultado do mínimo de tempo investido. É estudar por 2 horas e absorver o que antes levaria 6 horas. É fazer uma revisão de 30 minutos que vale mais que 3 horas de releitura desatenta.
Eu gosto de pensar na equação da hiperprodutividade:
Resultado = Tempo × Intensidade × Estratégia
- Tempo é quantas horas você dedica
- Intensidade é seu nível de foco (aqui entra o hiperfoco)
- Estratégia são as técnicas que você usa
Se qualquer um desses fatores for baixo, o resultado será baixo. Mas quando você combina tempo adequado com alta intensidade e estratégias eficazes... aí a mágica acontece.
E perceba: não é só sobre estudar mais. É sobre estudar melhor. Qualidade vence quantidade.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dois modos do cérebro
Aqui está algo que vai mudar sua forma de ver os estudos: seu cérebro tem dois modos de operação.
O primeiro é o modo focado. É o hiperfoco que acabamos de discutir. Atenção direcionada, concentração intensa, processamento profundo.
O segundo é o modo difuso. É quando sua mente está relaxada, vagando, fazendo conexões aparentemente aleatórias. É o modo que você entra quando está tomando banho e de repente tem uma ideia brilhante.
E aqui está a sacada: os dois modos são essenciais para o aprendizado.
O modo focado é onde você absorve informação nova. O modo difuso é onde seu cérebro consolida essa informação, faz conexões com o que você já sabe, e transforma conhecimento em compreensão.
No Módulo 1, vamos dominar o modo focado - o hiperfoco. No Módulo 2, vamos explorar o modo difuso e aprender a alternar entre os dois de forma estratégica.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benefícios do hiperfoco nos estudos
Para fechar o conteúdo de hoje, vamos falar dos benefícios concretos de dominar o hiperfoco:
Primeiro: retenção aumentada. Quando você estuda em hiperfoco, a informação é processada mais profundamente. Ela não fica só na memória de curto prazo - ela é transferida para a memória de longo prazo. Você lembra mais, por mais tempo.
Segundo: menos tempo, mais resultado. Uma hora de estudo em hiperfoco vale mais que três horas de estudo distraído. Você vai conseguir cobrir mais conteúdo em menos tempo, ou ter mais tempo livre mantendo os mesmos resultados.
Terceiro: redução do estresse e ansiedade. Sabe aquela sensação de "tenho tanta coisa pra estudar e não consigo dar conta"? Ela diminui drasticamente quando você estuda com eficiência. Você passa a confiar no seu método, e isso traz paz 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Resumo dos pontos principais da aula. Hiperfoco = estado de concentração profunda e intencional. Hiperprodutividade = Tempo × Intensidade × Estratégia. O cérebro opera em modo focado e modo difuso. Dominar o hiperfoco traz retenção, eficiência e bem-estar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infográfico resume visualmente os principais conceitos da aula. Use-o para reforçar o aprendizado. Hiperfoco = estado de concentração profunda e intencional. Hiperprodutividade = Tempo × Intensidade × Estratégia. O cérebro opera em modo focado e modo difuso. Dominar o hiperfoco traz retenção, eficiência e bem-estar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é hora da prática!  Complete esta atividade antes de prosseguir!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recapitular:
- Hiperfoco é um estado de concentração profunda onde você processa informação de forma muito mais eficiente
- Hiperprodutividade é maximizar resultados através da combinação de tempo, intensidade e estratégia
- Seu cérebro tem dois modos: focado e difuso, e ambos são importantes
- Os benefícios incluem mais retenção, menos tempo gasto e menos estresse
Na Aula 3, vamos explorar as Quatro Premissas Fundamentais que você precisa aceitar para dominar o hiperfoco. São verdades sobre como nosso cérebro funciona que, uma vez entendidas, vão mudar sua abordagem completamente.
Mas agora, é hora da atividade prática!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72A"/>
          </a:solidFill>
          <a:ln/>
        </p:spPr>
      </p:sp>
      <p:sp>
        <p:nvSpPr>
          <p:cNvPr id="3" name="Text 1"/>
          <p:cNvSpPr/>
          <p:nvPr/>
        </p:nvSpPr>
        <p:spPr>
          <a:xfrm>
            <a:off x="457200" y="320040"/>
            <a:ext cx="8229600" cy="365760"/>
          </a:xfrm>
          <a:prstGeom prst="rect">
            <a:avLst/>
          </a:prstGeom>
          <a:noFill/>
          <a:ln/>
        </p:spPr>
        <p:txBody>
          <a:bodyPr wrap="square" rtlCol="0" anchor="ctr"/>
          <a:lstStyle/>
          <a:p>
            <a:pPr indent="0" marL="0">
              <a:buNone/>
            </a:pPr>
            <a:r>
              <a:rPr lang="en-US" sz="1400" b="1" dirty="0">
                <a:solidFill>
                  <a:srgbClr val="22C55E"/>
                </a:solidFill>
                <a:latin typeface="Arial" pitchFamily="34" charset="0"/>
                <a:ea typeface="Arial" pitchFamily="34" charset="-122"/>
                <a:cs typeface="Arial" pitchFamily="34" charset="-120"/>
              </a:rPr>
              <a:t>1 - Hiperfoco e Hiperprodutividade | Bloco: Fundamentos</a:t>
            </a:r>
            <a:endParaRPr lang="en-US" sz="1400" dirty="0"/>
          </a:p>
        </p:txBody>
      </p:sp>
      <p:sp>
        <p:nvSpPr>
          <p:cNvPr id="4" name="Shape 2"/>
          <p:cNvSpPr/>
          <p:nvPr/>
        </p:nvSpPr>
        <p:spPr>
          <a:xfrm>
            <a:off x="274320" y="1371600"/>
            <a:ext cx="73152" cy="2286000"/>
          </a:xfrm>
          <a:prstGeom prst="rect">
            <a:avLst/>
          </a:prstGeom>
          <a:solidFill>
            <a:srgbClr val="667EEA"/>
          </a:solidFill>
          <a:ln/>
        </p:spPr>
      </p:sp>
      <p:sp>
        <p:nvSpPr>
          <p:cNvPr id="5" name="Shape 3"/>
          <p:cNvSpPr/>
          <p:nvPr/>
        </p:nvSpPr>
        <p:spPr>
          <a:xfrm>
            <a:off x="548640" y="1463040"/>
            <a:ext cx="1097280" cy="1097280"/>
          </a:xfrm>
          <a:prstGeom prst="ellipse">
            <a:avLst/>
          </a:prstGeom>
          <a:solidFill>
            <a:srgbClr val="667EEA"/>
          </a:solidFill>
          <a:ln/>
        </p:spPr>
      </p:sp>
      <p:sp>
        <p:nvSpPr>
          <p:cNvPr id="6" name="Text 4"/>
          <p:cNvSpPr/>
          <p:nvPr/>
        </p:nvSpPr>
        <p:spPr>
          <a:xfrm>
            <a:off x="548640" y="1691640"/>
            <a:ext cx="1097280" cy="64008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02</a:t>
            </a:r>
            <a:endParaRPr lang="en-US" sz="3200" dirty="0"/>
          </a:p>
        </p:txBody>
      </p:sp>
      <p:sp>
        <p:nvSpPr>
          <p:cNvPr id="7" name="Text 5"/>
          <p:cNvSpPr/>
          <p:nvPr/>
        </p:nvSpPr>
        <p:spPr>
          <a:xfrm>
            <a:off x="1828800" y="1463040"/>
            <a:ext cx="6858000" cy="9144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Definindo Hiperfoco e Hiperprodutividade</a:t>
            </a:r>
            <a:endParaRPr lang="en-US" sz="2800" dirty="0"/>
          </a:p>
        </p:txBody>
      </p:sp>
      <p:sp>
        <p:nvSpPr>
          <p:cNvPr id="8" name="Text 6"/>
          <p:cNvSpPr/>
          <p:nvPr/>
        </p:nvSpPr>
        <p:spPr>
          <a:xfrm>
            <a:off x="1828800" y="2377440"/>
            <a:ext cx="6858000" cy="457200"/>
          </a:xfrm>
          <a:prstGeom prst="rect">
            <a:avLst/>
          </a:prstGeom>
          <a:noFill/>
          <a:ln/>
        </p:spPr>
        <p:txBody>
          <a:bodyPr wrap="square" rtlCol="0" anchor="ctr"/>
          <a:lstStyle/>
          <a:p>
            <a:pPr indent="0" marL="0">
              <a:buNone/>
            </a:pPr>
            <a:r>
              <a:rPr lang="en-US" sz="1600" dirty="0">
                <a:solidFill>
                  <a:srgbClr val="667EEA"/>
                </a:solidFill>
                <a:latin typeface="Arial" pitchFamily="34" charset="0"/>
                <a:ea typeface="Arial" pitchFamily="34" charset="-122"/>
                <a:cs typeface="Arial" pitchFamily="34" charset="-120"/>
              </a:rPr>
              <a:t>Foco e Produtividade nos Estudos</a:t>
            </a:r>
            <a:endParaRPr lang="en-US" sz="1600" dirty="0"/>
          </a:p>
        </p:txBody>
      </p:sp>
      <p:sp>
        <p:nvSpPr>
          <p:cNvPr id="9" name="Shape 7"/>
          <p:cNvSpPr/>
          <p:nvPr/>
        </p:nvSpPr>
        <p:spPr>
          <a:xfrm>
            <a:off x="1828800" y="3017520"/>
            <a:ext cx="2743200" cy="54864"/>
          </a:xfrm>
          <a:prstGeom prst="rect">
            <a:avLst/>
          </a:prstGeom>
          <a:solidFill>
            <a:srgbClr val="22C55E"/>
          </a:solidFill>
          <a:ln/>
        </p:spPr>
      </p:sp>
      <p:sp>
        <p:nvSpPr>
          <p:cNvPr id="10" name="Shape 8"/>
          <p:cNvSpPr/>
          <p:nvPr/>
        </p:nvSpPr>
        <p:spPr>
          <a:xfrm>
            <a:off x="457200" y="3474720"/>
            <a:ext cx="2560320" cy="731520"/>
          </a:xfrm>
          <a:prstGeom prst="roundRect">
            <a:avLst/>
          </a:prstGeom>
          <a:solidFill>
            <a:srgbClr val="2A2A4A"/>
          </a:solidFill>
          <a:ln w="12700">
            <a:solidFill>
              <a:srgbClr val="667EEA"/>
            </a:solidFill>
            <a:prstDash val="solid"/>
          </a:ln>
        </p:spPr>
      </p:sp>
      <p:sp>
        <p:nvSpPr>
          <p:cNvPr id="11" name="Text 9"/>
          <p:cNvSpPr/>
          <p:nvPr/>
        </p:nvSpPr>
        <p:spPr>
          <a:xfrm>
            <a:off x="457200" y="3611880"/>
            <a:ext cx="2560320" cy="45720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 Duração: ~22 minutos</a:t>
            </a:r>
            <a:endParaRPr lang="en-US" sz="1100" dirty="0"/>
          </a:p>
        </p:txBody>
      </p:sp>
      <p:sp>
        <p:nvSpPr>
          <p:cNvPr id="12" name="Shape 10"/>
          <p:cNvSpPr/>
          <p:nvPr/>
        </p:nvSpPr>
        <p:spPr>
          <a:xfrm>
            <a:off x="3200400" y="3474720"/>
            <a:ext cx="2560320" cy="731520"/>
          </a:xfrm>
          <a:prstGeom prst="roundRect">
            <a:avLst/>
          </a:prstGeom>
          <a:solidFill>
            <a:srgbClr val="2A2A4A"/>
          </a:solidFill>
          <a:ln w="12700">
            <a:solidFill>
              <a:srgbClr val="22C55E"/>
            </a:solidFill>
            <a:prstDash val="solid"/>
          </a:ln>
        </p:spPr>
      </p:sp>
      <p:sp>
        <p:nvSpPr>
          <p:cNvPr id="13" name="Text 11"/>
          <p:cNvSpPr/>
          <p:nvPr/>
        </p:nvSpPr>
        <p:spPr>
          <a:xfrm>
            <a:off x="3200400" y="3611880"/>
            <a:ext cx="2560320" cy="45720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 Nível: Introdutório</a:t>
            </a:r>
            <a:endParaRPr lang="en-US" sz="1100" dirty="0"/>
          </a:p>
        </p:txBody>
      </p:sp>
      <p:sp>
        <p:nvSpPr>
          <p:cNvPr id="14" name="Shape 12"/>
          <p:cNvSpPr/>
          <p:nvPr/>
        </p:nvSpPr>
        <p:spPr>
          <a:xfrm>
            <a:off x="5943600" y="3474720"/>
            <a:ext cx="2560320" cy="731520"/>
          </a:xfrm>
          <a:prstGeom prst="roundRect">
            <a:avLst/>
          </a:prstGeom>
          <a:solidFill>
            <a:srgbClr val="2A2A4A"/>
          </a:solidFill>
          <a:ln w="12700">
            <a:solidFill>
              <a:srgbClr val="3B82F6"/>
            </a:solidFill>
            <a:prstDash val="solid"/>
          </a:ln>
        </p:spPr>
      </p:sp>
      <p:sp>
        <p:nvSpPr>
          <p:cNvPr id="15" name="Text 13"/>
          <p:cNvSpPr/>
          <p:nvPr/>
        </p:nvSpPr>
        <p:spPr>
          <a:xfrm>
            <a:off x="5943600" y="3611880"/>
            <a:ext cx="2560320" cy="45720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 Prático</a:t>
            </a:r>
            <a:endParaRPr lang="en-US" sz="1100" dirty="0"/>
          </a:p>
        </p:txBody>
      </p:sp>
      <p:pic>
        <p:nvPicPr>
          <p:cNvPr id="17"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 Objetivos da Aula</a:t>
            </a:r>
            <a:endParaRPr lang="en-US" sz="2000" dirty="0"/>
          </a:p>
        </p:txBody>
      </p:sp>
      <p:sp>
        <p:nvSpPr>
          <p:cNvPr id="4" name="Shape 2"/>
          <p:cNvSpPr/>
          <p:nvPr/>
        </p:nvSpPr>
        <p:spPr>
          <a:xfrm>
            <a:off x="457200" y="1097280"/>
            <a:ext cx="8229600" cy="822960"/>
          </a:xfrm>
          <a:prstGeom prst="roundRect">
            <a:avLst/>
          </a:prstGeom>
          <a:solidFill>
            <a:srgbClr val="2A2A4A"/>
          </a:solidFill>
          <a:ln w="25400">
            <a:solidFill>
              <a:srgbClr val="667EEA"/>
            </a:solidFill>
            <a:prstDash val="solid"/>
          </a:ln>
        </p:spPr>
      </p:sp>
      <p:sp>
        <p:nvSpPr>
          <p:cNvPr id="5" name="Shape 3"/>
          <p:cNvSpPr/>
          <p:nvPr/>
        </p:nvSpPr>
        <p:spPr>
          <a:xfrm>
            <a:off x="640080" y="1234440"/>
            <a:ext cx="548640" cy="548640"/>
          </a:xfrm>
          <a:prstGeom prst="ellipse">
            <a:avLst/>
          </a:prstGeom>
          <a:solidFill>
            <a:srgbClr val="667EEA"/>
          </a:solidFill>
          <a:ln/>
        </p:spPr>
      </p:sp>
      <p:sp>
        <p:nvSpPr>
          <p:cNvPr id="6" name="Text 4"/>
          <p:cNvSpPr/>
          <p:nvPr/>
        </p:nvSpPr>
        <p:spPr>
          <a:xfrm>
            <a:off x="640080" y="1325880"/>
            <a:ext cx="548640" cy="3657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371600" y="1325880"/>
            <a:ext cx="7132320" cy="457200"/>
          </a:xfrm>
          <a:prstGeom prst="rect">
            <a:avLst/>
          </a:prstGeom>
          <a:noFill/>
          <a:ln/>
        </p:spPr>
        <p:txBody>
          <a:bodyPr wrap="square" rtlCol="0" anchor="ctr"/>
          <a:lstStyle/>
          <a:p>
            <a:pPr indent="0" marL="0">
              <a:buNone/>
            </a:pPr>
            <a:r>
              <a:rPr lang="en-US" sz="1600" dirty="0">
                <a:solidFill>
                  <a:srgbClr val="FFFFFF"/>
                </a:solidFill>
                <a:latin typeface="Arial" pitchFamily="34" charset="0"/>
                <a:ea typeface="Arial" pitchFamily="34" charset="-122"/>
                <a:cs typeface="Arial" pitchFamily="34" charset="-120"/>
              </a:rPr>
              <a:t>Hiperfoco</a:t>
            </a:r>
            <a:endParaRPr lang="en-US" sz="1600" dirty="0"/>
          </a:p>
        </p:txBody>
      </p:sp>
      <p:sp>
        <p:nvSpPr>
          <p:cNvPr id="8" name="Shape 6"/>
          <p:cNvSpPr/>
          <p:nvPr/>
        </p:nvSpPr>
        <p:spPr>
          <a:xfrm>
            <a:off x="457200" y="2103120"/>
            <a:ext cx="8229600" cy="822960"/>
          </a:xfrm>
          <a:prstGeom prst="roundRect">
            <a:avLst/>
          </a:prstGeom>
          <a:solidFill>
            <a:srgbClr val="2A2A4A"/>
          </a:solidFill>
          <a:ln w="25400">
            <a:solidFill>
              <a:srgbClr val="22C55E"/>
            </a:solidFill>
            <a:prstDash val="solid"/>
          </a:ln>
        </p:spPr>
      </p:sp>
      <p:sp>
        <p:nvSpPr>
          <p:cNvPr id="9" name="Shape 7"/>
          <p:cNvSpPr/>
          <p:nvPr/>
        </p:nvSpPr>
        <p:spPr>
          <a:xfrm>
            <a:off x="640080" y="2240280"/>
            <a:ext cx="548640" cy="548640"/>
          </a:xfrm>
          <a:prstGeom prst="ellipse">
            <a:avLst/>
          </a:prstGeom>
          <a:solidFill>
            <a:srgbClr val="22C55E"/>
          </a:solidFill>
          <a:ln/>
        </p:spPr>
      </p:sp>
      <p:sp>
        <p:nvSpPr>
          <p:cNvPr id="10" name="Text 8"/>
          <p:cNvSpPr/>
          <p:nvPr/>
        </p:nvSpPr>
        <p:spPr>
          <a:xfrm>
            <a:off x="640080" y="2331720"/>
            <a:ext cx="548640" cy="3657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371600" y="2331720"/>
            <a:ext cx="7132320" cy="457200"/>
          </a:xfrm>
          <a:prstGeom prst="rect">
            <a:avLst/>
          </a:prstGeom>
          <a:noFill/>
          <a:ln/>
        </p:spPr>
        <p:txBody>
          <a:bodyPr wrap="square" rtlCol="0" anchor="ctr"/>
          <a:lstStyle/>
          <a:p>
            <a:pPr indent="0" marL="0">
              <a:buNone/>
            </a:pPr>
            <a:r>
              <a:rPr lang="en-US" sz="1600" dirty="0">
                <a:solidFill>
                  <a:srgbClr val="FFFFFF"/>
                </a:solidFill>
                <a:latin typeface="Arial" pitchFamily="34" charset="0"/>
                <a:ea typeface="Arial" pitchFamily="34" charset="-122"/>
                <a:cs typeface="Arial" pitchFamily="34" charset="-120"/>
              </a:rPr>
              <a:t>Hiperprodutividade</a:t>
            </a:r>
            <a:endParaRPr lang="en-US" sz="1600" dirty="0"/>
          </a:p>
        </p:txBody>
      </p:sp>
      <p:sp>
        <p:nvSpPr>
          <p:cNvPr id="12" name="Shape 10"/>
          <p:cNvSpPr/>
          <p:nvPr/>
        </p:nvSpPr>
        <p:spPr>
          <a:xfrm>
            <a:off x="457200" y="3108960"/>
            <a:ext cx="8229600" cy="822960"/>
          </a:xfrm>
          <a:prstGeom prst="roundRect">
            <a:avLst/>
          </a:prstGeom>
          <a:solidFill>
            <a:srgbClr val="2A2A4A"/>
          </a:solidFill>
          <a:ln w="25400">
            <a:solidFill>
              <a:srgbClr val="3B82F6"/>
            </a:solidFill>
            <a:prstDash val="solid"/>
          </a:ln>
        </p:spPr>
      </p:sp>
      <p:sp>
        <p:nvSpPr>
          <p:cNvPr id="13" name="Shape 11"/>
          <p:cNvSpPr/>
          <p:nvPr/>
        </p:nvSpPr>
        <p:spPr>
          <a:xfrm>
            <a:off x="640080" y="3246120"/>
            <a:ext cx="548640" cy="548640"/>
          </a:xfrm>
          <a:prstGeom prst="ellipse">
            <a:avLst/>
          </a:prstGeom>
          <a:solidFill>
            <a:srgbClr val="3B82F6"/>
          </a:solidFill>
          <a:ln/>
        </p:spPr>
      </p:sp>
      <p:sp>
        <p:nvSpPr>
          <p:cNvPr id="14" name="Text 12"/>
          <p:cNvSpPr/>
          <p:nvPr/>
        </p:nvSpPr>
        <p:spPr>
          <a:xfrm>
            <a:off x="640080" y="3337560"/>
            <a:ext cx="548640" cy="3657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5" name="Text 13"/>
          <p:cNvSpPr/>
          <p:nvPr/>
        </p:nvSpPr>
        <p:spPr>
          <a:xfrm>
            <a:off x="1371600" y="3337560"/>
            <a:ext cx="7132320" cy="457200"/>
          </a:xfrm>
          <a:prstGeom prst="rect">
            <a:avLst/>
          </a:prstGeom>
          <a:noFill/>
          <a:ln/>
        </p:spPr>
        <p:txBody>
          <a:bodyPr wrap="square" rtlCol="0" anchor="ctr"/>
          <a:lstStyle/>
          <a:p>
            <a:pPr indent="0" marL="0">
              <a:buNone/>
            </a:pPr>
            <a:r>
              <a:rPr lang="en-US" sz="1600" dirty="0">
                <a:solidFill>
                  <a:srgbClr val="FFFFFF"/>
                </a:solidFill>
                <a:latin typeface="Arial" pitchFamily="34" charset="0"/>
                <a:ea typeface="Arial" pitchFamily="34" charset="-122"/>
                <a:cs typeface="Arial" pitchFamily="34" charset="-120"/>
              </a:rPr>
              <a:t>O cérebro opera em modo focado e modo difuso</a:t>
            </a:r>
            <a:endParaRPr lang="en-US" sz="1600" dirty="0"/>
          </a:p>
        </p:txBody>
      </p:sp>
      <p:sp>
        <p:nvSpPr>
          <p:cNvPr id="16" name="Shape 14"/>
          <p:cNvSpPr/>
          <p:nvPr/>
        </p:nvSpPr>
        <p:spPr>
          <a:xfrm>
            <a:off x="8869680" y="1097280"/>
            <a:ext cx="91440" cy="3017520"/>
          </a:xfrm>
          <a:prstGeom prst="rect">
            <a:avLst/>
          </a:prstGeom>
          <a:solidFill>
            <a:srgbClr val="667EEA"/>
          </a:solidFill>
          <a:ln/>
        </p:spPr>
      </p:sp>
      <p:pic>
        <p:nvPicPr>
          <p:cNvPr id="18"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Shape 1"/>
          <p:cNvSpPr/>
          <p:nvPr/>
        </p:nvSpPr>
        <p:spPr>
          <a:xfrm>
            <a:off x="0" y="777240"/>
            <a:ext cx="2286000" cy="45720"/>
          </a:xfrm>
          <a:prstGeom prst="rect">
            <a:avLst/>
          </a:prstGeom>
          <a:solidFill>
            <a:srgbClr val="667EEA"/>
          </a:solidFill>
          <a:ln/>
        </p:spPr>
      </p:sp>
      <p:sp>
        <p:nvSpPr>
          <p:cNvPr id="4" name="Shape 2"/>
          <p:cNvSpPr/>
          <p:nvPr/>
        </p:nvSpPr>
        <p:spPr>
          <a:xfrm>
            <a:off x="274320" y="137160"/>
            <a:ext cx="548640" cy="548640"/>
          </a:xfrm>
          <a:prstGeom prst="ellipse">
            <a:avLst/>
          </a:prstGeom>
          <a:solidFill>
            <a:srgbClr val="667EEA"/>
          </a:solidFill>
          <a:ln/>
        </p:spPr>
      </p:sp>
      <p:sp>
        <p:nvSpPr>
          <p:cNvPr id="5" name="Text 3"/>
          <p:cNvSpPr/>
          <p:nvPr/>
        </p:nvSpPr>
        <p:spPr>
          <a:xfrm>
            <a:off x="274320" y="228600"/>
            <a:ext cx="548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1005840" y="228600"/>
            <a:ext cx="77724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O que é Hiperfoco</a:t>
            </a:r>
            <a:endParaRPr lang="en-US" sz="2000" dirty="0"/>
          </a:p>
        </p:txBody>
      </p:sp>
      <p:sp>
        <p:nvSpPr>
          <p:cNvPr id="7" name="Shape 5"/>
          <p:cNvSpPr/>
          <p:nvPr/>
        </p:nvSpPr>
        <p:spPr>
          <a:xfrm>
            <a:off x="457200" y="1097280"/>
            <a:ext cx="8229600" cy="777240"/>
          </a:xfrm>
          <a:prstGeom prst="roundRect">
            <a:avLst/>
          </a:prstGeom>
          <a:solidFill>
            <a:srgbClr val="2A2A4A"/>
          </a:solidFill>
          <a:ln w="19050">
            <a:solidFill>
              <a:srgbClr val="667EEA"/>
            </a:solidFill>
            <a:prstDash val="solid"/>
          </a:ln>
        </p:spPr>
      </p:sp>
      <p:sp>
        <p:nvSpPr>
          <p:cNvPr id="8" name="Shape 6"/>
          <p:cNvSpPr/>
          <p:nvPr/>
        </p:nvSpPr>
        <p:spPr>
          <a:xfrm>
            <a:off x="457200" y="1097280"/>
            <a:ext cx="109728" cy="777240"/>
          </a:xfrm>
          <a:prstGeom prst="rect">
            <a:avLst/>
          </a:prstGeom>
          <a:solidFill>
            <a:srgbClr val="667EEA"/>
          </a:solidFill>
          <a:ln/>
        </p:spPr>
      </p:sp>
      <p:sp>
        <p:nvSpPr>
          <p:cNvPr id="9" name="Text 7"/>
          <p:cNvSpPr/>
          <p:nvPr/>
        </p:nvSpPr>
        <p:spPr>
          <a:xfrm>
            <a:off x="685800" y="1325880"/>
            <a:ext cx="274320" cy="320040"/>
          </a:xfrm>
          <a:prstGeom prst="rect">
            <a:avLst/>
          </a:prstGeom>
          <a:noFill/>
          <a:ln/>
        </p:spPr>
        <p:txBody>
          <a:bodyPr wrap="square" rtlCol="0" anchor="ctr"/>
          <a:lstStyle/>
          <a:p>
            <a:pPr indent="0" marL="0">
              <a:buNone/>
            </a:pPr>
            <a:r>
              <a:rPr lang="en-US" sz="1600" b="1" dirty="0">
                <a:solidFill>
                  <a:srgbClr val="667EEA"/>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960120" y="13258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Definição científica do estado de foco profundo</a:t>
            </a:r>
            <a:endParaRPr lang="en-US" sz="1400" dirty="0"/>
          </a:p>
        </p:txBody>
      </p:sp>
      <p:sp>
        <p:nvSpPr>
          <p:cNvPr id="11" name="Shape 9"/>
          <p:cNvSpPr/>
          <p:nvPr/>
        </p:nvSpPr>
        <p:spPr>
          <a:xfrm>
            <a:off x="457200" y="2011680"/>
            <a:ext cx="8229600" cy="777240"/>
          </a:xfrm>
          <a:prstGeom prst="roundRect">
            <a:avLst/>
          </a:prstGeom>
          <a:solidFill>
            <a:srgbClr val="2A2A4A"/>
          </a:solidFill>
          <a:ln w="19050">
            <a:solidFill>
              <a:srgbClr val="667EEA"/>
            </a:solidFill>
            <a:prstDash val="solid"/>
          </a:ln>
        </p:spPr>
      </p:sp>
      <p:sp>
        <p:nvSpPr>
          <p:cNvPr id="12" name="Shape 10"/>
          <p:cNvSpPr/>
          <p:nvPr/>
        </p:nvSpPr>
        <p:spPr>
          <a:xfrm>
            <a:off x="457200" y="2011680"/>
            <a:ext cx="109728" cy="777240"/>
          </a:xfrm>
          <a:prstGeom prst="rect">
            <a:avLst/>
          </a:prstGeom>
          <a:solidFill>
            <a:srgbClr val="667EEA"/>
          </a:solidFill>
          <a:ln/>
        </p:spPr>
      </p:sp>
      <p:sp>
        <p:nvSpPr>
          <p:cNvPr id="13" name="Text 11"/>
          <p:cNvSpPr/>
          <p:nvPr/>
        </p:nvSpPr>
        <p:spPr>
          <a:xfrm>
            <a:off x="685800" y="2240280"/>
            <a:ext cx="274320" cy="320040"/>
          </a:xfrm>
          <a:prstGeom prst="rect">
            <a:avLst/>
          </a:prstGeom>
          <a:noFill/>
          <a:ln/>
        </p:spPr>
        <p:txBody>
          <a:bodyPr wrap="square" rtlCol="0" anchor="ctr"/>
          <a:lstStyle/>
          <a:p>
            <a:pPr indent="0" marL="0">
              <a:buNone/>
            </a:pPr>
            <a:r>
              <a:rPr lang="en-US" sz="1600" b="1" dirty="0">
                <a:solidFill>
                  <a:srgbClr val="667EEA"/>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960120" y="22402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A neurociência por trás do hiperfoco</a:t>
            </a:r>
            <a:endParaRPr lang="en-US" sz="1400" dirty="0"/>
          </a:p>
        </p:txBody>
      </p:sp>
      <p:sp>
        <p:nvSpPr>
          <p:cNvPr id="15" name="Shape 13"/>
          <p:cNvSpPr/>
          <p:nvPr/>
        </p:nvSpPr>
        <p:spPr>
          <a:xfrm>
            <a:off x="457200" y="2926080"/>
            <a:ext cx="8229600" cy="777240"/>
          </a:xfrm>
          <a:prstGeom prst="roundRect">
            <a:avLst/>
          </a:prstGeom>
          <a:solidFill>
            <a:srgbClr val="2A2A4A"/>
          </a:solidFill>
          <a:ln w="19050">
            <a:solidFill>
              <a:srgbClr val="667EEA"/>
            </a:solidFill>
            <a:prstDash val="solid"/>
          </a:ln>
        </p:spPr>
      </p:sp>
      <p:sp>
        <p:nvSpPr>
          <p:cNvPr id="16" name="Shape 14"/>
          <p:cNvSpPr/>
          <p:nvPr/>
        </p:nvSpPr>
        <p:spPr>
          <a:xfrm>
            <a:off x="457200" y="2926080"/>
            <a:ext cx="109728" cy="777240"/>
          </a:xfrm>
          <a:prstGeom prst="rect">
            <a:avLst/>
          </a:prstGeom>
          <a:solidFill>
            <a:srgbClr val="667EEA"/>
          </a:solidFill>
          <a:ln/>
        </p:spPr>
      </p:sp>
      <p:sp>
        <p:nvSpPr>
          <p:cNvPr id="17" name="Text 15"/>
          <p:cNvSpPr/>
          <p:nvPr/>
        </p:nvSpPr>
        <p:spPr>
          <a:xfrm>
            <a:off x="685800" y="3154680"/>
            <a:ext cx="274320" cy="320040"/>
          </a:xfrm>
          <a:prstGeom prst="rect">
            <a:avLst/>
          </a:prstGeom>
          <a:noFill/>
          <a:ln/>
        </p:spPr>
        <p:txBody>
          <a:bodyPr wrap="square" rtlCol="0" anchor="ctr"/>
          <a:lstStyle/>
          <a:p>
            <a:pPr indent="0" marL="0">
              <a:buNone/>
            </a:pPr>
            <a:r>
              <a:rPr lang="en-US" sz="1600" b="1" dirty="0">
                <a:solidFill>
                  <a:srgbClr val="667EEA"/>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960120" y="31546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Diferença entre atenção superficial e atenção profunda</a:t>
            </a:r>
            <a:endParaRPr lang="en-US" sz="1400" dirty="0"/>
          </a:p>
        </p:txBody>
      </p:sp>
      <p:sp>
        <p:nvSpPr>
          <p:cNvPr id="19" name="Shape 17"/>
          <p:cNvSpPr/>
          <p:nvPr/>
        </p:nvSpPr>
        <p:spPr>
          <a:xfrm>
            <a:off x="8686800" y="4114800"/>
            <a:ext cx="457200" cy="457200"/>
          </a:xfrm>
          <a:prstGeom prst="rect">
            <a:avLst/>
          </a:prstGeom>
          <a:solidFill>
            <a:srgbClr val="667EEA"/>
          </a:solidFill>
          <a:ln/>
        </p:spPr>
      </p:sp>
      <p:pic>
        <p:nvPicPr>
          <p:cNvPr id="21"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Shape 1"/>
          <p:cNvSpPr/>
          <p:nvPr/>
        </p:nvSpPr>
        <p:spPr>
          <a:xfrm>
            <a:off x="0" y="777240"/>
            <a:ext cx="4572000" cy="45720"/>
          </a:xfrm>
          <a:prstGeom prst="rect">
            <a:avLst/>
          </a:prstGeom>
          <a:solidFill>
            <a:srgbClr val="22C55E"/>
          </a:solidFill>
          <a:ln/>
        </p:spPr>
      </p:sp>
      <p:sp>
        <p:nvSpPr>
          <p:cNvPr id="4" name="Shape 2"/>
          <p:cNvSpPr/>
          <p:nvPr/>
        </p:nvSpPr>
        <p:spPr>
          <a:xfrm>
            <a:off x="274320" y="137160"/>
            <a:ext cx="548640" cy="548640"/>
          </a:xfrm>
          <a:prstGeom prst="ellipse">
            <a:avLst/>
          </a:prstGeom>
          <a:solidFill>
            <a:srgbClr val="22C55E"/>
          </a:solidFill>
          <a:ln/>
        </p:spPr>
      </p:sp>
      <p:sp>
        <p:nvSpPr>
          <p:cNvPr id="5" name="Text 3"/>
          <p:cNvSpPr/>
          <p:nvPr/>
        </p:nvSpPr>
        <p:spPr>
          <a:xfrm>
            <a:off x="274320" y="228600"/>
            <a:ext cx="548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6" name="Text 4"/>
          <p:cNvSpPr/>
          <p:nvPr/>
        </p:nvSpPr>
        <p:spPr>
          <a:xfrm>
            <a:off x="1005840" y="228600"/>
            <a:ext cx="77724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O que é Hiperprodutividade</a:t>
            </a:r>
            <a:endParaRPr lang="en-US" sz="2000" dirty="0"/>
          </a:p>
        </p:txBody>
      </p:sp>
      <p:sp>
        <p:nvSpPr>
          <p:cNvPr id="7" name="Shape 5"/>
          <p:cNvSpPr/>
          <p:nvPr/>
        </p:nvSpPr>
        <p:spPr>
          <a:xfrm>
            <a:off x="457200" y="1097280"/>
            <a:ext cx="8229600" cy="777240"/>
          </a:xfrm>
          <a:prstGeom prst="roundRect">
            <a:avLst/>
          </a:prstGeom>
          <a:solidFill>
            <a:srgbClr val="2A2A4A"/>
          </a:solidFill>
          <a:ln w="19050">
            <a:solidFill>
              <a:srgbClr val="22C55E"/>
            </a:solidFill>
            <a:prstDash val="solid"/>
          </a:ln>
        </p:spPr>
      </p:sp>
      <p:sp>
        <p:nvSpPr>
          <p:cNvPr id="8" name="Shape 6"/>
          <p:cNvSpPr/>
          <p:nvPr/>
        </p:nvSpPr>
        <p:spPr>
          <a:xfrm>
            <a:off x="457200" y="1097280"/>
            <a:ext cx="109728" cy="777240"/>
          </a:xfrm>
          <a:prstGeom prst="rect">
            <a:avLst/>
          </a:prstGeom>
          <a:solidFill>
            <a:srgbClr val="22C55E"/>
          </a:solidFill>
          <a:ln/>
        </p:spPr>
      </p:sp>
      <p:sp>
        <p:nvSpPr>
          <p:cNvPr id="9" name="Text 7"/>
          <p:cNvSpPr/>
          <p:nvPr/>
        </p:nvSpPr>
        <p:spPr>
          <a:xfrm>
            <a:off x="685800" y="1325880"/>
            <a:ext cx="274320" cy="320040"/>
          </a:xfrm>
          <a:prstGeom prst="rect">
            <a:avLst/>
          </a:prstGeom>
          <a:noFill/>
          <a:ln/>
        </p:spPr>
        <p:txBody>
          <a:bodyPr wrap="square" rtlCol="0" anchor="ctr"/>
          <a:lstStyle/>
          <a:p>
            <a:pPr indent="0" marL="0">
              <a:buNone/>
            </a:pPr>
            <a:r>
              <a:rPr lang="en-US" sz="1600" b="1" dirty="0">
                <a:solidFill>
                  <a:srgbClr val="22C55E"/>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960120" y="13258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Produtividade vs. ocupação</a:t>
            </a:r>
            <a:endParaRPr lang="en-US" sz="1400" dirty="0"/>
          </a:p>
        </p:txBody>
      </p:sp>
      <p:sp>
        <p:nvSpPr>
          <p:cNvPr id="11" name="Shape 9"/>
          <p:cNvSpPr/>
          <p:nvPr/>
        </p:nvSpPr>
        <p:spPr>
          <a:xfrm>
            <a:off x="457200" y="2011680"/>
            <a:ext cx="8229600" cy="777240"/>
          </a:xfrm>
          <a:prstGeom prst="roundRect">
            <a:avLst/>
          </a:prstGeom>
          <a:solidFill>
            <a:srgbClr val="2A2A4A"/>
          </a:solidFill>
          <a:ln w="19050">
            <a:solidFill>
              <a:srgbClr val="22C55E"/>
            </a:solidFill>
            <a:prstDash val="solid"/>
          </a:ln>
        </p:spPr>
      </p:sp>
      <p:sp>
        <p:nvSpPr>
          <p:cNvPr id="12" name="Shape 10"/>
          <p:cNvSpPr/>
          <p:nvPr/>
        </p:nvSpPr>
        <p:spPr>
          <a:xfrm>
            <a:off x="457200" y="2011680"/>
            <a:ext cx="109728" cy="777240"/>
          </a:xfrm>
          <a:prstGeom prst="rect">
            <a:avLst/>
          </a:prstGeom>
          <a:solidFill>
            <a:srgbClr val="22C55E"/>
          </a:solidFill>
          <a:ln/>
        </p:spPr>
      </p:sp>
      <p:sp>
        <p:nvSpPr>
          <p:cNvPr id="13" name="Text 11"/>
          <p:cNvSpPr/>
          <p:nvPr/>
        </p:nvSpPr>
        <p:spPr>
          <a:xfrm>
            <a:off x="685800" y="2240280"/>
            <a:ext cx="274320" cy="320040"/>
          </a:xfrm>
          <a:prstGeom prst="rect">
            <a:avLst/>
          </a:prstGeom>
          <a:noFill/>
          <a:ln/>
        </p:spPr>
        <p:txBody>
          <a:bodyPr wrap="square" rtlCol="0" anchor="ctr"/>
          <a:lstStyle/>
          <a:p>
            <a:pPr indent="0" marL="0">
              <a:buNone/>
            </a:pPr>
            <a:r>
              <a:rPr lang="en-US" sz="1600" b="1" dirty="0">
                <a:solidFill>
                  <a:srgbClr val="22C55E"/>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960120" y="22402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A equação da hiperprodutividade</a:t>
            </a:r>
            <a:endParaRPr lang="en-US" sz="1400" dirty="0"/>
          </a:p>
        </p:txBody>
      </p:sp>
      <p:sp>
        <p:nvSpPr>
          <p:cNvPr id="15" name="Shape 13"/>
          <p:cNvSpPr/>
          <p:nvPr/>
        </p:nvSpPr>
        <p:spPr>
          <a:xfrm>
            <a:off x="457200" y="2926080"/>
            <a:ext cx="8229600" cy="777240"/>
          </a:xfrm>
          <a:prstGeom prst="roundRect">
            <a:avLst/>
          </a:prstGeom>
          <a:solidFill>
            <a:srgbClr val="2A2A4A"/>
          </a:solidFill>
          <a:ln w="19050">
            <a:solidFill>
              <a:srgbClr val="22C55E"/>
            </a:solidFill>
            <a:prstDash val="solid"/>
          </a:ln>
        </p:spPr>
      </p:sp>
      <p:sp>
        <p:nvSpPr>
          <p:cNvPr id="16" name="Shape 14"/>
          <p:cNvSpPr/>
          <p:nvPr/>
        </p:nvSpPr>
        <p:spPr>
          <a:xfrm>
            <a:off x="457200" y="2926080"/>
            <a:ext cx="109728" cy="777240"/>
          </a:xfrm>
          <a:prstGeom prst="rect">
            <a:avLst/>
          </a:prstGeom>
          <a:solidFill>
            <a:srgbClr val="22C55E"/>
          </a:solidFill>
          <a:ln/>
        </p:spPr>
      </p:sp>
      <p:sp>
        <p:nvSpPr>
          <p:cNvPr id="17" name="Text 15"/>
          <p:cNvSpPr/>
          <p:nvPr/>
        </p:nvSpPr>
        <p:spPr>
          <a:xfrm>
            <a:off x="685800" y="3154680"/>
            <a:ext cx="274320" cy="320040"/>
          </a:xfrm>
          <a:prstGeom prst="rect">
            <a:avLst/>
          </a:prstGeom>
          <a:noFill/>
          <a:ln/>
        </p:spPr>
        <p:txBody>
          <a:bodyPr wrap="square" rtlCol="0" anchor="ctr"/>
          <a:lstStyle/>
          <a:p>
            <a:pPr indent="0" marL="0">
              <a:buNone/>
            </a:pPr>
            <a:r>
              <a:rPr lang="en-US" sz="1600" b="1" dirty="0">
                <a:solidFill>
                  <a:srgbClr val="22C55E"/>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960120" y="31546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Qualidade vs. quantidade no estudo</a:t>
            </a:r>
            <a:endParaRPr lang="en-US" sz="1400" dirty="0"/>
          </a:p>
        </p:txBody>
      </p:sp>
      <p:sp>
        <p:nvSpPr>
          <p:cNvPr id="19" name="Shape 17"/>
          <p:cNvSpPr/>
          <p:nvPr/>
        </p:nvSpPr>
        <p:spPr>
          <a:xfrm>
            <a:off x="8686800" y="4114800"/>
            <a:ext cx="457200" cy="457200"/>
          </a:xfrm>
          <a:prstGeom prst="rect">
            <a:avLst/>
          </a:prstGeom>
          <a:solidFill>
            <a:srgbClr val="22C55E"/>
          </a:solidFill>
          <a:ln/>
        </p:spPr>
      </p:sp>
      <p:pic>
        <p:nvPicPr>
          <p:cNvPr id="21"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Shape 1"/>
          <p:cNvSpPr/>
          <p:nvPr/>
        </p:nvSpPr>
        <p:spPr>
          <a:xfrm>
            <a:off x="0" y="777240"/>
            <a:ext cx="6858000" cy="45720"/>
          </a:xfrm>
          <a:prstGeom prst="rect">
            <a:avLst/>
          </a:prstGeom>
          <a:solidFill>
            <a:srgbClr val="3B82F6"/>
          </a:solidFill>
          <a:ln/>
        </p:spPr>
      </p:sp>
      <p:sp>
        <p:nvSpPr>
          <p:cNvPr id="4" name="Shape 2"/>
          <p:cNvSpPr/>
          <p:nvPr/>
        </p:nvSpPr>
        <p:spPr>
          <a:xfrm>
            <a:off x="274320" y="137160"/>
            <a:ext cx="548640" cy="548640"/>
          </a:xfrm>
          <a:prstGeom prst="ellipse">
            <a:avLst/>
          </a:prstGeom>
          <a:solidFill>
            <a:srgbClr val="3B82F6"/>
          </a:solidFill>
          <a:ln/>
        </p:spPr>
      </p:sp>
      <p:sp>
        <p:nvSpPr>
          <p:cNvPr id="5" name="Text 3"/>
          <p:cNvSpPr/>
          <p:nvPr/>
        </p:nvSpPr>
        <p:spPr>
          <a:xfrm>
            <a:off x="274320" y="228600"/>
            <a:ext cx="548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6" name="Text 4"/>
          <p:cNvSpPr/>
          <p:nvPr/>
        </p:nvSpPr>
        <p:spPr>
          <a:xfrm>
            <a:off x="1005840" y="228600"/>
            <a:ext cx="77724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Os dois modos do cérebro</a:t>
            </a:r>
            <a:endParaRPr lang="en-US" sz="2000" dirty="0"/>
          </a:p>
        </p:txBody>
      </p:sp>
      <p:sp>
        <p:nvSpPr>
          <p:cNvPr id="7" name="Shape 5"/>
          <p:cNvSpPr/>
          <p:nvPr/>
        </p:nvSpPr>
        <p:spPr>
          <a:xfrm>
            <a:off x="457200" y="1097280"/>
            <a:ext cx="8229600" cy="777240"/>
          </a:xfrm>
          <a:prstGeom prst="roundRect">
            <a:avLst/>
          </a:prstGeom>
          <a:solidFill>
            <a:srgbClr val="2A2A4A"/>
          </a:solidFill>
          <a:ln w="19050">
            <a:solidFill>
              <a:srgbClr val="3B82F6"/>
            </a:solidFill>
            <a:prstDash val="solid"/>
          </a:ln>
        </p:spPr>
      </p:sp>
      <p:sp>
        <p:nvSpPr>
          <p:cNvPr id="8" name="Shape 6"/>
          <p:cNvSpPr/>
          <p:nvPr/>
        </p:nvSpPr>
        <p:spPr>
          <a:xfrm>
            <a:off x="457200" y="1097280"/>
            <a:ext cx="109728" cy="777240"/>
          </a:xfrm>
          <a:prstGeom prst="rect">
            <a:avLst/>
          </a:prstGeom>
          <a:solidFill>
            <a:srgbClr val="3B82F6"/>
          </a:solidFill>
          <a:ln/>
        </p:spPr>
      </p:sp>
      <p:sp>
        <p:nvSpPr>
          <p:cNvPr id="9" name="Text 7"/>
          <p:cNvSpPr/>
          <p:nvPr/>
        </p:nvSpPr>
        <p:spPr>
          <a:xfrm>
            <a:off x="685800" y="1325880"/>
            <a:ext cx="274320" cy="320040"/>
          </a:xfrm>
          <a:prstGeom prst="rect">
            <a:avLst/>
          </a:prstGeom>
          <a:noFill/>
          <a:ln/>
        </p:spPr>
        <p:txBody>
          <a:bodyPr wrap="square" rtlCol="0" anchor="ctr"/>
          <a:lstStyle/>
          <a:p>
            <a:pPr indent="0" marL="0">
              <a:buNone/>
            </a:pPr>
            <a:r>
              <a:rPr lang="en-US" sz="1600" b="1" dirty="0">
                <a:solidFill>
                  <a:srgbClr val="3B82F6"/>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960120" y="13258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Modo focado vs. modo difuso</a:t>
            </a:r>
            <a:endParaRPr lang="en-US" sz="1400" dirty="0"/>
          </a:p>
        </p:txBody>
      </p:sp>
      <p:sp>
        <p:nvSpPr>
          <p:cNvPr id="11" name="Shape 9"/>
          <p:cNvSpPr/>
          <p:nvPr/>
        </p:nvSpPr>
        <p:spPr>
          <a:xfrm>
            <a:off x="457200" y="2011680"/>
            <a:ext cx="8229600" cy="777240"/>
          </a:xfrm>
          <a:prstGeom prst="roundRect">
            <a:avLst/>
          </a:prstGeom>
          <a:solidFill>
            <a:srgbClr val="2A2A4A"/>
          </a:solidFill>
          <a:ln w="19050">
            <a:solidFill>
              <a:srgbClr val="3B82F6"/>
            </a:solidFill>
            <a:prstDash val="solid"/>
          </a:ln>
        </p:spPr>
      </p:sp>
      <p:sp>
        <p:nvSpPr>
          <p:cNvPr id="12" name="Shape 10"/>
          <p:cNvSpPr/>
          <p:nvPr/>
        </p:nvSpPr>
        <p:spPr>
          <a:xfrm>
            <a:off x="457200" y="2011680"/>
            <a:ext cx="109728" cy="777240"/>
          </a:xfrm>
          <a:prstGeom prst="rect">
            <a:avLst/>
          </a:prstGeom>
          <a:solidFill>
            <a:srgbClr val="3B82F6"/>
          </a:solidFill>
          <a:ln/>
        </p:spPr>
      </p:sp>
      <p:sp>
        <p:nvSpPr>
          <p:cNvPr id="13" name="Text 11"/>
          <p:cNvSpPr/>
          <p:nvPr/>
        </p:nvSpPr>
        <p:spPr>
          <a:xfrm>
            <a:off x="685800" y="2240280"/>
            <a:ext cx="274320" cy="320040"/>
          </a:xfrm>
          <a:prstGeom prst="rect">
            <a:avLst/>
          </a:prstGeom>
          <a:noFill/>
          <a:ln/>
        </p:spPr>
        <p:txBody>
          <a:bodyPr wrap="square" rtlCol="0" anchor="ctr"/>
          <a:lstStyle/>
          <a:p>
            <a:pPr indent="0" marL="0">
              <a:buNone/>
            </a:pPr>
            <a:r>
              <a:rPr lang="en-US" sz="1600" b="1" dirty="0">
                <a:solidFill>
                  <a:srgbClr val="3B82F6"/>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960120" y="22402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Quando usar cada um</a:t>
            </a:r>
            <a:endParaRPr lang="en-US" sz="1400" dirty="0"/>
          </a:p>
        </p:txBody>
      </p:sp>
      <p:sp>
        <p:nvSpPr>
          <p:cNvPr id="15" name="Shape 13"/>
          <p:cNvSpPr/>
          <p:nvPr/>
        </p:nvSpPr>
        <p:spPr>
          <a:xfrm>
            <a:off x="457200" y="2926080"/>
            <a:ext cx="8229600" cy="777240"/>
          </a:xfrm>
          <a:prstGeom prst="roundRect">
            <a:avLst/>
          </a:prstGeom>
          <a:solidFill>
            <a:srgbClr val="2A2A4A"/>
          </a:solidFill>
          <a:ln w="19050">
            <a:solidFill>
              <a:srgbClr val="3B82F6"/>
            </a:solidFill>
            <a:prstDash val="solid"/>
          </a:ln>
        </p:spPr>
      </p:sp>
      <p:sp>
        <p:nvSpPr>
          <p:cNvPr id="16" name="Shape 14"/>
          <p:cNvSpPr/>
          <p:nvPr/>
        </p:nvSpPr>
        <p:spPr>
          <a:xfrm>
            <a:off x="457200" y="2926080"/>
            <a:ext cx="109728" cy="777240"/>
          </a:xfrm>
          <a:prstGeom prst="rect">
            <a:avLst/>
          </a:prstGeom>
          <a:solidFill>
            <a:srgbClr val="3B82F6"/>
          </a:solidFill>
          <a:ln/>
        </p:spPr>
      </p:sp>
      <p:sp>
        <p:nvSpPr>
          <p:cNvPr id="17" name="Text 15"/>
          <p:cNvSpPr/>
          <p:nvPr/>
        </p:nvSpPr>
        <p:spPr>
          <a:xfrm>
            <a:off x="685800" y="3154680"/>
            <a:ext cx="274320" cy="320040"/>
          </a:xfrm>
          <a:prstGeom prst="rect">
            <a:avLst/>
          </a:prstGeom>
          <a:noFill/>
          <a:ln/>
        </p:spPr>
        <p:txBody>
          <a:bodyPr wrap="square" rtlCol="0" anchor="ctr"/>
          <a:lstStyle/>
          <a:p>
            <a:pPr indent="0" marL="0">
              <a:buNone/>
            </a:pPr>
            <a:r>
              <a:rPr lang="en-US" sz="1600" b="1" dirty="0">
                <a:solidFill>
                  <a:srgbClr val="3B82F6"/>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960120" y="31546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A importância do equilíbrio</a:t>
            </a:r>
            <a:endParaRPr lang="en-US" sz="1400" dirty="0"/>
          </a:p>
        </p:txBody>
      </p:sp>
      <p:sp>
        <p:nvSpPr>
          <p:cNvPr id="19" name="Shape 17"/>
          <p:cNvSpPr/>
          <p:nvPr/>
        </p:nvSpPr>
        <p:spPr>
          <a:xfrm>
            <a:off x="8686800" y="4114800"/>
            <a:ext cx="457200" cy="457200"/>
          </a:xfrm>
          <a:prstGeom prst="rect">
            <a:avLst/>
          </a:prstGeom>
          <a:solidFill>
            <a:srgbClr val="3B82F6"/>
          </a:solidFill>
          <a:ln/>
        </p:spPr>
      </p:sp>
      <p:pic>
        <p:nvPicPr>
          <p:cNvPr id="21"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Shape 1"/>
          <p:cNvSpPr/>
          <p:nvPr/>
        </p:nvSpPr>
        <p:spPr>
          <a:xfrm>
            <a:off x="0" y="777240"/>
            <a:ext cx="9144000" cy="45720"/>
          </a:xfrm>
          <a:prstGeom prst="rect">
            <a:avLst/>
          </a:prstGeom>
          <a:solidFill>
            <a:srgbClr val="9333EA"/>
          </a:solidFill>
          <a:ln/>
        </p:spPr>
      </p:sp>
      <p:sp>
        <p:nvSpPr>
          <p:cNvPr id="4" name="Shape 2"/>
          <p:cNvSpPr/>
          <p:nvPr/>
        </p:nvSpPr>
        <p:spPr>
          <a:xfrm>
            <a:off x="274320" y="137160"/>
            <a:ext cx="548640" cy="548640"/>
          </a:xfrm>
          <a:prstGeom prst="ellipse">
            <a:avLst/>
          </a:prstGeom>
          <a:solidFill>
            <a:srgbClr val="9333EA"/>
          </a:solidFill>
          <a:ln/>
        </p:spPr>
      </p:sp>
      <p:sp>
        <p:nvSpPr>
          <p:cNvPr id="5" name="Text 3"/>
          <p:cNvSpPr/>
          <p:nvPr/>
        </p:nvSpPr>
        <p:spPr>
          <a:xfrm>
            <a:off x="274320" y="228600"/>
            <a:ext cx="548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6" name="Text 4"/>
          <p:cNvSpPr/>
          <p:nvPr/>
        </p:nvSpPr>
        <p:spPr>
          <a:xfrm>
            <a:off x="1005840" y="228600"/>
            <a:ext cx="77724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Os benefícios do hiperfoco nos estudos</a:t>
            </a:r>
            <a:endParaRPr lang="en-US" sz="2000" dirty="0"/>
          </a:p>
        </p:txBody>
      </p:sp>
      <p:sp>
        <p:nvSpPr>
          <p:cNvPr id="7" name="Shape 5"/>
          <p:cNvSpPr/>
          <p:nvPr/>
        </p:nvSpPr>
        <p:spPr>
          <a:xfrm>
            <a:off x="457200" y="1097280"/>
            <a:ext cx="8229600" cy="777240"/>
          </a:xfrm>
          <a:prstGeom prst="roundRect">
            <a:avLst/>
          </a:prstGeom>
          <a:solidFill>
            <a:srgbClr val="2A2A4A"/>
          </a:solidFill>
          <a:ln w="19050">
            <a:solidFill>
              <a:srgbClr val="9333EA"/>
            </a:solidFill>
            <a:prstDash val="solid"/>
          </a:ln>
        </p:spPr>
      </p:sp>
      <p:sp>
        <p:nvSpPr>
          <p:cNvPr id="8" name="Shape 6"/>
          <p:cNvSpPr/>
          <p:nvPr/>
        </p:nvSpPr>
        <p:spPr>
          <a:xfrm>
            <a:off x="457200" y="1097280"/>
            <a:ext cx="109728" cy="777240"/>
          </a:xfrm>
          <a:prstGeom prst="rect">
            <a:avLst/>
          </a:prstGeom>
          <a:solidFill>
            <a:srgbClr val="9333EA"/>
          </a:solidFill>
          <a:ln/>
        </p:spPr>
      </p:sp>
      <p:sp>
        <p:nvSpPr>
          <p:cNvPr id="9" name="Text 7"/>
          <p:cNvSpPr/>
          <p:nvPr/>
        </p:nvSpPr>
        <p:spPr>
          <a:xfrm>
            <a:off x="685800" y="1325880"/>
            <a:ext cx="274320" cy="320040"/>
          </a:xfrm>
          <a:prstGeom prst="rect">
            <a:avLst/>
          </a:prstGeom>
          <a:noFill/>
          <a:ln/>
        </p:spPr>
        <p:txBody>
          <a:bodyPr wrap="square" rtlCol="0" anchor="ctr"/>
          <a:lstStyle/>
          <a:p>
            <a:pPr indent="0" marL="0">
              <a:buNone/>
            </a:pPr>
            <a:r>
              <a:rPr lang="en-US" sz="1600" b="1" dirty="0">
                <a:solidFill>
                  <a:srgbClr val="9333EA"/>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960120" y="13258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Retenção aumentada</a:t>
            </a:r>
            <a:endParaRPr lang="en-US" sz="1400" dirty="0"/>
          </a:p>
        </p:txBody>
      </p:sp>
      <p:sp>
        <p:nvSpPr>
          <p:cNvPr id="11" name="Shape 9"/>
          <p:cNvSpPr/>
          <p:nvPr/>
        </p:nvSpPr>
        <p:spPr>
          <a:xfrm>
            <a:off x="457200" y="2011680"/>
            <a:ext cx="8229600" cy="777240"/>
          </a:xfrm>
          <a:prstGeom prst="roundRect">
            <a:avLst/>
          </a:prstGeom>
          <a:solidFill>
            <a:srgbClr val="2A2A4A"/>
          </a:solidFill>
          <a:ln w="19050">
            <a:solidFill>
              <a:srgbClr val="9333EA"/>
            </a:solidFill>
            <a:prstDash val="solid"/>
          </a:ln>
        </p:spPr>
      </p:sp>
      <p:sp>
        <p:nvSpPr>
          <p:cNvPr id="12" name="Shape 10"/>
          <p:cNvSpPr/>
          <p:nvPr/>
        </p:nvSpPr>
        <p:spPr>
          <a:xfrm>
            <a:off x="457200" y="2011680"/>
            <a:ext cx="109728" cy="777240"/>
          </a:xfrm>
          <a:prstGeom prst="rect">
            <a:avLst/>
          </a:prstGeom>
          <a:solidFill>
            <a:srgbClr val="9333EA"/>
          </a:solidFill>
          <a:ln/>
        </p:spPr>
      </p:sp>
      <p:sp>
        <p:nvSpPr>
          <p:cNvPr id="13" name="Text 11"/>
          <p:cNvSpPr/>
          <p:nvPr/>
        </p:nvSpPr>
        <p:spPr>
          <a:xfrm>
            <a:off x="685800" y="2240280"/>
            <a:ext cx="274320" cy="320040"/>
          </a:xfrm>
          <a:prstGeom prst="rect">
            <a:avLst/>
          </a:prstGeom>
          <a:noFill/>
          <a:ln/>
        </p:spPr>
        <p:txBody>
          <a:bodyPr wrap="square" rtlCol="0" anchor="ctr"/>
          <a:lstStyle/>
          <a:p>
            <a:pPr indent="0" marL="0">
              <a:buNone/>
            </a:pPr>
            <a:r>
              <a:rPr lang="en-US" sz="1600" b="1" dirty="0">
                <a:solidFill>
                  <a:srgbClr val="9333EA"/>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960120" y="22402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Menos tempo, mais resultado</a:t>
            </a:r>
            <a:endParaRPr lang="en-US" sz="1400" dirty="0"/>
          </a:p>
        </p:txBody>
      </p:sp>
      <p:sp>
        <p:nvSpPr>
          <p:cNvPr id="15" name="Shape 13"/>
          <p:cNvSpPr/>
          <p:nvPr/>
        </p:nvSpPr>
        <p:spPr>
          <a:xfrm>
            <a:off x="457200" y="2926080"/>
            <a:ext cx="8229600" cy="777240"/>
          </a:xfrm>
          <a:prstGeom prst="roundRect">
            <a:avLst/>
          </a:prstGeom>
          <a:solidFill>
            <a:srgbClr val="2A2A4A"/>
          </a:solidFill>
          <a:ln w="19050">
            <a:solidFill>
              <a:srgbClr val="9333EA"/>
            </a:solidFill>
            <a:prstDash val="solid"/>
          </a:ln>
        </p:spPr>
      </p:sp>
      <p:sp>
        <p:nvSpPr>
          <p:cNvPr id="16" name="Shape 14"/>
          <p:cNvSpPr/>
          <p:nvPr/>
        </p:nvSpPr>
        <p:spPr>
          <a:xfrm>
            <a:off x="457200" y="2926080"/>
            <a:ext cx="109728" cy="777240"/>
          </a:xfrm>
          <a:prstGeom prst="rect">
            <a:avLst/>
          </a:prstGeom>
          <a:solidFill>
            <a:srgbClr val="9333EA"/>
          </a:solidFill>
          <a:ln/>
        </p:spPr>
      </p:sp>
      <p:sp>
        <p:nvSpPr>
          <p:cNvPr id="17" name="Text 15"/>
          <p:cNvSpPr/>
          <p:nvPr/>
        </p:nvSpPr>
        <p:spPr>
          <a:xfrm>
            <a:off x="685800" y="3154680"/>
            <a:ext cx="274320" cy="320040"/>
          </a:xfrm>
          <a:prstGeom prst="rect">
            <a:avLst/>
          </a:prstGeom>
          <a:noFill/>
          <a:ln/>
        </p:spPr>
        <p:txBody>
          <a:bodyPr wrap="square" rtlCol="0" anchor="ctr"/>
          <a:lstStyle/>
          <a:p>
            <a:pPr indent="0" marL="0">
              <a:buNone/>
            </a:pPr>
            <a:r>
              <a:rPr lang="en-US" sz="1600" b="1" dirty="0">
                <a:solidFill>
                  <a:srgbClr val="9333EA"/>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960120" y="31546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Redução do estresse e ansiedade</a:t>
            </a:r>
            <a:endParaRPr lang="en-US" sz="1400" dirty="0"/>
          </a:p>
        </p:txBody>
      </p:sp>
      <p:sp>
        <p:nvSpPr>
          <p:cNvPr id="19" name="Shape 17"/>
          <p:cNvSpPr/>
          <p:nvPr/>
        </p:nvSpPr>
        <p:spPr>
          <a:xfrm>
            <a:off x="8686800" y="4114800"/>
            <a:ext cx="457200" cy="457200"/>
          </a:xfrm>
          <a:prstGeom prst="rect">
            <a:avLst/>
          </a:prstGeom>
          <a:solidFill>
            <a:srgbClr val="9333EA"/>
          </a:solidFill>
          <a:ln/>
        </p:spPr>
      </p:sp>
      <p:pic>
        <p:nvPicPr>
          <p:cNvPr id="21"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 Pontos-Chave</a:t>
            </a:r>
            <a:endParaRPr lang="en-US" sz="2000" dirty="0"/>
          </a:p>
        </p:txBody>
      </p:sp>
      <p:sp>
        <p:nvSpPr>
          <p:cNvPr id="4" name="Shape 2"/>
          <p:cNvSpPr/>
          <p:nvPr/>
        </p:nvSpPr>
        <p:spPr>
          <a:xfrm>
            <a:off x="0" y="777240"/>
            <a:ext cx="9144000" cy="45720"/>
          </a:xfrm>
          <a:prstGeom prst="rect">
            <a:avLst/>
          </a:prstGeom>
          <a:solidFill>
            <a:srgbClr val="22C55E"/>
          </a:solidFill>
          <a:ln/>
        </p:spPr>
      </p:sp>
      <p:sp>
        <p:nvSpPr>
          <p:cNvPr id="5" name="Shape 3"/>
          <p:cNvSpPr/>
          <p:nvPr/>
        </p:nvSpPr>
        <p:spPr>
          <a:xfrm>
            <a:off x="685800" y="1097280"/>
            <a:ext cx="54864" cy="3200400"/>
          </a:xfrm>
          <a:prstGeom prst="rect">
            <a:avLst/>
          </a:prstGeom>
          <a:solidFill>
            <a:srgbClr val="3D3D5C"/>
          </a:solidFill>
          <a:ln/>
        </p:spPr>
      </p:sp>
      <p:sp>
        <p:nvSpPr>
          <p:cNvPr id="6" name="Shape 4"/>
          <p:cNvSpPr/>
          <p:nvPr/>
        </p:nvSpPr>
        <p:spPr>
          <a:xfrm>
            <a:off x="502920" y="1188720"/>
            <a:ext cx="457200" cy="457200"/>
          </a:xfrm>
          <a:prstGeom prst="ellipse">
            <a:avLst/>
          </a:prstGeom>
          <a:solidFill>
            <a:srgbClr val="667EEA"/>
          </a:solidFill>
          <a:ln/>
        </p:spPr>
      </p:sp>
      <p:sp>
        <p:nvSpPr>
          <p:cNvPr id="7" name="Text 5"/>
          <p:cNvSpPr/>
          <p:nvPr/>
        </p:nvSpPr>
        <p:spPr>
          <a:xfrm>
            <a:off x="502920" y="1234440"/>
            <a:ext cx="45720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8" name="Shape 6"/>
          <p:cNvSpPr/>
          <p:nvPr/>
        </p:nvSpPr>
        <p:spPr>
          <a:xfrm>
            <a:off x="1188720" y="1097280"/>
            <a:ext cx="7498080" cy="640080"/>
          </a:xfrm>
          <a:prstGeom prst="roundRect">
            <a:avLst/>
          </a:prstGeom>
          <a:solidFill>
            <a:srgbClr val="2A2A4A"/>
          </a:solidFill>
          <a:ln w="25400">
            <a:solidFill>
              <a:srgbClr val="667EEA"/>
            </a:solidFill>
            <a:prstDash val="solid"/>
          </a:ln>
        </p:spPr>
      </p:sp>
      <p:sp>
        <p:nvSpPr>
          <p:cNvPr id="9" name="Text 7"/>
          <p:cNvSpPr/>
          <p:nvPr/>
        </p:nvSpPr>
        <p:spPr>
          <a:xfrm>
            <a:off x="1371600" y="1234440"/>
            <a:ext cx="713232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Hiperfoco = estado de concentração profunda e intencional</a:t>
            </a:r>
            <a:endParaRPr lang="en-US" sz="1400" dirty="0"/>
          </a:p>
        </p:txBody>
      </p:sp>
      <p:sp>
        <p:nvSpPr>
          <p:cNvPr id="10" name="Shape 8"/>
          <p:cNvSpPr/>
          <p:nvPr/>
        </p:nvSpPr>
        <p:spPr>
          <a:xfrm>
            <a:off x="502920" y="2011680"/>
            <a:ext cx="457200" cy="457200"/>
          </a:xfrm>
          <a:prstGeom prst="ellipse">
            <a:avLst/>
          </a:prstGeom>
          <a:solidFill>
            <a:srgbClr val="22C55E"/>
          </a:solidFill>
          <a:ln/>
        </p:spPr>
      </p:sp>
      <p:sp>
        <p:nvSpPr>
          <p:cNvPr id="11" name="Text 9"/>
          <p:cNvSpPr/>
          <p:nvPr/>
        </p:nvSpPr>
        <p:spPr>
          <a:xfrm>
            <a:off x="502920" y="2057400"/>
            <a:ext cx="45720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1188720" y="1920240"/>
            <a:ext cx="7498080" cy="640080"/>
          </a:xfrm>
          <a:prstGeom prst="roundRect">
            <a:avLst/>
          </a:prstGeom>
          <a:solidFill>
            <a:srgbClr val="2A2A4A"/>
          </a:solidFill>
          <a:ln w="25400">
            <a:solidFill>
              <a:srgbClr val="22C55E"/>
            </a:solidFill>
            <a:prstDash val="solid"/>
          </a:ln>
        </p:spPr>
      </p:sp>
      <p:sp>
        <p:nvSpPr>
          <p:cNvPr id="13" name="Text 11"/>
          <p:cNvSpPr/>
          <p:nvPr/>
        </p:nvSpPr>
        <p:spPr>
          <a:xfrm>
            <a:off x="1371600" y="2057400"/>
            <a:ext cx="713232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Hiperprodutividade = Tempo × Intensidade × Estratégia</a:t>
            </a:r>
            <a:endParaRPr lang="en-US" sz="1400" dirty="0"/>
          </a:p>
        </p:txBody>
      </p:sp>
      <p:sp>
        <p:nvSpPr>
          <p:cNvPr id="14" name="Shape 12"/>
          <p:cNvSpPr/>
          <p:nvPr/>
        </p:nvSpPr>
        <p:spPr>
          <a:xfrm>
            <a:off x="502920" y="2834640"/>
            <a:ext cx="457200" cy="457200"/>
          </a:xfrm>
          <a:prstGeom prst="ellipse">
            <a:avLst/>
          </a:prstGeom>
          <a:solidFill>
            <a:srgbClr val="3B82F6"/>
          </a:solidFill>
          <a:ln/>
        </p:spPr>
      </p:sp>
      <p:sp>
        <p:nvSpPr>
          <p:cNvPr id="15" name="Text 13"/>
          <p:cNvSpPr/>
          <p:nvPr/>
        </p:nvSpPr>
        <p:spPr>
          <a:xfrm>
            <a:off x="502920" y="2880360"/>
            <a:ext cx="45720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1188720" y="2743200"/>
            <a:ext cx="7498080" cy="640080"/>
          </a:xfrm>
          <a:prstGeom prst="roundRect">
            <a:avLst/>
          </a:prstGeom>
          <a:solidFill>
            <a:srgbClr val="2A2A4A"/>
          </a:solidFill>
          <a:ln w="25400">
            <a:solidFill>
              <a:srgbClr val="3B82F6"/>
            </a:solidFill>
            <a:prstDash val="solid"/>
          </a:ln>
        </p:spPr>
      </p:sp>
      <p:sp>
        <p:nvSpPr>
          <p:cNvPr id="17" name="Text 15"/>
          <p:cNvSpPr/>
          <p:nvPr/>
        </p:nvSpPr>
        <p:spPr>
          <a:xfrm>
            <a:off x="1371600" y="2880360"/>
            <a:ext cx="713232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O cérebro opera em modo focado e modo difuso</a:t>
            </a:r>
            <a:endParaRPr lang="en-US" sz="1400" dirty="0"/>
          </a:p>
        </p:txBody>
      </p:sp>
      <p:sp>
        <p:nvSpPr>
          <p:cNvPr id="18" name="Shape 16"/>
          <p:cNvSpPr/>
          <p:nvPr/>
        </p:nvSpPr>
        <p:spPr>
          <a:xfrm>
            <a:off x="502920" y="3657600"/>
            <a:ext cx="457200" cy="457200"/>
          </a:xfrm>
          <a:prstGeom prst="ellipse">
            <a:avLst/>
          </a:prstGeom>
          <a:solidFill>
            <a:srgbClr val="9333EA"/>
          </a:solidFill>
          <a:ln/>
        </p:spPr>
      </p:sp>
      <p:sp>
        <p:nvSpPr>
          <p:cNvPr id="19" name="Text 17"/>
          <p:cNvSpPr/>
          <p:nvPr/>
        </p:nvSpPr>
        <p:spPr>
          <a:xfrm>
            <a:off x="502920" y="3703320"/>
            <a:ext cx="45720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1188720" y="3566160"/>
            <a:ext cx="7498080" cy="640080"/>
          </a:xfrm>
          <a:prstGeom prst="roundRect">
            <a:avLst/>
          </a:prstGeom>
          <a:solidFill>
            <a:srgbClr val="2A2A4A"/>
          </a:solidFill>
          <a:ln w="25400">
            <a:solidFill>
              <a:srgbClr val="9333EA"/>
            </a:solidFill>
            <a:prstDash val="solid"/>
          </a:ln>
        </p:spPr>
      </p:sp>
      <p:sp>
        <p:nvSpPr>
          <p:cNvPr id="21" name="Text 19"/>
          <p:cNvSpPr/>
          <p:nvPr/>
        </p:nvSpPr>
        <p:spPr>
          <a:xfrm>
            <a:off x="1371600" y="3703320"/>
            <a:ext cx="713232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Dominar o hiperfoco traz retenção, eficiência e bem-estar</a:t>
            </a:r>
            <a:endParaRPr lang="en-US" sz="1400" dirty="0"/>
          </a:p>
        </p:txBody>
      </p:sp>
      <p:pic>
        <p:nvPicPr>
          <p:cNvPr id="23"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 Infográfico da Aula</a:t>
            </a:r>
            <a:endParaRPr lang="en-US" sz="2000" dirty="0"/>
          </a:p>
        </p:txBody>
      </p:sp>
      <p:pic>
        <p:nvPicPr>
          <p:cNvPr id="4" name="Image 0" descr="preencoded.png">    </p:cNvPr>
          <p:cNvPicPr>
            <a:picLocks noChangeAspect="1"/>
          </p:cNvPicPr>
          <p:nvPr/>
        </p:nvPicPr>
        <p:blipFill>
          <a:blip r:embed="rId1"/>
          <a:stretch>
            <a:fillRect/>
          </a:stretch>
        </p:blipFill>
        <p:spPr>
          <a:xfrm>
            <a:off x="274320" y="914400"/>
            <a:ext cx="5486400" cy="3383280"/>
          </a:xfrm>
          <a:prstGeom prst="rect">
            <a:avLst/>
          </a:prstGeom>
        </p:spPr>
      </p:pic>
      <p:sp>
        <p:nvSpPr>
          <p:cNvPr id="5" name="Text 2"/>
          <p:cNvSpPr/>
          <p:nvPr/>
        </p:nvSpPr>
        <p:spPr>
          <a:xfrm>
            <a:off x="5943600" y="914400"/>
            <a:ext cx="3017520" cy="365760"/>
          </a:xfrm>
          <a:prstGeom prst="rect">
            <a:avLst/>
          </a:prstGeom>
          <a:noFill/>
          <a:ln/>
        </p:spPr>
        <p:txBody>
          <a:bodyPr wrap="square" rtlCol="0" anchor="ctr"/>
          <a:lstStyle/>
          <a:p>
            <a:pPr indent="0" marL="0">
              <a:buNone/>
            </a:pPr>
            <a:r>
              <a:rPr lang="en-US" sz="1200" b="1" dirty="0">
                <a:solidFill>
                  <a:srgbClr val="22C55E"/>
                </a:solidFill>
                <a:latin typeface="Arial" pitchFamily="34" charset="0"/>
                <a:ea typeface="Arial" pitchFamily="34" charset="-122"/>
                <a:cs typeface="Arial" pitchFamily="34" charset="-120"/>
              </a:rPr>
              <a:t>Conceitos Principais:</a:t>
            </a:r>
            <a:endParaRPr lang="en-US" sz="1200" dirty="0"/>
          </a:p>
        </p:txBody>
      </p:sp>
      <p:sp>
        <p:nvSpPr>
          <p:cNvPr id="6" name="Shape 3"/>
          <p:cNvSpPr/>
          <p:nvPr/>
        </p:nvSpPr>
        <p:spPr>
          <a:xfrm>
            <a:off x="5943600" y="1371600"/>
            <a:ext cx="228600" cy="228600"/>
          </a:xfrm>
          <a:prstGeom prst="ellipse">
            <a:avLst/>
          </a:prstGeom>
          <a:solidFill>
            <a:srgbClr val="667EEA"/>
          </a:solidFill>
          <a:ln/>
        </p:spPr>
      </p:sp>
      <p:sp>
        <p:nvSpPr>
          <p:cNvPr id="7" name="Text 4"/>
          <p:cNvSpPr/>
          <p:nvPr/>
        </p:nvSpPr>
        <p:spPr>
          <a:xfrm>
            <a:off x="6309360" y="1325880"/>
            <a:ext cx="2560320" cy="73152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Hiperfoco = estado de concentração profunda e intencional</a:t>
            </a:r>
            <a:endParaRPr lang="en-US" sz="1000" dirty="0"/>
          </a:p>
        </p:txBody>
      </p:sp>
      <p:sp>
        <p:nvSpPr>
          <p:cNvPr id="8" name="Shape 5"/>
          <p:cNvSpPr/>
          <p:nvPr/>
        </p:nvSpPr>
        <p:spPr>
          <a:xfrm>
            <a:off x="5943600" y="2148840"/>
            <a:ext cx="228600" cy="228600"/>
          </a:xfrm>
          <a:prstGeom prst="ellipse">
            <a:avLst/>
          </a:prstGeom>
          <a:solidFill>
            <a:srgbClr val="667EEA"/>
          </a:solidFill>
          <a:ln/>
        </p:spPr>
      </p:sp>
      <p:sp>
        <p:nvSpPr>
          <p:cNvPr id="9" name="Text 6"/>
          <p:cNvSpPr/>
          <p:nvPr/>
        </p:nvSpPr>
        <p:spPr>
          <a:xfrm>
            <a:off x="6309360" y="2103120"/>
            <a:ext cx="2560320" cy="73152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Hiperprodutividade = Tempo × Intensidade × Estratégia</a:t>
            </a:r>
            <a:endParaRPr lang="en-US" sz="1000" dirty="0"/>
          </a:p>
        </p:txBody>
      </p:sp>
      <p:sp>
        <p:nvSpPr>
          <p:cNvPr id="10" name="Shape 7"/>
          <p:cNvSpPr/>
          <p:nvPr/>
        </p:nvSpPr>
        <p:spPr>
          <a:xfrm>
            <a:off x="5943600" y="2926080"/>
            <a:ext cx="228600" cy="228600"/>
          </a:xfrm>
          <a:prstGeom prst="ellipse">
            <a:avLst/>
          </a:prstGeom>
          <a:solidFill>
            <a:srgbClr val="667EEA"/>
          </a:solidFill>
          <a:ln/>
        </p:spPr>
      </p:sp>
      <p:sp>
        <p:nvSpPr>
          <p:cNvPr id="11" name="Text 8"/>
          <p:cNvSpPr/>
          <p:nvPr/>
        </p:nvSpPr>
        <p:spPr>
          <a:xfrm>
            <a:off x="6309360" y="2880360"/>
            <a:ext cx="2560320" cy="73152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O cérebro opera em modo focado e modo difuso</a:t>
            </a:r>
            <a:endParaRPr lang="en-US" sz="1000" dirty="0"/>
          </a:p>
        </p:txBody>
      </p:sp>
      <p:sp>
        <p:nvSpPr>
          <p:cNvPr id="12" name="Shape 9"/>
          <p:cNvSpPr/>
          <p:nvPr/>
        </p:nvSpPr>
        <p:spPr>
          <a:xfrm>
            <a:off x="5943600" y="3703320"/>
            <a:ext cx="228600" cy="228600"/>
          </a:xfrm>
          <a:prstGeom prst="ellipse">
            <a:avLst/>
          </a:prstGeom>
          <a:solidFill>
            <a:srgbClr val="667EEA"/>
          </a:solidFill>
          <a:ln/>
        </p:spPr>
      </p:sp>
      <p:sp>
        <p:nvSpPr>
          <p:cNvPr id="13" name="Text 10"/>
          <p:cNvSpPr/>
          <p:nvPr/>
        </p:nvSpPr>
        <p:spPr>
          <a:xfrm>
            <a:off x="6309360" y="3657600"/>
            <a:ext cx="2560320" cy="73152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Dominar o hiperfoco traz retenção, eficiência e bem-estar</a:t>
            </a:r>
            <a:endParaRPr lang="en-US" sz="1000" dirty="0"/>
          </a:p>
        </p:txBody>
      </p:sp>
      <p:pic>
        <p:nvPicPr>
          <p:cNvPr id="15" name="Image 1" descr="preencoded.png">    </p:cNvPr>
          <p:cNvPicPr>
            <a:picLocks noChangeAspect="1"/>
          </p:cNvPicPr>
          <p:nvPr/>
        </p:nvPicPr>
        <p:blipFill>
          <a:blip r:embed="rId2"/>
          <a:stretch>
            <a:fillRect/>
          </a:stretch>
        </p:blipFill>
        <p:spPr>
          <a:xfrm>
            <a:off x="7498080" y="4389120"/>
            <a:ext cx="1371600"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 Atividade Prática</a:t>
            </a:r>
            <a:endParaRPr lang="en-US" sz="2000" dirty="0"/>
          </a:p>
        </p:txBody>
      </p:sp>
      <p:sp>
        <p:nvSpPr>
          <p:cNvPr id="4" name="Shape 2"/>
          <p:cNvSpPr/>
          <p:nvPr/>
        </p:nvSpPr>
        <p:spPr>
          <a:xfrm>
            <a:off x="457200" y="1005840"/>
            <a:ext cx="8229600" cy="2560320"/>
          </a:xfrm>
          <a:prstGeom prst="roundRect">
            <a:avLst/>
          </a:prstGeom>
          <a:solidFill>
            <a:srgbClr val="2A2A4A"/>
          </a:solidFill>
          <a:ln w="38100">
            <a:solidFill>
              <a:srgbClr val="22C55E"/>
            </a:solidFill>
            <a:prstDash val="solid"/>
          </a:ln>
        </p:spPr>
      </p:sp>
      <p:sp>
        <p:nvSpPr>
          <p:cNvPr id="5" name="Shape 3"/>
          <p:cNvSpPr/>
          <p:nvPr/>
        </p:nvSpPr>
        <p:spPr>
          <a:xfrm>
            <a:off x="731520" y="1280160"/>
            <a:ext cx="731520" cy="731520"/>
          </a:xfrm>
          <a:prstGeom prst="ellipse">
            <a:avLst/>
          </a:prstGeom>
          <a:solidFill>
            <a:srgbClr val="22C55E"/>
          </a:solidFill>
          <a:ln/>
        </p:spPr>
      </p:sp>
      <p:sp>
        <p:nvSpPr>
          <p:cNvPr id="6" name="Text 4"/>
          <p:cNvSpPr/>
          <p:nvPr/>
        </p:nvSpPr>
        <p:spPr>
          <a:xfrm>
            <a:off x="731520" y="1371600"/>
            <a:ext cx="731520" cy="54864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7" name="Text 5"/>
          <p:cNvSpPr/>
          <p:nvPr/>
        </p:nvSpPr>
        <p:spPr>
          <a:xfrm>
            <a:off x="1645920" y="1280160"/>
            <a:ext cx="6858000" cy="457200"/>
          </a:xfrm>
          <a:prstGeom prst="rect">
            <a:avLst/>
          </a:prstGeom>
          <a:noFill/>
          <a:ln/>
        </p:spPr>
        <p:txBody>
          <a:bodyPr wrap="square" rtlCol="0" anchor="ctr"/>
          <a:lstStyle/>
          <a:p>
            <a:pPr indent="0" marL="0">
              <a:buNone/>
            </a:pPr>
            <a:r>
              <a:rPr lang="en-US" sz="1600" b="1" dirty="0">
                <a:solidFill>
                  <a:srgbClr val="22C55E"/>
                </a:solidFill>
                <a:latin typeface="Arial" pitchFamily="34" charset="0"/>
                <a:ea typeface="Arial" pitchFamily="34" charset="-122"/>
                <a:cs typeface="Arial" pitchFamily="34" charset="-120"/>
              </a:rPr>
              <a:t>Sua Missão:</a:t>
            </a:r>
            <a:endParaRPr lang="en-US" sz="1600" dirty="0"/>
          </a:p>
        </p:txBody>
      </p:sp>
      <p:sp>
        <p:nvSpPr>
          <p:cNvPr id="8" name="Text 6"/>
          <p:cNvSpPr/>
          <p:nvPr/>
        </p:nvSpPr>
        <p:spPr>
          <a:xfrm>
            <a:off x="1645920" y="1737360"/>
            <a:ext cx="6766560" cy="1645920"/>
          </a:xfrm>
          <a:prstGeom prst="rect">
            <a:avLst/>
          </a:prstGeom>
          <a:noFill/>
          <a:ln/>
        </p:spPr>
        <p:txBody>
          <a:bodyPr wrap="square" rtlCol="0" anchor="t"/>
          <a:lstStyle/>
          <a:p>
            <a:pPr indent="0" marL="0">
              <a:buNone/>
            </a:pPr>
            <a:r>
              <a:rPr lang="en-US" sz="1400" dirty="0">
                <a:solidFill>
                  <a:srgbClr val="FFFFFF"/>
                </a:solidFill>
                <a:latin typeface="Arial" pitchFamily="34" charset="0"/>
                <a:ea typeface="Arial" pitchFamily="34" charset="-122"/>
                <a:cs typeface="Arial" pitchFamily="34" charset="-120"/>
              </a:rPr>
              <a:t>&gt; **Complete esta atividade antes de prosseguir!**</a:t>
            </a:r>
            <a:endParaRPr lang="en-US" sz="1400" dirty="0"/>
          </a:p>
        </p:txBody>
      </p:sp>
      <p:sp>
        <p:nvSpPr>
          <p:cNvPr id="9" name="Shape 7"/>
          <p:cNvSpPr/>
          <p:nvPr/>
        </p:nvSpPr>
        <p:spPr>
          <a:xfrm>
            <a:off x="457200" y="3749040"/>
            <a:ext cx="8229600" cy="640080"/>
          </a:xfrm>
          <a:prstGeom prst="roundRect">
            <a:avLst/>
          </a:prstGeom>
          <a:solidFill>
            <a:srgbClr val="1E3A5F"/>
          </a:solidFill>
          <a:ln w="12700">
            <a:solidFill>
              <a:srgbClr val="667EEA"/>
            </a:solidFill>
            <a:prstDash val="solid"/>
          </a:ln>
        </p:spPr>
      </p:sp>
      <p:sp>
        <p:nvSpPr>
          <p:cNvPr id="10" name="Text 8"/>
          <p:cNvSpPr/>
          <p:nvPr/>
        </p:nvSpPr>
        <p:spPr>
          <a:xfrm>
            <a:off x="457200" y="3886200"/>
            <a:ext cx="8229600" cy="36576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 Envie na área de atividades do Moodle</a:t>
            </a:r>
            <a:endParaRPr lang="en-US" sz="1300" dirty="0"/>
          </a:p>
        </p:txBody>
      </p:sp>
      <p:pic>
        <p:nvPicPr>
          <p:cNvPr id="12"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Aula 02 - Encerramento</a:t>
            </a:r>
            <a:endParaRPr lang="en-US" sz="2000" dirty="0"/>
          </a:p>
        </p:txBody>
      </p:sp>
      <p:sp>
        <p:nvSpPr>
          <p:cNvPr id="4" name="Shape 2"/>
          <p:cNvSpPr/>
          <p:nvPr/>
        </p:nvSpPr>
        <p:spPr>
          <a:xfrm>
            <a:off x="0" y="822960"/>
            <a:ext cx="2743200" cy="91440"/>
          </a:xfrm>
          <a:prstGeom prst="rect">
            <a:avLst/>
          </a:prstGeom>
          <a:solidFill>
            <a:srgbClr val="667EEA"/>
          </a:solidFill>
          <a:ln/>
        </p:spPr>
      </p:sp>
      <p:sp>
        <p:nvSpPr>
          <p:cNvPr id="5" name="Shape 3"/>
          <p:cNvSpPr/>
          <p:nvPr/>
        </p:nvSpPr>
        <p:spPr>
          <a:xfrm>
            <a:off x="3200400" y="822960"/>
            <a:ext cx="2743200" cy="91440"/>
          </a:xfrm>
          <a:prstGeom prst="rect">
            <a:avLst/>
          </a:prstGeom>
          <a:solidFill>
            <a:srgbClr val="22C55E"/>
          </a:solidFill>
          <a:ln/>
        </p:spPr>
      </p:sp>
      <p:sp>
        <p:nvSpPr>
          <p:cNvPr id="6" name="Shape 4"/>
          <p:cNvSpPr/>
          <p:nvPr/>
        </p:nvSpPr>
        <p:spPr>
          <a:xfrm>
            <a:off x="6400800" y="822960"/>
            <a:ext cx="2743200" cy="91440"/>
          </a:xfrm>
          <a:prstGeom prst="rect">
            <a:avLst/>
          </a:prstGeom>
          <a:solidFill>
            <a:srgbClr val="3B82F6"/>
          </a:solidFill>
          <a:ln/>
        </p:spPr>
      </p:sp>
      <p:sp>
        <p:nvSpPr>
          <p:cNvPr id="7" name="Shape 5"/>
          <p:cNvSpPr/>
          <p:nvPr/>
        </p:nvSpPr>
        <p:spPr>
          <a:xfrm>
            <a:off x="914400" y="1371600"/>
            <a:ext cx="7315200" cy="1828800"/>
          </a:xfrm>
          <a:prstGeom prst="roundRect">
            <a:avLst/>
          </a:prstGeom>
          <a:solidFill>
            <a:srgbClr val="2A2A4A"/>
          </a:solidFill>
          <a:ln w="25400">
            <a:solidFill>
              <a:srgbClr val="667EEA"/>
            </a:solidFill>
            <a:prstDash val="solid"/>
          </a:ln>
        </p:spPr>
      </p:sp>
      <p:sp>
        <p:nvSpPr>
          <p:cNvPr id="8" name="Text 6"/>
          <p:cNvSpPr/>
          <p:nvPr/>
        </p:nvSpPr>
        <p:spPr>
          <a:xfrm>
            <a:off x="1097280" y="1371600"/>
            <a:ext cx="457200" cy="731520"/>
          </a:xfrm>
          <a:prstGeom prst="rect">
            <a:avLst/>
          </a:prstGeom>
          <a:noFill/>
          <a:ln/>
        </p:spPr>
        <p:txBody>
          <a:bodyPr wrap="square" rtlCol="0" anchor="ctr"/>
          <a:lstStyle/>
          <a:p>
            <a:pPr indent="0" marL="0">
              <a:buNone/>
            </a:pPr>
            <a:r>
              <a:rPr lang="en-US" sz="4800" i="1" dirty="0">
                <a:solidFill>
                  <a:srgbClr val="667EEA"/>
                </a:solidFill>
                <a:latin typeface="Georgia" pitchFamily="34" charset="0"/>
                <a:ea typeface="Georgia" pitchFamily="34" charset="-122"/>
                <a:cs typeface="Georgia" pitchFamily="34" charset="-120"/>
              </a:rPr>
              <a:t>"</a:t>
            </a:r>
            <a:endParaRPr lang="en-US" sz="4800" dirty="0"/>
          </a:p>
        </p:txBody>
      </p:sp>
      <p:sp>
        <p:nvSpPr>
          <p:cNvPr id="9" name="Text 7"/>
          <p:cNvSpPr/>
          <p:nvPr/>
        </p:nvSpPr>
        <p:spPr>
          <a:xfrm>
            <a:off x="1371600" y="1737360"/>
            <a:ext cx="6400800" cy="1097280"/>
          </a:xfrm>
          <a:prstGeom prst="rect">
            <a:avLst/>
          </a:prstGeom>
          <a:noFill/>
          <a:ln/>
        </p:spPr>
        <p:txBody>
          <a:bodyPr wrap="square" rtlCol="0" anchor="ctr"/>
          <a:lstStyle/>
          <a:p>
            <a:pPr algn="ctr" indent="0" marL="0">
              <a:buNone/>
            </a:pPr>
            <a:r>
              <a:rPr lang="en-US" sz="1600" i="1" dirty="0">
                <a:solidFill>
                  <a:srgbClr val="FFFFFF"/>
                </a:solidFill>
                <a:latin typeface="Arial" pitchFamily="34" charset="0"/>
                <a:ea typeface="Arial" pitchFamily="34" charset="-122"/>
                <a:cs typeface="Arial" pitchFamily="34" charset="-120"/>
              </a:rPr>
              <a:t>O hiperfoco não é um dom que alguns têm e outros não. É uma habilidade que pode ser desenvolvida. E você está no caminho certo para desenvolvê-la.</a:t>
            </a:r>
            <a:endParaRPr lang="en-US" sz="1600" dirty="0"/>
          </a:p>
        </p:txBody>
      </p:sp>
      <p:sp>
        <p:nvSpPr>
          <p:cNvPr id="10" name="Shape 8"/>
          <p:cNvSpPr/>
          <p:nvPr/>
        </p:nvSpPr>
        <p:spPr>
          <a:xfrm>
            <a:off x="0" y="3840480"/>
            <a:ext cx="9144000" cy="822960"/>
          </a:xfrm>
          <a:prstGeom prst="rect">
            <a:avLst/>
          </a:prstGeom>
          <a:solidFill>
            <a:srgbClr val="0F172A"/>
          </a:solidFill>
          <a:ln/>
        </p:spPr>
      </p:sp>
      <p:sp>
        <p:nvSpPr>
          <p:cNvPr id="11" name="Text 9"/>
          <p:cNvSpPr/>
          <p:nvPr/>
        </p:nvSpPr>
        <p:spPr>
          <a:xfrm>
            <a:off x="457200" y="3977640"/>
            <a:ext cx="3657600" cy="274320"/>
          </a:xfrm>
          <a:prstGeom prst="rect">
            <a:avLst/>
          </a:prstGeom>
          <a:noFill/>
          <a:ln/>
        </p:spPr>
        <p:txBody>
          <a:bodyPr wrap="square" rtlCol="0" anchor="ctr"/>
          <a:lstStyle/>
          <a:p>
            <a:pPr indent="0" marL="0">
              <a:buNone/>
            </a:pPr>
            <a:r>
              <a:rPr lang="en-US" sz="1400" b="1" dirty="0">
                <a:solidFill>
                  <a:srgbClr val="22C55E"/>
                </a:solidFill>
                <a:latin typeface="Arial" pitchFamily="34" charset="0"/>
                <a:ea typeface="Arial" pitchFamily="34" charset="-122"/>
                <a:cs typeface="Arial" pitchFamily="34" charset="-120"/>
              </a:rPr>
              <a:t>Educa com Talento</a:t>
            </a:r>
            <a:endParaRPr lang="en-US" sz="1400" dirty="0"/>
          </a:p>
        </p:txBody>
      </p:sp>
      <p:sp>
        <p:nvSpPr>
          <p:cNvPr id="12" name="Text 10"/>
          <p:cNvSpPr/>
          <p:nvPr/>
        </p:nvSpPr>
        <p:spPr>
          <a:xfrm>
            <a:off x="457200" y="4251960"/>
            <a:ext cx="3657600" cy="228600"/>
          </a:xfrm>
          <a:prstGeom prst="rect">
            <a:avLst/>
          </a:prstGeom>
          <a:noFill/>
          <a:ln/>
        </p:spPr>
        <p:txBody>
          <a:bodyPr wrap="square" rtlCol="0" anchor="ctr"/>
          <a:lstStyle/>
          <a:p>
            <a:pPr indent="0" marL="0">
              <a:buNone/>
            </a:pPr>
            <a:r>
              <a:rPr lang="en-US" sz="1000" dirty="0">
                <a:solidFill>
                  <a:srgbClr val="667EEA"/>
                </a:solidFill>
                <a:latin typeface="Arial" pitchFamily="34" charset="0"/>
                <a:ea typeface="Arial" pitchFamily="34" charset="-122"/>
                <a:cs typeface="Arial" pitchFamily="34" charset="-120"/>
              </a:rPr>
              <a:t>www.educacomtalento.com.br</a:t>
            </a:r>
            <a:endParaRPr lang="en-US" sz="1000" dirty="0"/>
          </a:p>
        </p:txBody>
      </p:sp>
      <p:pic>
        <p:nvPicPr>
          <p:cNvPr id="14" name="Image 0" descr="preencoded.png">    </p:cNvPr>
          <p:cNvPicPr>
            <a:picLocks noChangeAspect="1"/>
          </p:cNvPicPr>
          <p:nvPr/>
        </p:nvPicPr>
        <p:blipFill>
          <a:blip r:embed="rId1"/>
          <a:stretch>
            <a:fillRect/>
          </a:stretch>
        </p:blipFill>
        <p:spPr>
          <a:xfrm>
            <a:off x="6400800" y="3886200"/>
            <a:ext cx="2286000"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Educa com Talento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02: Definindo Hiperfoco e Hiperprodutividade</dc:title>
  <dc:subject>Foco e Produtividade nos Estudos</dc:subject>
  <dc:creator>Educa com Talento</dc:creator>
  <cp:lastModifiedBy>Educa com Talento</cp:lastModifiedBy>
  <cp:revision>1</cp:revision>
  <dcterms:created xsi:type="dcterms:W3CDTF">2025-12-18T20:33:50Z</dcterms:created>
  <dcterms:modified xsi:type="dcterms:W3CDTF">2025-12-18T20:33:50Z</dcterms:modified>
</cp:coreProperties>
</file>