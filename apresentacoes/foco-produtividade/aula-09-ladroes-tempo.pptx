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"Onde foi meu tempo?" Se você já fez essa pergunta no final de um dia, semana ou mês, você foi vítima dos Ladrões de Tempo.
Diferente das distrações óbvias, os ladrões de tempo são insidiosos. Parecem produtivos. Parecem necessários. Mas quando você analisa de perto, percebe que drenam horas preciosas sem retorno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"Onde foi meu tempo?" Se você já fez essa pergunta no final de um dia, semana ou mês, você foi vítima dos Ladrões de Tempo.
Diferente das distrações óbvias, os ladrões de tempo são insidiosos. 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10 maiores ladrões de tempo
1. Redes sociais sem propósito - "Só vou dar uma olhada" que vira 40 minutos.
2. E-mail como tarefa contínua - Verificar a cada 5 minutos em vez de horários específicos.
3. Reuniões desnecessárias - Aquelas que poderiam ser um e-mail ou nem existir.
4. Perfeccionismo paralisante - Gastar 3 horas polindo algo que estava bom em 1 hora.
5. Falta de planejamento - Começar o dia sem saber o que fazer, desperdiçando energia em decisões.
6. Procrastinação disfarçada - Fazer tarefas menos importantes para evitar as importantes.
7. Multitarefa - Fazer três coisas mal em vez de uma bem.
8. Dificuldade em dizer não - Aceitar compromissos que não agregam.
9. Desorganização - Tempo perdido procurando coisas.
10. Falta de priorização - Tratar tudo como urgente, nada recebe atenção devida.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Auditoria pessoal
Faça um rastreamento de tempo por 3 dias:
- A cada 30 minutos, anote o que fez
- Seja brutalmente honesto
- No final, categorize: produtivo, neutro, desperdiçado
O resultado costuma ser chocante. Muita gente descobre que desperdiça 3-4 horas por dia sem perceber.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Estratégias de eliminação
Batch Processing: Agrupe tarefas similares. Responda todos os e-mails em dois momentos do dia, não ao longo dele.
Time Boxing: Defina tempo máximo para tarefas. "Vou gastar no máximo 30 minutos nisso."
Regra dos 2 minutos: Se leva menos de 2 minutos, faça agora. Se leva mais, agende.
Eliminação vs. Delegação: Algumas coisas não precisam ser feitas de jeito nenhum. Questione: "O que acontece se eu simplesmente não fizer isso?"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1. Rastreamento (3 dias)
   - A cada 30 min, anote a atividade
   - Use app ou papel
2. Análise
   - Some tempo por categoria
   - Identifique seus top 3 ladrões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Seus ladrões de tempo são únicos. A auditoria vai revelá-los. E uma vez revelados, você pode eliminá-los sistematicamente.
Na Aula 10, última deste bloco, vamos aprender Técnicas de Memorização e Retenção - porque não adianta focar se você não retém o que estudou.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1 - Hiperfoco e Hiperprodutividade | Bloco: Atenção</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09</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Identificando e Eliminando os Ladrões de Tempo</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~22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Intermediário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8869680" y="1097280"/>
            <a:ext cx="91440" cy="3017520"/>
          </a:xfrm>
          <a:prstGeom prst="rect">
            <a:avLst/>
          </a:prstGeom>
          <a:solidFill>
            <a:srgbClr val="667EEA"/>
          </a:solidFill>
          <a:ln/>
        </p:spPr>
      </p:sp>
      <p:pic>
        <p:nvPicPr>
          <p:cNvPr id="6"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3048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Auditoria pessoal</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Técnica de rastreamento de tempo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667EEA"/>
            </a:solidFill>
            <a:prstDash val="solid"/>
          </a:ln>
        </p:spPr>
      </p:sp>
      <p:sp>
        <p:nvSpPr>
          <p:cNvPr id="12" name="Shape 10"/>
          <p:cNvSpPr/>
          <p:nvPr/>
        </p:nvSpPr>
        <p:spPr>
          <a:xfrm>
            <a:off x="457200" y="2011680"/>
            <a:ext cx="109728" cy="777240"/>
          </a:xfrm>
          <a:prstGeom prst="rect">
            <a:avLst/>
          </a:prstGeom>
          <a:solidFill>
            <a:srgbClr val="667E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Identificando seus padrões</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667EEA"/>
            </a:solidFill>
            <a:prstDash val="solid"/>
          </a:ln>
        </p:spPr>
      </p:sp>
      <p:sp>
        <p:nvSpPr>
          <p:cNvPr id="16" name="Shape 14"/>
          <p:cNvSpPr/>
          <p:nvPr/>
        </p:nvSpPr>
        <p:spPr>
          <a:xfrm>
            <a:off x="457200" y="2926080"/>
            <a:ext cx="109728" cy="777240"/>
          </a:xfrm>
          <a:prstGeom prst="rect">
            <a:avLst/>
          </a:prstGeom>
          <a:solidFill>
            <a:srgbClr val="667E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choque de realidade</a:t>
            </a:r>
            <a:endParaRPr lang="en-US" sz="1400" dirty="0"/>
          </a:p>
        </p:txBody>
      </p:sp>
      <p:sp>
        <p:nvSpPr>
          <p:cNvPr id="19" name="Shape 17"/>
          <p:cNvSpPr/>
          <p:nvPr/>
        </p:nvSpPr>
        <p:spPr>
          <a:xfrm>
            <a:off x="8686800" y="4114800"/>
            <a:ext cx="457200" cy="457200"/>
          </a:xfrm>
          <a:prstGeom prst="rect">
            <a:avLst/>
          </a:prstGeom>
          <a:solidFill>
            <a:srgbClr val="667E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096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Estratégias de eliminação</a:t>
            </a:r>
            <a:endParaRPr lang="en-US" sz="2000" dirty="0"/>
          </a:p>
        </p:txBody>
      </p:sp>
      <p:sp>
        <p:nvSpPr>
          <p:cNvPr id="7" name="Shape 5"/>
          <p:cNvSpPr/>
          <p:nvPr/>
        </p:nvSpPr>
        <p:spPr>
          <a:xfrm>
            <a:off x="457200" y="1097280"/>
            <a:ext cx="393192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Batch processing (agrupar tarefas)</a:t>
            </a:r>
            <a:endParaRPr lang="en-US" sz="1400" dirty="0"/>
          </a:p>
        </p:txBody>
      </p:sp>
      <p:sp>
        <p:nvSpPr>
          <p:cNvPr id="11" name="Shape 9"/>
          <p:cNvSpPr/>
          <p:nvPr/>
        </p:nvSpPr>
        <p:spPr>
          <a:xfrm>
            <a:off x="4572000" y="1097280"/>
            <a:ext cx="3931920" cy="777240"/>
          </a:xfrm>
          <a:prstGeom prst="roundRect">
            <a:avLst/>
          </a:prstGeom>
          <a:solidFill>
            <a:srgbClr val="2A2A4A"/>
          </a:solidFill>
          <a:ln w="19050">
            <a:solidFill>
              <a:srgbClr val="22C55E"/>
            </a:solidFill>
            <a:prstDash val="solid"/>
          </a:ln>
        </p:spPr>
      </p:sp>
      <p:sp>
        <p:nvSpPr>
          <p:cNvPr id="12" name="Shape 10"/>
          <p:cNvSpPr/>
          <p:nvPr/>
        </p:nvSpPr>
        <p:spPr>
          <a:xfrm>
            <a:off x="4572000" y="1097280"/>
            <a:ext cx="109728" cy="777240"/>
          </a:xfrm>
          <a:prstGeom prst="rect">
            <a:avLst/>
          </a:prstGeom>
          <a:solidFill>
            <a:srgbClr val="22C55E"/>
          </a:solidFill>
          <a:ln/>
        </p:spPr>
      </p:sp>
      <p:sp>
        <p:nvSpPr>
          <p:cNvPr id="13" name="Text 11"/>
          <p:cNvSpPr/>
          <p:nvPr/>
        </p:nvSpPr>
        <p:spPr>
          <a:xfrm>
            <a:off x="48006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0749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Time boxing (caixas de tempo)</a:t>
            </a:r>
            <a:endParaRPr lang="en-US" sz="1400" dirty="0"/>
          </a:p>
        </p:txBody>
      </p:sp>
      <p:sp>
        <p:nvSpPr>
          <p:cNvPr id="15" name="Shape 13"/>
          <p:cNvSpPr/>
          <p:nvPr/>
        </p:nvSpPr>
        <p:spPr>
          <a:xfrm>
            <a:off x="457200" y="2011680"/>
            <a:ext cx="3931920" cy="777240"/>
          </a:xfrm>
          <a:prstGeom prst="roundRect">
            <a:avLst/>
          </a:prstGeom>
          <a:solidFill>
            <a:srgbClr val="2A2A4A"/>
          </a:solidFill>
          <a:ln w="19050">
            <a:solidFill>
              <a:srgbClr val="22C55E"/>
            </a:solidFill>
            <a:prstDash val="solid"/>
          </a:ln>
        </p:spPr>
      </p:sp>
      <p:sp>
        <p:nvSpPr>
          <p:cNvPr id="16" name="Shape 14"/>
          <p:cNvSpPr/>
          <p:nvPr/>
        </p:nvSpPr>
        <p:spPr>
          <a:xfrm>
            <a:off x="457200" y="2011680"/>
            <a:ext cx="109728" cy="777240"/>
          </a:xfrm>
          <a:prstGeom prst="rect">
            <a:avLst/>
          </a:prstGeom>
          <a:solidFill>
            <a:srgbClr val="22C55E"/>
          </a:solidFill>
          <a:ln/>
        </p:spPr>
      </p:sp>
      <p:sp>
        <p:nvSpPr>
          <p:cNvPr id="17" name="Text 15"/>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Regra dos 2 minutos</a:t>
            </a:r>
            <a:endParaRPr lang="en-US" sz="1400" dirty="0"/>
          </a:p>
        </p:txBody>
      </p:sp>
      <p:sp>
        <p:nvSpPr>
          <p:cNvPr id="19" name="Shape 17"/>
          <p:cNvSpPr/>
          <p:nvPr/>
        </p:nvSpPr>
        <p:spPr>
          <a:xfrm>
            <a:off x="4572000" y="2011680"/>
            <a:ext cx="3931920" cy="777240"/>
          </a:xfrm>
          <a:prstGeom prst="roundRect">
            <a:avLst/>
          </a:prstGeom>
          <a:solidFill>
            <a:srgbClr val="2A2A4A"/>
          </a:solidFill>
          <a:ln w="19050">
            <a:solidFill>
              <a:srgbClr val="22C55E"/>
            </a:solidFill>
            <a:prstDash val="solid"/>
          </a:ln>
        </p:spPr>
      </p:sp>
      <p:sp>
        <p:nvSpPr>
          <p:cNvPr id="20" name="Shape 18"/>
          <p:cNvSpPr/>
          <p:nvPr/>
        </p:nvSpPr>
        <p:spPr>
          <a:xfrm>
            <a:off x="4572000" y="2011680"/>
            <a:ext cx="109728" cy="777240"/>
          </a:xfrm>
          <a:prstGeom prst="rect">
            <a:avLst/>
          </a:prstGeom>
          <a:solidFill>
            <a:srgbClr val="22C55E"/>
          </a:solidFill>
          <a:ln/>
        </p:spPr>
      </p:sp>
      <p:sp>
        <p:nvSpPr>
          <p:cNvPr id="21" name="Text 19"/>
          <p:cNvSpPr/>
          <p:nvPr/>
        </p:nvSpPr>
        <p:spPr>
          <a:xfrm>
            <a:off x="48006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50749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Eliminação vs. delegação</a:t>
            </a:r>
            <a:endParaRPr lang="en-US" sz="1400" dirty="0"/>
          </a:p>
        </p:txBody>
      </p:sp>
      <p:sp>
        <p:nvSpPr>
          <p:cNvPr id="23" name="Shape 21"/>
          <p:cNvSpPr/>
          <p:nvPr/>
        </p:nvSpPr>
        <p:spPr>
          <a:xfrm>
            <a:off x="8686800" y="4114800"/>
            <a:ext cx="457200" cy="457200"/>
          </a:xfrm>
          <a:prstGeom prst="rect">
            <a:avLst/>
          </a:prstGeom>
          <a:solidFill>
            <a:srgbClr val="22C55E"/>
          </a:solidFill>
          <a:ln/>
        </p:spPr>
      </p:sp>
      <p:pic>
        <p:nvPicPr>
          <p:cNvPr id="25"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Protegendo o tempo recuperado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Bloqueando tempo para foco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3B82F6"/>
            </a:solidFill>
            <a:prstDash val="solid"/>
          </a:ln>
        </p:spPr>
      </p:sp>
      <p:sp>
        <p:nvSpPr>
          <p:cNvPr id="12" name="Shape 10"/>
          <p:cNvSpPr/>
          <p:nvPr/>
        </p:nvSpPr>
        <p:spPr>
          <a:xfrm>
            <a:off x="457200" y="2011680"/>
            <a:ext cx="109728" cy="777240"/>
          </a:xfrm>
          <a:prstGeom prst="rect">
            <a:avLst/>
          </a:prstGeom>
          <a:solidFill>
            <a:srgbClr val="3B82F6"/>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Não preencher automaticamente</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3B82F6"/>
            </a:solidFill>
            <a:prstDash val="solid"/>
          </a:ln>
        </p:spPr>
      </p:sp>
      <p:sp>
        <p:nvSpPr>
          <p:cNvPr id="16" name="Shape 14"/>
          <p:cNvSpPr/>
          <p:nvPr/>
        </p:nvSpPr>
        <p:spPr>
          <a:xfrm>
            <a:off x="457200" y="2926080"/>
            <a:ext cx="109728" cy="777240"/>
          </a:xfrm>
          <a:prstGeom prst="rect">
            <a:avLst/>
          </a:prstGeom>
          <a:solidFill>
            <a:srgbClr val="3B82F6"/>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valor do tempo livre intencional</a:t>
            </a:r>
            <a:endParaRPr lang="en-US" sz="1400" dirty="0"/>
          </a:p>
        </p:txBody>
      </p:sp>
      <p:sp>
        <p:nvSpPr>
          <p:cNvPr id="19" name="Shape 17"/>
          <p:cNvSpPr/>
          <p:nvPr/>
        </p:nvSpPr>
        <p:spPr>
          <a:xfrm>
            <a:off x="8686800" y="4114800"/>
            <a:ext cx="457200" cy="457200"/>
          </a:xfrm>
          <a:prstGeom prst="rect">
            <a:avLst/>
          </a:prstGeom>
          <a:solidFill>
            <a:srgbClr val="3B82F6"/>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pic>
        <p:nvPicPr>
          <p:cNvPr id="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pic>
        <p:nvPicPr>
          <p:cNvPr id="7"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1. **Rastreamento** (3 dias)</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A cada 30 min, anote a atividade</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Use app ou papel</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2. **Análise**</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Some tempo por categoria</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Identifique seus top 3 ladrões</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09 -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Você não precisa de mais tempo. Precisa eliminar o que rouba o tempo que já tem.</a:t>
            </a: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09: Identificando e Eliminando os Ladrões de Tempo</dc:title>
  <dc:subject>Foco e Produtividade nos Estudos</dc:subject>
  <dc:creator>Educa com Talento</dc:creator>
  <cp:lastModifiedBy>Educa com Talento</cp:lastModifiedBy>
  <cp:revision>1</cp:revision>
  <dcterms:created xsi:type="dcterms:W3CDTF">2025-12-18T20:33:55Z</dcterms:created>
  <dcterms:modified xsi:type="dcterms:W3CDTF">2025-12-18T20:33:55Z</dcterms:modified>
</cp:coreProperties>
</file>