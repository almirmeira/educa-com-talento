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bem-vindo à Aula 4! Hoje vamos responder uma pergunta que talvez você já tenha se feito:
"Por que é tão fácil passar horas no Netflix, no Instagram, no TikTok... mas estudar por 30 minutos parece uma tortura?"
Se você já se pegou pensando que talvez tenha algum problema, que talvez seja preguiçoso, ou que simplesmente "não nasceu pra estudar"... respira. O problema não é você. O problema é que você está lutando contra um sistema cuidadosamente projetado para capturar sua atenção.
Hoje você vai entender a diferença entre Foco Seduzido e Foco Direcionado, e essa compreensão vai mudar sua relação com os estudos.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Seja bem-vindo à Aula 4! Hoje vamos responder uma pergunta que talvez você já tenha se feito:
"Por que é tão fácil passar horas no Netflix, no Instagram, no TikTok... mas estudar por 30 minutos 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Foco Seduzido - O vilão disfarçado
Vamos começar pelo Foco Seduzido. Esse é o tipo de foco que acontece quando você está rolando o feed do Instagram, assistindo vídeos no YouTube, ou jogando aquele jogo no celular.
Perceba: você está focado. Às vezes por horas. Então tecnicamente sua capacidade de foco existe. O problema é onde esse foco está direcionado.
O foco seduzido acontece quando estímulos externos capturam sua atenção sem seu consentimento. Esses estímulos são projetados para serem irresistíveis. Literalmente.
As grandes empresas de tecnologia empregam os melhores psicólogos e neurocientistas do mundo para uma única missão: fazer você não conseguir parar de usar seus produtos. Cada cor, cada som de notificação, cada mecanismo de rolagem infinita foi testado e otimizado para sequestrar sua atenção.
O mecanismo principal é o ciclo de dopamina. Dopamina é o neurotransmissor do prazer e da antecipação. Cada vez que você recebe uma curtida, um comentário, uma mensagem, seu cérebro libera um pouquinho de dopamina. E você quer mais.
O problema? Esse prazer é vazio. É como junk food para o cérebro. Te dá uma satisfação momentânea, mas deixa você mais vazio e ansioso depois.
E o pior: quanto mais você consome esse tipo de estímulo, mais seu cérebro se acostuma. Você precisa de doses cada vez maiores para sentir o mesmo prazer. E coisas que antes eram interessantes - como estudar - passam a parecer incrivelmente entediantes em comparação.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Foco Direcionado - O herói da história
Agora, o Foco Direcionado é completamente diferente.
Foco direcionado é quando você escolhe conscientemente onde colocar sua atenção, baseado no que é importante para seus objetivos de longo prazo, não no que é mais estimulante no momento.
Estudar para um concurso é foco direcionado. Ler um livro técnico é foco direcionado. Praticar uma habilidade é foco direcionado.
E sim, no início é mais difícil. Seu cérebro, acostumado com a dopamina fácil, vai protestar. Vai querer ir pro celular. Vai achar o conteúdo "chato". Isso é normal - é a abstinência da dopamina rápida.
Mas aqui está a mágica: quando você persiste, uma coisa incrível acontece.
O foco direcionado traz uma recompensa genuína. É a satisfação de entender um conceito difícil. É o orgulho de ver seu progresso. É a confiança de saber que você está construindo algo real.
Essa satisfação é profunda e duradoura. Não é vazia como a dopamina das redes sociais. É o tipo de prazer que te faz dormir em paz à noite, sabendo que você fez algo que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neurociência por trás
Vamos entender o que acontece no cérebro.
Existem dois tipos de dopamina relevantes aqui:
A dopamina fácil vem de estímulos rápidos e sem esforço. Redes sociais, jogos, fofoca. Ela ativa o sistema de recompensa de forma intensa mas breve. E cria dependência.
A dopamina de conquista vem de alcançar algo que exigiu esforço. Completar um capítulo difícil. Resolver um problema que estava te travando. Ela ativa o sistema de recompensa de forma mais moderada mas muito mais duradoura. E cria motivação sustentável.
A boa notícia? Você pode fazer um reset do seu sistema de recompensa.
Quando você reduz a exposição à dopamina fácil e aumenta experiências de dopamina de conquista, seu cérebro se recalibra. Coisas que antes pareciam entediantes voltam a ser interessantes. O esforço do estudo deixa de ser sofrimento e passa a ser desafio.
Esse processo leva algumas semanas, mas os resultados são transformadores.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Estratégias para cultivar o foco direcionado
Como você cultiva o foco direcionado na prática?
Primeiro: reduza a exposição ao foco seduzido.
- Desinstale apps de redes sociais do celular (use pelo computador se precisar)
- Configure limites de tempo de uso
- Desative notificações não essenciais
- Crie "zonas livres de telas" na sua casa
Segundo: torne o foco direcionado mais atrativo.
- Estude assuntos conectando com seus interesses
- Divida grandes tarefas em pequenas vitórias
- Celebre seu progresso, mesmo o pequeno
- Use técnicas de gamificação (que veremos em aulas futuras)
Terceiro: crie rituais de transição.
- Um ritual específico para entrar no modo estudo
- Pode ser fazer um chá, organizar a mesa, colocar uma música específica
- Isso sinaliza para o cérebro: "agora é hora de foco direcionado"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 Foco seduzido = capturado por estímulos, prazer vazio, dependência. Foco direcionado = escolha consciente, esforço recompensado, satisfação profunda. O sistema de recompensa pode ser resetado. Estratégias: reduzir, tornar atrativo, criar rituais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 Foco seduzido = capturado por estímulos, prazer vazio, dependência. Foco direcionado = escolha consciente, esforço recompensado, satisfação profunda. O sistema de recompensa pode ser resetado. Estratégias: reduzir, tornar atrativo, criar rituais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Uma experiência transformadora de 24 horas!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Então, resumindo:
- Foco Seduzido é capturado por estímulos externos, traz prazer vazio e cria dependência
- Foco Direcionado é escolhido conscientemente, exige esforço inicial mas traz satisfação profunda
- Você pode resetar seu sistema de recompensa reduzindo um e aumentando outro
A partir de agora, toda vez que pegar o celular "só pra dar uma olhada", lembre-se: você está fazendo uma escolha. Entre o prazer vazio do foco seduzido e a satisfação profunda do foco direcionado.
Na Aula 5, vamos fechar o bloco de Fundamentos falando sobre Equilíbrio Estável e Eliminação de Distrações. Você vai aprender a criar um sistema sustentável de foco, que não depende de força de vontade infinita.
Hora da atividade!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1 - Hiperfoco e Hiperprodutividade | Bloco: Fundamentos</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04</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Foco Direcionado vs. Foco Seduzido</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~22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Introdutório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457200" y="1097280"/>
            <a:ext cx="8229600" cy="822960"/>
          </a:xfrm>
          <a:prstGeom prst="roundRect">
            <a:avLst/>
          </a:prstGeom>
          <a:solidFill>
            <a:srgbClr val="2A2A4A"/>
          </a:solidFill>
          <a:ln w="25400">
            <a:solidFill>
              <a:srgbClr val="667EEA"/>
            </a:solidFill>
            <a:prstDash val="solid"/>
          </a:ln>
        </p:spPr>
      </p:sp>
      <p:sp>
        <p:nvSpPr>
          <p:cNvPr id="5" name="Shape 3"/>
          <p:cNvSpPr/>
          <p:nvPr/>
        </p:nvSpPr>
        <p:spPr>
          <a:xfrm>
            <a:off x="640080" y="1234440"/>
            <a:ext cx="548640" cy="548640"/>
          </a:xfrm>
          <a:prstGeom prst="ellipse">
            <a:avLst/>
          </a:prstGeom>
          <a:solidFill>
            <a:srgbClr val="667EEA"/>
          </a:solidFill>
          <a:ln/>
        </p:spPr>
      </p:sp>
      <p:sp>
        <p:nvSpPr>
          <p:cNvPr id="6" name="Text 4"/>
          <p:cNvSpPr/>
          <p:nvPr/>
        </p:nvSpPr>
        <p:spPr>
          <a:xfrm>
            <a:off x="640080" y="132588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371600" y="132588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Foco seduzido</a:t>
            </a:r>
            <a:endParaRPr lang="en-US" sz="1600" dirty="0"/>
          </a:p>
        </p:txBody>
      </p:sp>
      <p:sp>
        <p:nvSpPr>
          <p:cNvPr id="8" name="Shape 6"/>
          <p:cNvSpPr/>
          <p:nvPr/>
        </p:nvSpPr>
        <p:spPr>
          <a:xfrm>
            <a:off x="457200" y="2103120"/>
            <a:ext cx="8229600" cy="822960"/>
          </a:xfrm>
          <a:prstGeom prst="roundRect">
            <a:avLst/>
          </a:prstGeom>
          <a:solidFill>
            <a:srgbClr val="2A2A4A"/>
          </a:solidFill>
          <a:ln w="25400">
            <a:solidFill>
              <a:srgbClr val="22C55E"/>
            </a:solidFill>
            <a:prstDash val="solid"/>
          </a:ln>
        </p:spPr>
      </p:sp>
      <p:sp>
        <p:nvSpPr>
          <p:cNvPr id="9" name="Shape 7"/>
          <p:cNvSpPr/>
          <p:nvPr/>
        </p:nvSpPr>
        <p:spPr>
          <a:xfrm>
            <a:off x="640080" y="2240280"/>
            <a:ext cx="548640" cy="548640"/>
          </a:xfrm>
          <a:prstGeom prst="ellipse">
            <a:avLst/>
          </a:prstGeom>
          <a:solidFill>
            <a:srgbClr val="22C55E"/>
          </a:solidFill>
          <a:ln/>
        </p:spPr>
      </p:sp>
      <p:sp>
        <p:nvSpPr>
          <p:cNvPr id="10" name="Text 8"/>
          <p:cNvSpPr/>
          <p:nvPr/>
        </p:nvSpPr>
        <p:spPr>
          <a:xfrm>
            <a:off x="640080" y="233172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371600" y="233172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Foco direcionado</a:t>
            </a:r>
            <a:endParaRPr lang="en-US" sz="1600" dirty="0"/>
          </a:p>
        </p:txBody>
      </p:sp>
      <p:sp>
        <p:nvSpPr>
          <p:cNvPr id="12" name="Shape 10"/>
          <p:cNvSpPr/>
          <p:nvPr/>
        </p:nvSpPr>
        <p:spPr>
          <a:xfrm>
            <a:off x="457200" y="3108960"/>
            <a:ext cx="8229600" cy="822960"/>
          </a:xfrm>
          <a:prstGeom prst="roundRect">
            <a:avLst/>
          </a:prstGeom>
          <a:solidFill>
            <a:srgbClr val="2A2A4A"/>
          </a:solidFill>
          <a:ln w="25400">
            <a:solidFill>
              <a:srgbClr val="3B82F6"/>
            </a:solidFill>
            <a:prstDash val="solid"/>
          </a:ln>
        </p:spPr>
      </p:sp>
      <p:sp>
        <p:nvSpPr>
          <p:cNvPr id="13" name="Shape 11"/>
          <p:cNvSpPr/>
          <p:nvPr/>
        </p:nvSpPr>
        <p:spPr>
          <a:xfrm>
            <a:off x="640080" y="3246120"/>
            <a:ext cx="548640" cy="548640"/>
          </a:xfrm>
          <a:prstGeom prst="ellipse">
            <a:avLst/>
          </a:prstGeom>
          <a:solidFill>
            <a:srgbClr val="3B82F6"/>
          </a:solidFill>
          <a:ln/>
        </p:spPr>
      </p:sp>
      <p:sp>
        <p:nvSpPr>
          <p:cNvPr id="14" name="Text 12"/>
          <p:cNvSpPr/>
          <p:nvPr/>
        </p:nvSpPr>
        <p:spPr>
          <a:xfrm>
            <a:off x="640080" y="333756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371600" y="333756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O sistema de recompensa pode ser resetado</a:t>
            </a:r>
            <a:endParaRPr lang="en-US" sz="1600" dirty="0"/>
          </a:p>
        </p:txBody>
      </p:sp>
      <p:sp>
        <p:nvSpPr>
          <p:cNvPr id="16" name="Shape 14"/>
          <p:cNvSpPr/>
          <p:nvPr/>
        </p:nvSpPr>
        <p:spPr>
          <a:xfrm>
            <a:off x="8869680" y="1097280"/>
            <a:ext cx="91440" cy="3017520"/>
          </a:xfrm>
          <a:prstGeom prst="rect">
            <a:avLst/>
          </a:prstGeom>
          <a:solidFill>
            <a:srgbClr val="667EEA"/>
          </a:solidFill>
          <a:ln/>
        </p:spPr>
      </p:sp>
      <p:pic>
        <p:nvPicPr>
          <p:cNvPr id="18"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2286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Foco Seduzido - O vilão disfarçado</a:t>
            </a:r>
            <a:endParaRPr lang="en-US" sz="2000" dirty="0"/>
          </a:p>
        </p:txBody>
      </p:sp>
      <p:sp>
        <p:nvSpPr>
          <p:cNvPr id="7" name="Shape 5"/>
          <p:cNvSpPr/>
          <p:nvPr/>
        </p:nvSpPr>
        <p:spPr>
          <a:xfrm>
            <a:off x="457200" y="1097280"/>
            <a:ext cx="393192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que é foco seduzido</a:t>
            </a:r>
            <a:endParaRPr lang="en-US" sz="1400" dirty="0"/>
          </a:p>
        </p:txBody>
      </p:sp>
      <p:sp>
        <p:nvSpPr>
          <p:cNvPr id="11" name="Shape 9"/>
          <p:cNvSpPr/>
          <p:nvPr/>
        </p:nvSpPr>
        <p:spPr>
          <a:xfrm>
            <a:off x="4572000" y="1097280"/>
            <a:ext cx="3931920" cy="777240"/>
          </a:xfrm>
          <a:prstGeom prst="roundRect">
            <a:avLst/>
          </a:prstGeom>
          <a:solidFill>
            <a:srgbClr val="2A2A4A"/>
          </a:solidFill>
          <a:ln w="19050">
            <a:solidFill>
              <a:srgbClr val="667EEA"/>
            </a:solidFill>
            <a:prstDash val="solid"/>
          </a:ln>
        </p:spPr>
      </p:sp>
      <p:sp>
        <p:nvSpPr>
          <p:cNvPr id="12" name="Shape 10"/>
          <p:cNvSpPr/>
          <p:nvPr/>
        </p:nvSpPr>
        <p:spPr>
          <a:xfrm>
            <a:off x="4572000" y="1097280"/>
            <a:ext cx="109728" cy="777240"/>
          </a:xfrm>
          <a:prstGeom prst="rect">
            <a:avLst/>
          </a:prstGeom>
          <a:solidFill>
            <a:srgbClr val="667EEA"/>
          </a:solidFill>
          <a:ln/>
        </p:spPr>
      </p:sp>
      <p:sp>
        <p:nvSpPr>
          <p:cNvPr id="13" name="Text 11"/>
          <p:cNvSpPr/>
          <p:nvPr/>
        </p:nvSpPr>
        <p:spPr>
          <a:xfrm>
            <a:off x="48006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0749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Como apps e redes sociais sequestram atenção</a:t>
            </a:r>
            <a:endParaRPr lang="en-US" sz="1400" dirty="0"/>
          </a:p>
        </p:txBody>
      </p:sp>
      <p:sp>
        <p:nvSpPr>
          <p:cNvPr id="15" name="Shape 13"/>
          <p:cNvSpPr/>
          <p:nvPr/>
        </p:nvSpPr>
        <p:spPr>
          <a:xfrm>
            <a:off x="457200" y="2011680"/>
            <a:ext cx="3931920" cy="777240"/>
          </a:xfrm>
          <a:prstGeom prst="roundRect">
            <a:avLst/>
          </a:prstGeom>
          <a:solidFill>
            <a:srgbClr val="2A2A4A"/>
          </a:solidFill>
          <a:ln w="19050">
            <a:solidFill>
              <a:srgbClr val="667EEA"/>
            </a:solidFill>
            <a:prstDash val="solid"/>
          </a:ln>
        </p:spPr>
      </p:sp>
      <p:sp>
        <p:nvSpPr>
          <p:cNvPr id="16" name="Shape 14"/>
          <p:cNvSpPr/>
          <p:nvPr/>
        </p:nvSpPr>
        <p:spPr>
          <a:xfrm>
            <a:off x="457200" y="2011680"/>
            <a:ext cx="109728" cy="777240"/>
          </a:xfrm>
          <a:prstGeom prst="rect">
            <a:avLst/>
          </a:prstGeom>
          <a:solidFill>
            <a:srgbClr val="667EEA"/>
          </a:solidFill>
          <a:ln/>
        </p:spPr>
      </p:sp>
      <p:sp>
        <p:nvSpPr>
          <p:cNvPr id="17" name="Text 15"/>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ciclo de dopamina</a:t>
            </a:r>
            <a:endParaRPr lang="en-US" sz="1400" dirty="0"/>
          </a:p>
        </p:txBody>
      </p:sp>
      <p:sp>
        <p:nvSpPr>
          <p:cNvPr id="19" name="Shape 17"/>
          <p:cNvSpPr/>
          <p:nvPr/>
        </p:nvSpPr>
        <p:spPr>
          <a:xfrm>
            <a:off x="4572000" y="2011680"/>
            <a:ext cx="3931920" cy="777240"/>
          </a:xfrm>
          <a:prstGeom prst="roundRect">
            <a:avLst/>
          </a:prstGeom>
          <a:solidFill>
            <a:srgbClr val="2A2A4A"/>
          </a:solidFill>
          <a:ln w="19050">
            <a:solidFill>
              <a:srgbClr val="667EEA"/>
            </a:solidFill>
            <a:prstDash val="solid"/>
          </a:ln>
        </p:spPr>
      </p:sp>
      <p:sp>
        <p:nvSpPr>
          <p:cNvPr id="20" name="Shape 18"/>
          <p:cNvSpPr/>
          <p:nvPr/>
        </p:nvSpPr>
        <p:spPr>
          <a:xfrm>
            <a:off x="4572000" y="2011680"/>
            <a:ext cx="109728" cy="777240"/>
          </a:xfrm>
          <a:prstGeom prst="rect">
            <a:avLst/>
          </a:prstGeom>
          <a:solidFill>
            <a:srgbClr val="667EEA"/>
          </a:solidFill>
          <a:ln/>
        </p:spPr>
      </p:sp>
      <p:sp>
        <p:nvSpPr>
          <p:cNvPr id="21" name="Text 19"/>
          <p:cNvSpPr/>
          <p:nvPr/>
        </p:nvSpPr>
        <p:spPr>
          <a:xfrm>
            <a:off x="48006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50749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Por que parece tão fácil e é tão vazio</a:t>
            </a:r>
            <a:endParaRPr lang="en-US" sz="1400" dirty="0"/>
          </a:p>
        </p:txBody>
      </p:sp>
      <p:sp>
        <p:nvSpPr>
          <p:cNvPr id="23" name="Shape 21"/>
          <p:cNvSpPr/>
          <p:nvPr/>
        </p:nvSpPr>
        <p:spPr>
          <a:xfrm>
            <a:off x="8686800" y="4114800"/>
            <a:ext cx="457200" cy="457200"/>
          </a:xfrm>
          <a:prstGeom prst="rect">
            <a:avLst/>
          </a:prstGeom>
          <a:solidFill>
            <a:srgbClr val="667EEA"/>
          </a:solidFill>
          <a:ln/>
        </p:spPr>
      </p:sp>
      <p:pic>
        <p:nvPicPr>
          <p:cNvPr id="25"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4572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Foco Direcionado - O herói da história</a:t>
            </a:r>
            <a:endParaRPr lang="en-US" sz="2000" dirty="0"/>
          </a:p>
        </p:txBody>
      </p:sp>
      <p:sp>
        <p:nvSpPr>
          <p:cNvPr id="7" name="Shape 5"/>
          <p:cNvSpPr/>
          <p:nvPr/>
        </p:nvSpPr>
        <p:spPr>
          <a:xfrm>
            <a:off x="457200" y="1097280"/>
            <a:ext cx="393192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que é foco direcionado</a:t>
            </a:r>
            <a:endParaRPr lang="en-US" sz="1400" dirty="0"/>
          </a:p>
        </p:txBody>
      </p:sp>
      <p:sp>
        <p:nvSpPr>
          <p:cNvPr id="11" name="Shape 9"/>
          <p:cNvSpPr/>
          <p:nvPr/>
        </p:nvSpPr>
        <p:spPr>
          <a:xfrm>
            <a:off x="4572000" y="1097280"/>
            <a:ext cx="3931920" cy="777240"/>
          </a:xfrm>
          <a:prstGeom prst="roundRect">
            <a:avLst/>
          </a:prstGeom>
          <a:solidFill>
            <a:srgbClr val="2A2A4A"/>
          </a:solidFill>
          <a:ln w="19050">
            <a:solidFill>
              <a:srgbClr val="22C55E"/>
            </a:solidFill>
            <a:prstDash val="solid"/>
          </a:ln>
        </p:spPr>
      </p:sp>
      <p:sp>
        <p:nvSpPr>
          <p:cNvPr id="12" name="Shape 10"/>
          <p:cNvSpPr/>
          <p:nvPr/>
        </p:nvSpPr>
        <p:spPr>
          <a:xfrm>
            <a:off x="4572000" y="1097280"/>
            <a:ext cx="109728" cy="777240"/>
          </a:xfrm>
          <a:prstGeom prst="rect">
            <a:avLst/>
          </a:prstGeom>
          <a:solidFill>
            <a:srgbClr val="22C55E"/>
          </a:solidFill>
          <a:ln/>
        </p:spPr>
      </p:sp>
      <p:sp>
        <p:nvSpPr>
          <p:cNvPr id="13" name="Text 11"/>
          <p:cNvSpPr/>
          <p:nvPr/>
        </p:nvSpPr>
        <p:spPr>
          <a:xfrm>
            <a:off x="48006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0749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Por que é mais difícil no início</a:t>
            </a:r>
            <a:endParaRPr lang="en-US" sz="1400" dirty="0"/>
          </a:p>
        </p:txBody>
      </p:sp>
      <p:sp>
        <p:nvSpPr>
          <p:cNvPr id="15" name="Shape 13"/>
          <p:cNvSpPr/>
          <p:nvPr/>
        </p:nvSpPr>
        <p:spPr>
          <a:xfrm>
            <a:off x="457200" y="2011680"/>
            <a:ext cx="3931920" cy="777240"/>
          </a:xfrm>
          <a:prstGeom prst="roundRect">
            <a:avLst/>
          </a:prstGeom>
          <a:solidFill>
            <a:srgbClr val="2A2A4A"/>
          </a:solidFill>
          <a:ln w="19050">
            <a:solidFill>
              <a:srgbClr val="22C55E"/>
            </a:solidFill>
            <a:prstDash val="solid"/>
          </a:ln>
        </p:spPr>
      </p:sp>
      <p:sp>
        <p:nvSpPr>
          <p:cNvPr id="16" name="Shape 14"/>
          <p:cNvSpPr/>
          <p:nvPr/>
        </p:nvSpPr>
        <p:spPr>
          <a:xfrm>
            <a:off x="457200" y="2011680"/>
            <a:ext cx="109728" cy="777240"/>
          </a:xfrm>
          <a:prstGeom prst="rect">
            <a:avLst/>
          </a:prstGeom>
          <a:solidFill>
            <a:srgbClr val="22C55E"/>
          </a:solidFill>
          <a:ln/>
        </p:spPr>
      </p:sp>
      <p:sp>
        <p:nvSpPr>
          <p:cNvPr id="17" name="Text 15"/>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 recompensa genuína</a:t>
            </a:r>
            <a:endParaRPr lang="en-US" sz="1400" dirty="0"/>
          </a:p>
        </p:txBody>
      </p:sp>
      <p:sp>
        <p:nvSpPr>
          <p:cNvPr id="19" name="Shape 17"/>
          <p:cNvSpPr/>
          <p:nvPr/>
        </p:nvSpPr>
        <p:spPr>
          <a:xfrm>
            <a:off x="4572000" y="2011680"/>
            <a:ext cx="3931920" cy="777240"/>
          </a:xfrm>
          <a:prstGeom prst="roundRect">
            <a:avLst/>
          </a:prstGeom>
          <a:solidFill>
            <a:srgbClr val="2A2A4A"/>
          </a:solidFill>
          <a:ln w="19050">
            <a:solidFill>
              <a:srgbClr val="22C55E"/>
            </a:solidFill>
            <a:prstDash val="solid"/>
          </a:ln>
        </p:spPr>
      </p:sp>
      <p:sp>
        <p:nvSpPr>
          <p:cNvPr id="20" name="Shape 18"/>
          <p:cNvSpPr/>
          <p:nvPr/>
        </p:nvSpPr>
        <p:spPr>
          <a:xfrm>
            <a:off x="4572000" y="2011680"/>
            <a:ext cx="109728" cy="777240"/>
          </a:xfrm>
          <a:prstGeom prst="rect">
            <a:avLst/>
          </a:prstGeom>
          <a:solidFill>
            <a:srgbClr val="22C55E"/>
          </a:solidFill>
          <a:ln/>
        </p:spPr>
      </p:sp>
      <p:sp>
        <p:nvSpPr>
          <p:cNvPr id="21" name="Text 19"/>
          <p:cNvSpPr/>
          <p:nvPr/>
        </p:nvSpPr>
        <p:spPr>
          <a:xfrm>
            <a:off x="48006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50749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 satisfação profunda</a:t>
            </a:r>
            <a:endParaRPr lang="en-US" sz="1400" dirty="0"/>
          </a:p>
        </p:txBody>
      </p:sp>
      <p:sp>
        <p:nvSpPr>
          <p:cNvPr id="23" name="Shape 21"/>
          <p:cNvSpPr/>
          <p:nvPr/>
        </p:nvSpPr>
        <p:spPr>
          <a:xfrm>
            <a:off x="8686800" y="4114800"/>
            <a:ext cx="457200" cy="457200"/>
          </a:xfrm>
          <a:prstGeom prst="rect">
            <a:avLst/>
          </a:prstGeom>
          <a:solidFill>
            <a:srgbClr val="22C55E"/>
          </a:solidFill>
          <a:ln/>
        </p:spPr>
      </p:sp>
      <p:pic>
        <p:nvPicPr>
          <p:cNvPr id="25"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858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 neurociência por trás</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Dopamina fácil vs. dopamina de conquista</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3B82F6"/>
            </a:solidFill>
            <a:prstDash val="solid"/>
          </a:ln>
        </p:spPr>
      </p:sp>
      <p:sp>
        <p:nvSpPr>
          <p:cNvPr id="12" name="Shape 10"/>
          <p:cNvSpPr/>
          <p:nvPr/>
        </p:nvSpPr>
        <p:spPr>
          <a:xfrm>
            <a:off x="457200" y="2011680"/>
            <a:ext cx="109728" cy="777240"/>
          </a:xfrm>
          <a:prstGeom prst="rect">
            <a:avLst/>
          </a:prstGeom>
          <a:solidFill>
            <a:srgbClr val="3B82F6"/>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cérebro de recompensa</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3B82F6"/>
            </a:solidFill>
            <a:prstDash val="solid"/>
          </a:ln>
        </p:spPr>
      </p:sp>
      <p:sp>
        <p:nvSpPr>
          <p:cNvPr id="16" name="Shape 14"/>
          <p:cNvSpPr/>
          <p:nvPr/>
        </p:nvSpPr>
        <p:spPr>
          <a:xfrm>
            <a:off x="457200" y="2926080"/>
            <a:ext cx="109728" cy="777240"/>
          </a:xfrm>
          <a:prstGeom prst="rect">
            <a:avLst/>
          </a:prstGeom>
          <a:solidFill>
            <a:srgbClr val="3B82F6"/>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Reset do sistema de recompensa</a:t>
            </a:r>
            <a:endParaRPr lang="en-US" sz="1400" dirty="0"/>
          </a:p>
        </p:txBody>
      </p:sp>
      <p:sp>
        <p:nvSpPr>
          <p:cNvPr id="19" name="Shape 17"/>
          <p:cNvSpPr/>
          <p:nvPr/>
        </p:nvSpPr>
        <p:spPr>
          <a:xfrm>
            <a:off x="8686800" y="4114800"/>
            <a:ext cx="457200" cy="457200"/>
          </a:xfrm>
          <a:prstGeom prst="rect">
            <a:avLst/>
          </a:prstGeom>
          <a:solidFill>
            <a:srgbClr val="3B82F6"/>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9333EA"/>
          </a:solidFill>
          <a:ln/>
        </p:spPr>
      </p:sp>
      <p:sp>
        <p:nvSpPr>
          <p:cNvPr id="4" name="Shape 2"/>
          <p:cNvSpPr/>
          <p:nvPr/>
        </p:nvSpPr>
        <p:spPr>
          <a:xfrm>
            <a:off x="274320" y="137160"/>
            <a:ext cx="548640" cy="548640"/>
          </a:xfrm>
          <a:prstGeom prst="ellipse">
            <a:avLst/>
          </a:prstGeom>
          <a:solidFill>
            <a:srgbClr val="9333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Estratégias para cultivar o foco direcionado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9333EA"/>
            </a:solidFill>
            <a:prstDash val="solid"/>
          </a:ln>
        </p:spPr>
      </p:sp>
      <p:sp>
        <p:nvSpPr>
          <p:cNvPr id="8" name="Shape 6"/>
          <p:cNvSpPr/>
          <p:nvPr/>
        </p:nvSpPr>
        <p:spPr>
          <a:xfrm>
            <a:off x="457200" y="1097280"/>
            <a:ext cx="109728" cy="777240"/>
          </a:xfrm>
          <a:prstGeom prst="rect">
            <a:avLst/>
          </a:prstGeom>
          <a:solidFill>
            <a:srgbClr val="9333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Reduzir exposição ao foco seduzido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9333EA"/>
            </a:solidFill>
            <a:prstDash val="solid"/>
          </a:ln>
        </p:spPr>
      </p:sp>
      <p:sp>
        <p:nvSpPr>
          <p:cNvPr id="12" name="Shape 10"/>
          <p:cNvSpPr/>
          <p:nvPr/>
        </p:nvSpPr>
        <p:spPr>
          <a:xfrm>
            <a:off x="457200" y="2011680"/>
            <a:ext cx="109728" cy="777240"/>
          </a:xfrm>
          <a:prstGeom prst="rect">
            <a:avLst/>
          </a:prstGeom>
          <a:solidFill>
            <a:srgbClr val="9333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Tornar o foco direcionado mais atrativo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9333EA"/>
            </a:solidFill>
            <a:prstDash val="solid"/>
          </a:ln>
        </p:spPr>
      </p:sp>
      <p:sp>
        <p:nvSpPr>
          <p:cNvPr id="16" name="Shape 14"/>
          <p:cNvSpPr/>
          <p:nvPr/>
        </p:nvSpPr>
        <p:spPr>
          <a:xfrm>
            <a:off x="457200" y="2926080"/>
            <a:ext cx="109728" cy="777240"/>
          </a:xfrm>
          <a:prstGeom prst="rect">
            <a:avLst/>
          </a:prstGeom>
          <a:solidFill>
            <a:srgbClr val="9333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Criar rituais de transição</a:t>
            </a:r>
            <a:endParaRPr lang="en-US" sz="1400" dirty="0"/>
          </a:p>
        </p:txBody>
      </p:sp>
      <p:sp>
        <p:nvSpPr>
          <p:cNvPr id="19" name="Shape 17"/>
          <p:cNvSpPr/>
          <p:nvPr/>
        </p:nvSpPr>
        <p:spPr>
          <a:xfrm>
            <a:off x="8686800" y="4114800"/>
            <a:ext cx="457200" cy="457200"/>
          </a:xfrm>
          <a:prstGeom prst="rect">
            <a:avLst/>
          </a:prstGeom>
          <a:solidFill>
            <a:srgbClr val="9333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sp>
        <p:nvSpPr>
          <p:cNvPr id="6" name="Shape 4"/>
          <p:cNvSpPr/>
          <p:nvPr/>
        </p:nvSpPr>
        <p:spPr>
          <a:xfrm>
            <a:off x="502920" y="1188720"/>
            <a:ext cx="457200" cy="457200"/>
          </a:xfrm>
          <a:prstGeom prst="ellipse">
            <a:avLst/>
          </a:prstGeom>
          <a:solidFill>
            <a:srgbClr val="667EEA"/>
          </a:solidFill>
          <a:ln/>
        </p:spPr>
      </p:sp>
      <p:sp>
        <p:nvSpPr>
          <p:cNvPr id="7" name="Text 5"/>
          <p:cNvSpPr/>
          <p:nvPr/>
        </p:nvSpPr>
        <p:spPr>
          <a:xfrm>
            <a:off x="502920" y="123444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Shape 6"/>
          <p:cNvSpPr/>
          <p:nvPr/>
        </p:nvSpPr>
        <p:spPr>
          <a:xfrm>
            <a:off x="1188720" y="1097280"/>
            <a:ext cx="7498080" cy="640080"/>
          </a:xfrm>
          <a:prstGeom prst="roundRect">
            <a:avLst/>
          </a:prstGeom>
          <a:solidFill>
            <a:srgbClr val="2A2A4A"/>
          </a:solidFill>
          <a:ln w="25400">
            <a:solidFill>
              <a:srgbClr val="667EEA"/>
            </a:solidFill>
            <a:prstDash val="solid"/>
          </a:ln>
        </p:spPr>
      </p:sp>
      <p:sp>
        <p:nvSpPr>
          <p:cNvPr id="9" name="Text 7"/>
          <p:cNvSpPr/>
          <p:nvPr/>
        </p:nvSpPr>
        <p:spPr>
          <a:xfrm>
            <a:off x="1371600" y="123444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Foco seduzido = capturado por estímulos, prazer vazio, dependência</a:t>
            </a:r>
            <a:endParaRPr lang="en-US" sz="1400" dirty="0"/>
          </a:p>
        </p:txBody>
      </p:sp>
      <p:sp>
        <p:nvSpPr>
          <p:cNvPr id="10" name="Shape 8"/>
          <p:cNvSpPr/>
          <p:nvPr/>
        </p:nvSpPr>
        <p:spPr>
          <a:xfrm>
            <a:off x="502920" y="2011680"/>
            <a:ext cx="457200" cy="457200"/>
          </a:xfrm>
          <a:prstGeom prst="ellipse">
            <a:avLst/>
          </a:prstGeom>
          <a:solidFill>
            <a:srgbClr val="22C55E"/>
          </a:solidFill>
          <a:ln/>
        </p:spPr>
      </p:sp>
      <p:sp>
        <p:nvSpPr>
          <p:cNvPr id="11" name="Text 9"/>
          <p:cNvSpPr/>
          <p:nvPr/>
        </p:nvSpPr>
        <p:spPr>
          <a:xfrm>
            <a:off x="502920" y="205740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1188720" y="1920240"/>
            <a:ext cx="7498080" cy="640080"/>
          </a:xfrm>
          <a:prstGeom prst="roundRect">
            <a:avLst/>
          </a:prstGeom>
          <a:solidFill>
            <a:srgbClr val="2A2A4A"/>
          </a:solidFill>
          <a:ln w="25400">
            <a:solidFill>
              <a:srgbClr val="22C55E"/>
            </a:solidFill>
            <a:prstDash val="solid"/>
          </a:ln>
        </p:spPr>
      </p:sp>
      <p:sp>
        <p:nvSpPr>
          <p:cNvPr id="13" name="Text 11"/>
          <p:cNvSpPr/>
          <p:nvPr/>
        </p:nvSpPr>
        <p:spPr>
          <a:xfrm>
            <a:off x="1371600" y="205740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Foco direcionado = escolha consciente, esforço recompensado, satisfação profunda</a:t>
            </a:r>
            <a:endParaRPr lang="en-US" sz="1400" dirty="0"/>
          </a:p>
        </p:txBody>
      </p:sp>
      <p:sp>
        <p:nvSpPr>
          <p:cNvPr id="14" name="Shape 12"/>
          <p:cNvSpPr/>
          <p:nvPr/>
        </p:nvSpPr>
        <p:spPr>
          <a:xfrm>
            <a:off x="502920" y="2834640"/>
            <a:ext cx="457200" cy="457200"/>
          </a:xfrm>
          <a:prstGeom prst="ellipse">
            <a:avLst/>
          </a:prstGeom>
          <a:solidFill>
            <a:srgbClr val="3B82F6"/>
          </a:solidFill>
          <a:ln/>
        </p:spPr>
      </p:sp>
      <p:sp>
        <p:nvSpPr>
          <p:cNvPr id="15" name="Text 13"/>
          <p:cNvSpPr/>
          <p:nvPr/>
        </p:nvSpPr>
        <p:spPr>
          <a:xfrm>
            <a:off x="502920" y="288036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Shape 14"/>
          <p:cNvSpPr/>
          <p:nvPr/>
        </p:nvSpPr>
        <p:spPr>
          <a:xfrm>
            <a:off x="1188720" y="2743200"/>
            <a:ext cx="7498080" cy="640080"/>
          </a:xfrm>
          <a:prstGeom prst="roundRect">
            <a:avLst/>
          </a:prstGeom>
          <a:solidFill>
            <a:srgbClr val="2A2A4A"/>
          </a:solidFill>
          <a:ln w="25400">
            <a:solidFill>
              <a:srgbClr val="3B82F6"/>
            </a:solidFill>
            <a:prstDash val="solid"/>
          </a:ln>
        </p:spPr>
      </p:sp>
      <p:sp>
        <p:nvSpPr>
          <p:cNvPr id="17" name="Text 15"/>
          <p:cNvSpPr/>
          <p:nvPr/>
        </p:nvSpPr>
        <p:spPr>
          <a:xfrm>
            <a:off x="1371600" y="288036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sistema de recompensa pode ser resetado</a:t>
            </a:r>
            <a:endParaRPr lang="en-US" sz="1400" dirty="0"/>
          </a:p>
        </p:txBody>
      </p:sp>
      <p:sp>
        <p:nvSpPr>
          <p:cNvPr id="18" name="Shape 16"/>
          <p:cNvSpPr/>
          <p:nvPr/>
        </p:nvSpPr>
        <p:spPr>
          <a:xfrm>
            <a:off x="502920" y="3657600"/>
            <a:ext cx="457200" cy="457200"/>
          </a:xfrm>
          <a:prstGeom prst="ellipse">
            <a:avLst/>
          </a:prstGeom>
          <a:solidFill>
            <a:srgbClr val="9333EA"/>
          </a:solidFill>
          <a:ln/>
        </p:spPr>
      </p:sp>
      <p:sp>
        <p:nvSpPr>
          <p:cNvPr id="19" name="Text 17"/>
          <p:cNvSpPr/>
          <p:nvPr/>
        </p:nvSpPr>
        <p:spPr>
          <a:xfrm>
            <a:off x="502920" y="370332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1188720" y="3566160"/>
            <a:ext cx="7498080" cy="640080"/>
          </a:xfrm>
          <a:prstGeom prst="roundRect">
            <a:avLst/>
          </a:prstGeom>
          <a:solidFill>
            <a:srgbClr val="2A2A4A"/>
          </a:solidFill>
          <a:ln w="25400">
            <a:solidFill>
              <a:srgbClr val="9333EA"/>
            </a:solidFill>
            <a:prstDash val="solid"/>
          </a:ln>
        </p:spPr>
      </p:sp>
      <p:sp>
        <p:nvSpPr>
          <p:cNvPr id="21" name="Text 19"/>
          <p:cNvSpPr/>
          <p:nvPr/>
        </p:nvSpPr>
        <p:spPr>
          <a:xfrm>
            <a:off x="1371600" y="370332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Estratégias: reduzir, tornar atrativo, criar rituais</a:t>
            </a:r>
            <a:endParaRPr lang="en-US" sz="1400" dirty="0"/>
          </a:p>
        </p:txBody>
      </p:sp>
      <p:pic>
        <p:nvPicPr>
          <p:cNvPr id="23"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sp>
        <p:nvSpPr>
          <p:cNvPr id="6" name="Shape 3"/>
          <p:cNvSpPr/>
          <p:nvPr/>
        </p:nvSpPr>
        <p:spPr>
          <a:xfrm>
            <a:off x="5943600" y="1371600"/>
            <a:ext cx="228600" cy="228600"/>
          </a:xfrm>
          <a:prstGeom prst="ellipse">
            <a:avLst/>
          </a:prstGeom>
          <a:solidFill>
            <a:srgbClr val="667EEA"/>
          </a:solidFill>
          <a:ln/>
        </p:spPr>
      </p:sp>
      <p:sp>
        <p:nvSpPr>
          <p:cNvPr id="7" name="Text 4"/>
          <p:cNvSpPr/>
          <p:nvPr/>
        </p:nvSpPr>
        <p:spPr>
          <a:xfrm>
            <a:off x="6309360" y="132588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Foco seduzido = capturado por estímulos, prazer vazio, dependência</a:t>
            </a:r>
            <a:endParaRPr lang="en-US" sz="1000" dirty="0"/>
          </a:p>
        </p:txBody>
      </p:sp>
      <p:sp>
        <p:nvSpPr>
          <p:cNvPr id="8" name="Shape 5"/>
          <p:cNvSpPr/>
          <p:nvPr/>
        </p:nvSpPr>
        <p:spPr>
          <a:xfrm>
            <a:off x="5943600" y="2148840"/>
            <a:ext cx="228600" cy="228600"/>
          </a:xfrm>
          <a:prstGeom prst="ellipse">
            <a:avLst/>
          </a:prstGeom>
          <a:solidFill>
            <a:srgbClr val="667EEA"/>
          </a:solidFill>
          <a:ln/>
        </p:spPr>
      </p:sp>
      <p:sp>
        <p:nvSpPr>
          <p:cNvPr id="9" name="Text 6"/>
          <p:cNvSpPr/>
          <p:nvPr/>
        </p:nvSpPr>
        <p:spPr>
          <a:xfrm>
            <a:off x="6309360" y="210312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Foco direcionado = escolha consciente, esforço recompensado, satisfação profunda</a:t>
            </a:r>
            <a:endParaRPr lang="en-US" sz="1000" dirty="0"/>
          </a:p>
        </p:txBody>
      </p:sp>
      <p:sp>
        <p:nvSpPr>
          <p:cNvPr id="10" name="Shape 7"/>
          <p:cNvSpPr/>
          <p:nvPr/>
        </p:nvSpPr>
        <p:spPr>
          <a:xfrm>
            <a:off x="5943600" y="2926080"/>
            <a:ext cx="228600" cy="228600"/>
          </a:xfrm>
          <a:prstGeom prst="ellipse">
            <a:avLst/>
          </a:prstGeom>
          <a:solidFill>
            <a:srgbClr val="667EEA"/>
          </a:solidFill>
          <a:ln/>
        </p:spPr>
      </p:sp>
      <p:sp>
        <p:nvSpPr>
          <p:cNvPr id="11" name="Text 8"/>
          <p:cNvSpPr/>
          <p:nvPr/>
        </p:nvSpPr>
        <p:spPr>
          <a:xfrm>
            <a:off x="6309360" y="288036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O sistema de recompensa pode ser resetado</a:t>
            </a:r>
            <a:endParaRPr lang="en-US" sz="1000" dirty="0"/>
          </a:p>
        </p:txBody>
      </p:sp>
      <p:sp>
        <p:nvSpPr>
          <p:cNvPr id="12" name="Shape 9"/>
          <p:cNvSpPr/>
          <p:nvPr/>
        </p:nvSpPr>
        <p:spPr>
          <a:xfrm>
            <a:off x="5943600" y="3703320"/>
            <a:ext cx="228600" cy="228600"/>
          </a:xfrm>
          <a:prstGeom prst="ellipse">
            <a:avLst/>
          </a:prstGeom>
          <a:solidFill>
            <a:srgbClr val="667EEA"/>
          </a:solidFill>
          <a:ln/>
        </p:spPr>
      </p:sp>
      <p:sp>
        <p:nvSpPr>
          <p:cNvPr id="13" name="Text 10"/>
          <p:cNvSpPr/>
          <p:nvPr/>
        </p:nvSpPr>
        <p:spPr>
          <a:xfrm>
            <a:off x="6309360" y="365760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Estratégias: reduzir, tornar atrativo, criar rituais</a:t>
            </a:r>
            <a:endParaRPr lang="en-US" sz="1000" dirty="0"/>
          </a:p>
        </p:txBody>
      </p:sp>
      <p:pic>
        <p:nvPicPr>
          <p:cNvPr id="15"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&gt; **Uma experiência transformadora de 24 horas!**</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04 -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Você não é viciado em celular. Você é humano, com um cérebro que responde a estímulos. A diferença está em escolher conscientemente quais estímulos você permite entrar.</a:t>
            </a: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04: Foco Direcionado vs. Foco Seduzido</dc:title>
  <dc:subject>Foco e Produtividade nos Estudos</dc:subject>
  <dc:creator>Educa com Talento</dc:creator>
  <cp:lastModifiedBy>Educa com Talento</cp:lastModifiedBy>
  <cp:revision>1</cp:revision>
  <dcterms:created xsi:type="dcterms:W3CDTF">2025-12-18T20:33:52Z</dcterms:created>
  <dcterms:modified xsi:type="dcterms:W3CDTF">2025-12-18T20:33:52Z</dcterms:modified>
</cp:coreProperties>
</file>