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Você aprendeu dezenas de técnicas neste curso. Mas técnicas soltas não mudam vidas. Sistemas mudam.
Hoje vamos integrar tudo que você aprendeu em um sistema sustentável que vai funcionar não só esta semana, mas pelos próximos 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Nesta aula, você vai aprender os conceitos principais apresentados nos objetivos. Você aprendeu dezenas de técnicas neste curso. Mas técnicas soltas não mudam vidas. Sistemas mudam.
Hoje vamos integrar tudo que você aprendeu em um sistema sustentável que vai funcionar não só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dos pontos principais da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infográfico resume visualmente os principais conceitos da aula. Use-o para reforçar o aprendizado.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é hora da prática! 1. Escreva seu sistema completo:
   - Ambiente: Como é/será?
   - Rituais: Quais uso?
   - Rotina diária: Horários e blocos
   - Técnicas: Quais priorizo?
   - Recuperação: Como descanso?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Você tem todas as peças. Agora é sobre montar SEU sistema, único para você, e mantê-lo vivo ao longo do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F172A"/>
          </a:solidFill>
          <a:ln/>
        </p:spPr>
      </p:sp>
      <p:sp>
        <p:nvSpPr>
          <p:cNvPr id="3" name="Text 1"/>
          <p:cNvSpPr/>
          <p:nvPr/>
        </p:nvSpPr>
        <p:spPr>
          <a:xfrm>
            <a:off x="457200" y="320040"/>
            <a:ext cx="8229600" cy="36576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2 - Foco Disperso e Maestria | Bloco: Maestria</a:t>
            </a:r>
            <a:endParaRPr lang="en-US" sz="1400" dirty="0"/>
          </a:p>
        </p:txBody>
      </p:sp>
      <p:sp>
        <p:nvSpPr>
          <p:cNvPr id="4" name="Shape 2"/>
          <p:cNvSpPr/>
          <p:nvPr/>
        </p:nvSpPr>
        <p:spPr>
          <a:xfrm>
            <a:off x="274320" y="1371600"/>
            <a:ext cx="73152" cy="2286000"/>
          </a:xfrm>
          <a:prstGeom prst="rect">
            <a:avLst/>
          </a:prstGeom>
          <a:solidFill>
            <a:srgbClr val="667EEA"/>
          </a:solidFill>
          <a:ln/>
        </p:spPr>
      </p:sp>
      <p:sp>
        <p:nvSpPr>
          <p:cNvPr id="5" name="Shape 3"/>
          <p:cNvSpPr/>
          <p:nvPr/>
        </p:nvSpPr>
        <p:spPr>
          <a:xfrm>
            <a:off x="548640" y="1463040"/>
            <a:ext cx="1097280" cy="1097280"/>
          </a:xfrm>
          <a:prstGeom prst="ellipse">
            <a:avLst/>
          </a:prstGeom>
          <a:solidFill>
            <a:srgbClr val="667EEA"/>
          </a:solidFill>
          <a:ln/>
        </p:spPr>
      </p:sp>
      <p:sp>
        <p:nvSpPr>
          <p:cNvPr id="6" name="Text 4"/>
          <p:cNvSpPr/>
          <p:nvPr/>
        </p:nvSpPr>
        <p:spPr>
          <a:xfrm>
            <a:off x="548640" y="1691640"/>
            <a:ext cx="1097280" cy="64008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29</a:t>
            </a:r>
            <a:endParaRPr lang="en-US" sz="3200" dirty="0"/>
          </a:p>
        </p:txBody>
      </p:sp>
      <p:sp>
        <p:nvSpPr>
          <p:cNvPr id="7" name="Text 5"/>
          <p:cNvSpPr/>
          <p:nvPr/>
        </p:nvSpPr>
        <p:spPr>
          <a:xfrm>
            <a:off x="1828800" y="1463040"/>
            <a:ext cx="6858000" cy="91440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Construindo Sistemas Sustentáveis</a:t>
            </a:r>
            <a:endParaRPr lang="en-US" sz="2800" dirty="0"/>
          </a:p>
        </p:txBody>
      </p:sp>
      <p:sp>
        <p:nvSpPr>
          <p:cNvPr id="8" name="Text 6"/>
          <p:cNvSpPr/>
          <p:nvPr/>
        </p:nvSpPr>
        <p:spPr>
          <a:xfrm>
            <a:off x="1828800" y="2377440"/>
            <a:ext cx="6858000" cy="457200"/>
          </a:xfrm>
          <a:prstGeom prst="rect">
            <a:avLst/>
          </a:prstGeom>
          <a:noFill/>
          <a:ln/>
        </p:spPr>
        <p:txBody>
          <a:bodyPr wrap="square" rtlCol="0" anchor="ctr"/>
          <a:lstStyle/>
          <a:p>
            <a:pPr indent="0" marL="0">
              <a:buNone/>
            </a:pPr>
            <a:r>
              <a:rPr lang="en-US" sz="1600" dirty="0">
                <a:solidFill>
                  <a:srgbClr val="667EEA"/>
                </a:solidFill>
                <a:latin typeface="Arial" pitchFamily="34" charset="0"/>
                <a:ea typeface="Arial" pitchFamily="34" charset="-122"/>
                <a:cs typeface="Arial" pitchFamily="34" charset="-120"/>
              </a:rPr>
              <a:t>Foco e Produtividade nos Estudos</a:t>
            </a:r>
            <a:endParaRPr lang="en-US" sz="1600" dirty="0"/>
          </a:p>
        </p:txBody>
      </p:sp>
      <p:sp>
        <p:nvSpPr>
          <p:cNvPr id="9" name="Shape 7"/>
          <p:cNvSpPr/>
          <p:nvPr/>
        </p:nvSpPr>
        <p:spPr>
          <a:xfrm>
            <a:off x="1828800" y="3017520"/>
            <a:ext cx="2743200" cy="54864"/>
          </a:xfrm>
          <a:prstGeom prst="rect">
            <a:avLst/>
          </a:prstGeom>
          <a:solidFill>
            <a:srgbClr val="22C55E"/>
          </a:solidFill>
          <a:ln/>
        </p:spPr>
      </p:sp>
      <p:sp>
        <p:nvSpPr>
          <p:cNvPr id="10" name="Shape 8"/>
          <p:cNvSpPr/>
          <p:nvPr/>
        </p:nvSpPr>
        <p:spPr>
          <a:xfrm>
            <a:off x="457200" y="3474720"/>
            <a:ext cx="2560320" cy="731520"/>
          </a:xfrm>
          <a:prstGeom prst="roundRect">
            <a:avLst/>
          </a:prstGeom>
          <a:solidFill>
            <a:srgbClr val="2A2A4A"/>
          </a:solidFill>
          <a:ln w="12700">
            <a:solidFill>
              <a:srgbClr val="667EEA"/>
            </a:solidFill>
            <a:prstDash val="solid"/>
          </a:ln>
        </p:spPr>
      </p:sp>
      <p:sp>
        <p:nvSpPr>
          <p:cNvPr id="11" name="Text 9"/>
          <p:cNvSpPr/>
          <p:nvPr/>
        </p:nvSpPr>
        <p:spPr>
          <a:xfrm>
            <a:off x="4572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Duração: ~22 minutos</a:t>
            </a:r>
            <a:endParaRPr lang="en-US" sz="1100" dirty="0"/>
          </a:p>
        </p:txBody>
      </p:sp>
      <p:sp>
        <p:nvSpPr>
          <p:cNvPr id="12" name="Shape 10"/>
          <p:cNvSpPr/>
          <p:nvPr/>
        </p:nvSpPr>
        <p:spPr>
          <a:xfrm>
            <a:off x="3200400" y="3474720"/>
            <a:ext cx="2560320" cy="731520"/>
          </a:xfrm>
          <a:prstGeom prst="roundRect">
            <a:avLst/>
          </a:prstGeom>
          <a:solidFill>
            <a:srgbClr val="2A2A4A"/>
          </a:solidFill>
          <a:ln w="12700">
            <a:solidFill>
              <a:srgbClr val="22C55E"/>
            </a:solidFill>
            <a:prstDash val="solid"/>
          </a:ln>
        </p:spPr>
      </p:sp>
      <p:sp>
        <p:nvSpPr>
          <p:cNvPr id="13" name="Text 11"/>
          <p:cNvSpPr/>
          <p:nvPr/>
        </p:nvSpPr>
        <p:spPr>
          <a:xfrm>
            <a:off x="32004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Nível: Avançado</a:t>
            </a:r>
            <a:endParaRPr lang="en-US" sz="1100" dirty="0"/>
          </a:p>
        </p:txBody>
      </p:sp>
      <p:sp>
        <p:nvSpPr>
          <p:cNvPr id="14" name="Shape 12"/>
          <p:cNvSpPr/>
          <p:nvPr/>
        </p:nvSpPr>
        <p:spPr>
          <a:xfrm>
            <a:off x="5943600" y="3474720"/>
            <a:ext cx="2560320" cy="731520"/>
          </a:xfrm>
          <a:prstGeom prst="roundRect">
            <a:avLst/>
          </a:prstGeom>
          <a:solidFill>
            <a:srgbClr val="2A2A4A"/>
          </a:solidFill>
          <a:ln w="12700">
            <a:solidFill>
              <a:srgbClr val="3B82F6"/>
            </a:solidFill>
            <a:prstDash val="solid"/>
          </a:ln>
        </p:spPr>
      </p:sp>
      <p:sp>
        <p:nvSpPr>
          <p:cNvPr id="15" name="Text 13"/>
          <p:cNvSpPr/>
          <p:nvPr/>
        </p:nvSpPr>
        <p:spPr>
          <a:xfrm>
            <a:off x="59436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Prático</a:t>
            </a:r>
            <a:endParaRPr lang="en-US" sz="1100" dirty="0"/>
          </a:p>
        </p:txBody>
      </p:sp>
      <p:pic>
        <p:nvPicPr>
          <p:cNvPr id="1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Objetivos da Aula</a:t>
            </a:r>
            <a:endParaRPr lang="en-US" sz="2000" dirty="0"/>
          </a:p>
        </p:txBody>
      </p:sp>
      <p:sp>
        <p:nvSpPr>
          <p:cNvPr id="4" name="Shape 2"/>
          <p:cNvSpPr/>
          <p:nvPr/>
        </p:nvSpPr>
        <p:spPr>
          <a:xfrm>
            <a:off x="8869680" y="1097280"/>
            <a:ext cx="91440" cy="3017520"/>
          </a:xfrm>
          <a:prstGeom prst="rect">
            <a:avLst/>
          </a:prstGeom>
          <a:solidFill>
            <a:srgbClr val="667EEA"/>
          </a:solidFill>
          <a:ln/>
        </p:spPr>
      </p:sp>
      <p:pic>
        <p:nvPicPr>
          <p:cNvPr id="6"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2286000" cy="45720"/>
          </a:xfrm>
          <a:prstGeom prst="rect">
            <a:avLst/>
          </a:prstGeom>
          <a:solidFill>
            <a:srgbClr val="667EEA"/>
          </a:solidFill>
          <a:ln/>
        </p:spPr>
      </p:sp>
      <p:sp>
        <p:nvSpPr>
          <p:cNvPr id="4" name="Shape 2"/>
          <p:cNvSpPr/>
          <p:nvPr/>
        </p:nvSpPr>
        <p:spPr>
          <a:xfrm>
            <a:off x="274320" y="137160"/>
            <a:ext cx="548640" cy="548640"/>
          </a:xfrm>
          <a:prstGeom prst="ellipse">
            <a:avLst/>
          </a:prstGeom>
          <a:solidFill>
            <a:srgbClr val="667E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Sistemas vs. Objetivos</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667EEA"/>
            </a:solidFill>
            <a:prstDash val="solid"/>
          </a:ln>
        </p:spPr>
      </p:sp>
      <p:sp>
        <p:nvSpPr>
          <p:cNvPr id="8" name="Shape 6"/>
          <p:cNvSpPr/>
          <p:nvPr/>
        </p:nvSpPr>
        <p:spPr>
          <a:xfrm>
            <a:off x="457200" y="1097280"/>
            <a:ext cx="109728" cy="777240"/>
          </a:xfrm>
          <a:prstGeom prst="rect">
            <a:avLst/>
          </a:prstGeom>
          <a:solidFill>
            <a:srgbClr val="667E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Por que sistemas superam metas</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667EEA"/>
            </a:solidFill>
            <a:prstDash val="solid"/>
          </a:ln>
        </p:spPr>
      </p:sp>
      <p:sp>
        <p:nvSpPr>
          <p:cNvPr id="12" name="Shape 10"/>
          <p:cNvSpPr/>
          <p:nvPr/>
        </p:nvSpPr>
        <p:spPr>
          <a:xfrm>
            <a:off x="457200" y="2011680"/>
            <a:ext cx="109728" cy="777240"/>
          </a:xfrm>
          <a:prstGeom prst="rect">
            <a:avLst/>
          </a:prstGeom>
          <a:solidFill>
            <a:srgbClr val="667E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problema do foco apenas em resultados</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667EEA"/>
            </a:solidFill>
            <a:prstDash val="solid"/>
          </a:ln>
        </p:spPr>
      </p:sp>
      <p:sp>
        <p:nvSpPr>
          <p:cNvPr id="16" name="Shape 14"/>
          <p:cNvSpPr/>
          <p:nvPr/>
        </p:nvSpPr>
        <p:spPr>
          <a:xfrm>
            <a:off x="457200" y="2926080"/>
            <a:ext cx="109728" cy="777240"/>
          </a:xfrm>
          <a:prstGeom prst="rect">
            <a:avLst/>
          </a:prstGeom>
          <a:solidFill>
            <a:srgbClr val="667E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Identidade &gt; Resultado</a:t>
            </a:r>
            <a:endParaRPr lang="en-US" sz="1400" dirty="0"/>
          </a:p>
        </p:txBody>
      </p:sp>
      <p:sp>
        <p:nvSpPr>
          <p:cNvPr id="19" name="Shape 17"/>
          <p:cNvSpPr/>
          <p:nvPr/>
        </p:nvSpPr>
        <p:spPr>
          <a:xfrm>
            <a:off x="8686800" y="4114800"/>
            <a:ext cx="457200" cy="457200"/>
          </a:xfrm>
          <a:prstGeom prst="rect">
            <a:avLst/>
          </a:prstGeom>
          <a:solidFill>
            <a:srgbClr val="667EEA"/>
          </a:solidFill>
          <a:ln/>
        </p:spPr>
      </p:sp>
      <p:pic>
        <p:nvPicPr>
          <p:cNvPr id="20"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4572000" cy="45720"/>
          </a:xfrm>
          <a:prstGeom prst="rect">
            <a:avLst/>
          </a:prstGeom>
          <a:solidFill>
            <a:srgbClr val="22C55E"/>
          </a:solidFill>
          <a:ln/>
        </p:spPr>
      </p:sp>
      <p:sp>
        <p:nvSpPr>
          <p:cNvPr id="4" name="Shape 2"/>
          <p:cNvSpPr/>
          <p:nvPr/>
        </p:nvSpPr>
        <p:spPr>
          <a:xfrm>
            <a:off x="274320" y="137160"/>
            <a:ext cx="548640" cy="548640"/>
          </a:xfrm>
          <a:prstGeom prst="ellipse">
            <a:avLst/>
          </a:prstGeom>
          <a:solidFill>
            <a:srgbClr val="22C55E"/>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Seu sistema de estudo completo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22C55E"/>
            </a:solidFill>
            <a:prstDash val="solid"/>
          </a:ln>
        </p:spPr>
      </p:sp>
      <p:sp>
        <p:nvSpPr>
          <p:cNvPr id="8" name="Shape 6"/>
          <p:cNvSpPr/>
          <p:nvPr/>
        </p:nvSpPr>
        <p:spPr>
          <a:xfrm>
            <a:off x="457200" y="1097280"/>
            <a:ext cx="109728" cy="777240"/>
          </a:xfrm>
          <a:prstGeom prst="rect">
            <a:avLst/>
          </a:prstGeom>
          <a:solidFill>
            <a:srgbClr val="22C55E"/>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Componentes: rotina, rituais, ambiente, ferramentas</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22C55E"/>
            </a:solidFill>
            <a:prstDash val="solid"/>
          </a:ln>
        </p:spPr>
      </p:sp>
      <p:sp>
        <p:nvSpPr>
          <p:cNvPr id="12" name="Shape 10"/>
          <p:cNvSpPr/>
          <p:nvPr/>
        </p:nvSpPr>
        <p:spPr>
          <a:xfrm>
            <a:off x="457200" y="2011680"/>
            <a:ext cx="109728" cy="777240"/>
          </a:xfrm>
          <a:prstGeom prst="rect">
            <a:avLst/>
          </a:prstGeom>
          <a:solidFill>
            <a:srgbClr val="22C55E"/>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Ciclo diário, semanal, mensal</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22C55E"/>
            </a:solidFill>
            <a:prstDash val="solid"/>
          </a:ln>
        </p:spPr>
      </p:sp>
      <p:sp>
        <p:nvSpPr>
          <p:cNvPr id="16" name="Shape 14"/>
          <p:cNvSpPr/>
          <p:nvPr/>
        </p:nvSpPr>
        <p:spPr>
          <a:xfrm>
            <a:off x="457200" y="2926080"/>
            <a:ext cx="109728" cy="777240"/>
          </a:xfrm>
          <a:prstGeom prst="rect">
            <a:avLst/>
          </a:prstGeom>
          <a:solidFill>
            <a:srgbClr val="22C55E"/>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Flexibilidade dentro de estrutura</a:t>
            </a:r>
            <a:endParaRPr lang="en-US" sz="1400" dirty="0"/>
          </a:p>
        </p:txBody>
      </p:sp>
      <p:sp>
        <p:nvSpPr>
          <p:cNvPr id="19" name="Shape 17"/>
          <p:cNvSpPr/>
          <p:nvPr/>
        </p:nvSpPr>
        <p:spPr>
          <a:xfrm>
            <a:off x="8686800" y="4114800"/>
            <a:ext cx="457200" cy="457200"/>
          </a:xfrm>
          <a:prstGeom prst="rect">
            <a:avLst/>
          </a:prstGeom>
          <a:solidFill>
            <a:srgbClr val="22C55E"/>
          </a:solidFill>
          <a:ln/>
        </p:spPr>
      </p:sp>
      <p:pic>
        <p:nvPicPr>
          <p:cNvPr id="20"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6858000" cy="45720"/>
          </a:xfrm>
          <a:prstGeom prst="rect">
            <a:avLst/>
          </a:prstGeom>
          <a:solidFill>
            <a:srgbClr val="3B82F6"/>
          </a:solidFill>
          <a:ln/>
        </p:spPr>
      </p:sp>
      <p:sp>
        <p:nvSpPr>
          <p:cNvPr id="4" name="Shape 2"/>
          <p:cNvSpPr/>
          <p:nvPr/>
        </p:nvSpPr>
        <p:spPr>
          <a:xfrm>
            <a:off x="274320" y="137160"/>
            <a:ext cx="548640" cy="548640"/>
          </a:xfrm>
          <a:prstGeom prst="ellipse">
            <a:avLst/>
          </a:prstGeom>
          <a:solidFill>
            <a:srgbClr val="3B82F6"/>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Manutenção do sistema</a:t>
            </a:r>
            <a:endParaRPr lang="en-US" sz="2000" dirty="0"/>
          </a:p>
        </p:txBody>
      </p:sp>
      <p:sp>
        <p:nvSpPr>
          <p:cNvPr id="7" name="Shape 5"/>
          <p:cNvSpPr/>
          <p:nvPr/>
        </p:nvSpPr>
        <p:spPr>
          <a:xfrm>
            <a:off x="457200" y="1097280"/>
            <a:ext cx="3931920" cy="777240"/>
          </a:xfrm>
          <a:prstGeom prst="roundRect">
            <a:avLst/>
          </a:prstGeom>
          <a:solidFill>
            <a:srgbClr val="2A2A4A"/>
          </a:solidFill>
          <a:ln w="19050">
            <a:solidFill>
              <a:srgbClr val="3B82F6"/>
            </a:solidFill>
            <a:prstDash val="solid"/>
          </a:ln>
        </p:spPr>
      </p:sp>
      <p:sp>
        <p:nvSpPr>
          <p:cNvPr id="8" name="Shape 6"/>
          <p:cNvSpPr/>
          <p:nvPr/>
        </p:nvSpPr>
        <p:spPr>
          <a:xfrm>
            <a:off x="457200" y="1097280"/>
            <a:ext cx="109728" cy="777240"/>
          </a:xfrm>
          <a:prstGeom prst="rect">
            <a:avLst/>
          </a:prstGeom>
          <a:solidFill>
            <a:srgbClr val="3B82F6"/>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Revisões periódicas</a:t>
            </a:r>
            <a:endParaRPr lang="en-US" sz="1400" dirty="0"/>
          </a:p>
        </p:txBody>
      </p:sp>
      <p:sp>
        <p:nvSpPr>
          <p:cNvPr id="11" name="Shape 9"/>
          <p:cNvSpPr/>
          <p:nvPr/>
        </p:nvSpPr>
        <p:spPr>
          <a:xfrm>
            <a:off x="4572000" y="1097280"/>
            <a:ext cx="3931920" cy="777240"/>
          </a:xfrm>
          <a:prstGeom prst="roundRect">
            <a:avLst/>
          </a:prstGeom>
          <a:solidFill>
            <a:srgbClr val="2A2A4A"/>
          </a:solidFill>
          <a:ln w="19050">
            <a:solidFill>
              <a:srgbClr val="3B82F6"/>
            </a:solidFill>
            <a:prstDash val="solid"/>
          </a:ln>
        </p:spPr>
      </p:sp>
      <p:sp>
        <p:nvSpPr>
          <p:cNvPr id="12" name="Shape 10"/>
          <p:cNvSpPr/>
          <p:nvPr/>
        </p:nvSpPr>
        <p:spPr>
          <a:xfrm>
            <a:off x="4572000" y="1097280"/>
            <a:ext cx="109728" cy="777240"/>
          </a:xfrm>
          <a:prstGeom prst="rect">
            <a:avLst/>
          </a:prstGeom>
          <a:solidFill>
            <a:srgbClr val="3B82F6"/>
          </a:solidFill>
          <a:ln/>
        </p:spPr>
      </p:sp>
      <p:sp>
        <p:nvSpPr>
          <p:cNvPr id="13" name="Text 11"/>
          <p:cNvSpPr/>
          <p:nvPr/>
        </p:nvSpPr>
        <p:spPr>
          <a:xfrm>
            <a:off x="48006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0749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Ajustes e iteração</a:t>
            </a:r>
            <a:endParaRPr lang="en-US" sz="1400" dirty="0"/>
          </a:p>
        </p:txBody>
      </p:sp>
      <p:sp>
        <p:nvSpPr>
          <p:cNvPr id="15" name="Shape 13"/>
          <p:cNvSpPr/>
          <p:nvPr/>
        </p:nvSpPr>
        <p:spPr>
          <a:xfrm>
            <a:off x="457200" y="2011680"/>
            <a:ext cx="3931920" cy="777240"/>
          </a:xfrm>
          <a:prstGeom prst="roundRect">
            <a:avLst/>
          </a:prstGeom>
          <a:solidFill>
            <a:srgbClr val="2A2A4A"/>
          </a:solidFill>
          <a:ln w="19050">
            <a:solidFill>
              <a:srgbClr val="3B82F6"/>
            </a:solidFill>
            <a:prstDash val="solid"/>
          </a:ln>
        </p:spPr>
      </p:sp>
      <p:sp>
        <p:nvSpPr>
          <p:cNvPr id="16" name="Shape 14"/>
          <p:cNvSpPr/>
          <p:nvPr/>
        </p:nvSpPr>
        <p:spPr>
          <a:xfrm>
            <a:off x="457200" y="2011680"/>
            <a:ext cx="109728" cy="777240"/>
          </a:xfrm>
          <a:prstGeom prst="rect">
            <a:avLst/>
          </a:prstGeom>
          <a:solidFill>
            <a:srgbClr val="3B82F6"/>
          </a:solidFill>
          <a:ln/>
        </p:spPr>
      </p:sp>
      <p:sp>
        <p:nvSpPr>
          <p:cNvPr id="17" name="Text 15"/>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Quando quebrar as regras</a:t>
            </a:r>
            <a:endParaRPr lang="en-US" sz="1400" dirty="0"/>
          </a:p>
        </p:txBody>
      </p:sp>
      <p:sp>
        <p:nvSpPr>
          <p:cNvPr id="19" name="Shape 17"/>
          <p:cNvSpPr/>
          <p:nvPr/>
        </p:nvSpPr>
        <p:spPr>
          <a:xfrm>
            <a:off x="4572000" y="2011680"/>
            <a:ext cx="3931920" cy="777240"/>
          </a:xfrm>
          <a:prstGeom prst="roundRect">
            <a:avLst/>
          </a:prstGeom>
          <a:solidFill>
            <a:srgbClr val="2A2A4A"/>
          </a:solidFill>
          <a:ln w="19050">
            <a:solidFill>
              <a:srgbClr val="3B82F6"/>
            </a:solidFill>
            <a:prstDash val="solid"/>
          </a:ln>
        </p:spPr>
      </p:sp>
      <p:sp>
        <p:nvSpPr>
          <p:cNvPr id="20" name="Shape 18"/>
          <p:cNvSpPr/>
          <p:nvPr/>
        </p:nvSpPr>
        <p:spPr>
          <a:xfrm>
            <a:off x="4572000" y="2011680"/>
            <a:ext cx="109728" cy="777240"/>
          </a:xfrm>
          <a:prstGeom prst="rect">
            <a:avLst/>
          </a:prstGeom>
          <a:solidFill>
            <a:srgbClr val="3B82F6"/>
          </a:solidFill>
          <a:ln/>
        </p:spPr>
      </p:sp>
      <p:sp>
        <p:nvSpPr>
          <p:cNvPr id="21" name="Text 19"/>
          <p:cNvSpPr/>
          <p:nvPr/>
        </p:nvSpPr>
        <p:spPr>
          <a:xfrm>
            <a:off x="48006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50749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Evoluindo com você</a:t>
            </a:r>
            <a:endParaRPr lang="en-US" sz="1400" dirty="0"/>
          </a:p>
        </p:txBody>
      </p:sp>
      <p:sp>
        <p:nvSpPr>
          <p:cNvPr id="23" name="Shape 21"/>
          <p:cNvSpPr/>
          <p:nvPr/>
        </p:nvSpPr>
        <p:spPr>
          <a:xfrm>
            <a:off x="8686800" y="4114800"/>
            <a:ext cx="457200" cy="457200"/>
          </a:xfrm>
          <a:prstGeom prst="rect">
            <a:avLst/>
          </a:prstGeom>
          <a:solidFill>
            <a:srgbClr val="3B82F6"/>
          </a:solidFill>
          <a:ln/>
        </p:spPr>
      </p:sp>
      <p:pic>
        <p:nvPicPr>
          <p:cNvPr id="24"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9144000" cy="45720"/>
          </a:xfrm>
          <a:prstGeom prst="rect">
            <a:avLst/>
          </a:prstGeom>
          <a:solidFill>
            <a:srgbClr val="9333EA"/>
          </a:solidFill>
          <a:ln/>
        </p:spPr>
      </p:sp>
      <p:sp>
        <p:nvSpPr>
          <p:cNvPr id="4" name="Shape 2"/>
          <p:cNvSpPr/>
          <p:nvPr/>
        </p:nvSpPr>
        <p:spPr>
          <a:xfrm>
            <a:off x="274320" y="137160"/>
            <a:ext cx="548640" cy="548640"/>
          </a:xfrm>
          <a:prstGeom prst="ellipse">
            <a:avLst/>
          </a:prstGeom>
          <a:solidFill>
            <a:srgbClr val="9333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Mentalidade de longo prazo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9333EA"/>
            </a:solidFill>
            <a:prstDash val="solid"/>
          </a:ln>
        </p:spPr>
      </p:sp>
      <p:sp>
        <p:nvSpPr>
          <p:cNvPr id="8" name="Shape 6"/>
          <p:cNvSpPr/>
          <p:nvPr/>
        </p:nvSpPr>
        <p:spPr>
          <a:xfrm>
            <a:off x="457200" y="1097280"/>
            <a:ext cx="109728" cy="777240"/>
          </a:xfrm>
          <a:prstGeom prst="rect">
            <a:avLst/>
          </a:prstGeom>
          <a:solidFill>
            <a:srgbClr val="9333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Estudar para a vida, não só para a prova</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9333EA"/>
            </a:solidFill>
            <a:prstDash val="solid"/>
          </a:ln>
        </p:spPr>
      </p:sp>
      <p:sp>
        <p:nvSpPr>
          <p:cNvPr id="12" name="Shape 10"/>
          <p:cNvSpPr/>
          <p:nvPr/>
        </p:nvSpPr>
        <p:spPr>
          <a:xfrm>
            <a:off x="457200" y="2011680"/>
            <a:ext cx="109728" cy="777240"/>
          </a:xfrm>
          <a:prstGeom prst="rect">
            <a:avLst/>
          </a:prstGeom>
          <a:solidFill>
            <a:srgbClr val="9333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Aprendizado contínuo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9333EA"/>
            </a:solidFill>
            <a:prstDash val="solid"/>
          </a:ln>
        </p:spPr>
      </p:sp>
      <p:sp>
        <p:nvSpPr>
          <p:cNvPr id="16" name="Shape 14"/>
          <p:cNvSpPr/>
          <p:nvPr/>
        </p:nvSpPr>
        <p:spPr>
          <a:xfrm>
            <a:off x="457200" y="2926080"/>
            <a:ext cx="109728" cy="777240"/>
          </a:xfrm>
          <a:prstGeom prst="rect">
            <a:avLst/>
          </a:prstGeom>
          <a:solidFill>
            <a:srgbClr val="9333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Identidade de pessoa que aprende</a:t>
            </a:r>
            <a:endParaRPr lang="en-US" sz="1400" dirty="0"/>
          </a:p>
        </p:txBody>
      </p:sp>
      <p:sp>
        <p:nvSpPr>
          <p:cNvPr id="19" name="Shape 17"/>
          <p:cNvSpPr/>
          <p:nvPr/>
        </p:nvSpPr>
        <p:spPr>
          <a:xfrm>
            <a:off x="8686800" y="4114800"/>
            <a:ext cx="457200" cy="457200"/>
          </a:xfrm>
          <a:prstGeom prst="rect">
            <a:avLst/>
          </a:prstGeom>
          <a:solidFill>
            <a:srgbClr val="9333EA"/>
          </a:solidFill>
          <a:ln/>
        </p:spPr>
      </p:sp>
      <p:pic>
        <p:nvPicPr>
          <p:cNvPr id="20"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Pontos-Chave</a:t>
            </a:r>
            <a:endParaRPr lang="en-US" sz="2000" dirty="0"/>
          </a:p>
        </p:txBody>
      </p:sp>
      <p:sp>
        <p:nvSpPr>
          <p:cNvPr id="4" name="Shape 2"/>
          <p:cNvSpPr/>
          <p:nvPr/>
        </p:nvSpPr>
        <p:spPr>
          <a:xfrm>
            <a:off x="0" y="777240"/>
            <a:ext cx="9144000" cy="45720"/>
          </a:xfrm>
          <a:prstGeom prst="rect">
            <a:avLst/>
          </a:prstGeom>
          <a:solidFill>
            <a:srgbClr val="22C55E"/>
          </a:solidFill>
          <a:ln/>
        </p:spPr>
      </p:sp>
      <p:sp>
        <p:nvSpPr>
          <p:cNvPr id="5" name="Shape 3"/>
          <p:cNvSpPr/>
          <p:nvPr/>
        </p:nvSpPr>
        <p:spPr>
          <a:xfrm>
            <a:off x="685800" y="1097280"/>
            <a:ext cx="54864" cy="3200400"/>
          </a:xfrm>
          <a:prstGeom prst="rect">
            <a:avLst/>
          </a:prstGeom>
          <a:solidFill>
            <a:srgbClr val="3D3D5C"/>
          </a:solidFill>
          <a:ln/>
        </p:spPr>
      </p:sp>
      <p:pic>
        <p:nvPicPr>
          <p:cNvPr id="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Infográfico da Aula</a:t>
            </a:r>
            <a:endParaRPr lang="en-US" sz="2000" dirty="0"/>
          </a:p>
        </p:txBody>
      </p:sp>
      <p:pic>
        <p:nvPicPr>
          <p:cNvPr id="4" name="Image 0" descr="preencoded.png">    </p:cNvPr>
          <p:cNvPicPr>
            <a:picLocks noChangeAspect="1"/>
          </p:cNvPicPr>
          <p:nvPr/>
        </p:nvPicPr>
        <p:blipFill>
          <a:blip r:embed="rId1"/>
          <a:stretch>
            <a:fillRect/>
          </a:stretch>
        </p:blipFill>
        <p:spPr>
          <a:xfrm>
            <a:off x="274320" y="914400"/>
            <a:ext cx="5486400" cy="3383280"/>
          </a:xfrm>
          <a:prstGeom prst="rect">
            <a:avLst/>
          </a:prstGeom>
        </p:spPr>
      </p:pic>
      <p:sp>
        <p:nvSpPr>
          <p:cNvPr id="5" name="Text 2"/>
          <p:cNvSpPr/>
          <p:nvPr/>
        </p:nvSpPr>
        <p:spPr>
          <a:xfrm>
            <a:off x="5943600" y="914400"/>
            <a:ext cx="3017520" cy="365760"/>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Conceitos Principais:</a:t>
            </a:r>
            <a:endParaRPr lang="en-US" sz="1200" dirty="0"/>
          </a:p>
        </p:txBody>
      </p:sp>
      <p:pic>
        <p:nvPicPr>
          <p:cNvPr id="7" name="Image 1" descr="preencoded.png">    </p:cNvPr>
          <p:cNvPicPr>
            <a:picLocks noChangeAspect="1"/>
          </p:cNvPicPr>
          <p:nvPr/>
        </p:nvPicPr>
        <p:blipFill>
          <a:blip r:embed="rId2"/>
          <a:stretch>
            <a:fillRect/>
          </a:stretch>
        </p:blipFill>
        <p:spPr>
          <a:xfrm>
            <a:off x="7498080" y="4389120"/>
            <a:ext cx="137160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Atividade Prática</a:t>
            </a:r>
            <a:endParaRPr lang="en-US" sz="2000" dirty="0"/>
          </a:p>
        </p:txBody>
      </p:sp>
      <p:sp>
        <p:nvSpPr>
          <p:cNvPr id="4" name="Shape 2"/>
          <p:cNvSpPr/>
          <p:nvPr/>
        </p:nvSpPr>
        <p:spPr>
          <a:xfrm>
            <a:off x="457200" y="1005840"/>
            <a:ext cx="8229600" cy="2560320"/>
          </a:xfrm>
          <a:prstGeom prst="roundRect">
            <a:avLst/>
          </a:prstGeom>
          <a:solidFill>
            <a:srgbClr val="2A2A4A"/>
          </a:solidFill>
          <a:ln w="38100">
            <a:solidFill>
              <a:srgbClr val="22C55E"/>
            </a:solidFill>
            <a:prstDash val="solid"/>
          </a:ln>
        </p:spPr>
      </p:sp>
      <p:sp>
        <p:nvSpPr>
          <p:cNvPr id="5" name="Shape 3"/>
          <p:cNvSpPr/>
          <p:nvPr/>
        </p:nvSpPr>
        <p:spPr>
          <a:xfrm>
            <a:off x="731520" y="1280160"/>
            <a:ext cx="731520" cy="731520"/>
          </a:xfrm>
          <a:prstGeom prst="ellipse">
            <a:avLst/>
          </a:prstGeom>
          <a:solidFill>
            <a:srgbClr val="22C55E"/>
          </a:solidFill>
          <a:ln/>
        </p:spPr>
      </p:sp>
      <p:sp>
        <p:nvSpPr>
          <p:cNvPr id="6" name="Text 4"/>
          <p:cNvSpPr/>
          <p:nvPr/>
        </p:nvSpPr>
        <p:spPr>
          <a:xfrm>
            <a:off x="731520" y="1371600"/>
            <a:ext cx="731520"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645920" y="1280160"/>
            <a:ext cx="6858000" cy="45720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Sua Missão:</a:t>
            </a:r>
            <a:endParaRPr lang="en-US" sz="1600" dirty="0"/>
          </a:p>
        </p:txBody>
      </p:sp>
      <p:sp>
        <p:nvSpPr>
          <p:cNvPr id="8" name="Text 6"/>
          <p:cNvSpPr/>
          <p:nvPr/>
        </p:nvSpPr>
        <p:spPr>
          <a:xfrm>
            <a:off x="1645920" y="1737360"/>
            <a:ext cx="6766560" cy="1645920"/>
          </a:xfrm>
          <a:prstGeom prst="rect">
            <a:avLst/>
          </a:prstGeom>
          <a:noFill/>
          <a:ln/>
        </p:spPr>
        <p:txBody>
          <a:bodyPr wrap="square" rtlCol="0" anchor="t"/>
          <a:lstStyle/>
          <a:p>
            <a:pPr indent="0" marL="0">
              <a:buNone/>
            </a:pPr>
            <a:r>
              <a:rPr lang="en-US" sz="1400" dirty="0">
                <a:solidFill>
                  <a:srgbClr val="FFFFFF"/>
                </a:solidFill>
                <a:latin typeface="Arial" pitchFamily="34" charset="0"/>
                <a:ea typeface="Arial" pitchFamily="34" charset="-122"/>
                <a:cs typeface="Arial" pitchFamily="34" charset="-120"/>
              </a:rPr>
              <a:t>1. **Escreva seu sistema completo:**</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Ambiente: Como é/será?</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Rituais: Quais uso?</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Rotina diária: Horários e blocos</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Técnicas: Quais priorizo?</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Recuperação: Como descanso?</a:t>
            </a:r>
            <a:endParaRPr lang="en-US" sz="1400" dirty="0"/>
          </a:p>
        </p:txBody>
      </p:sp>
      <p:sp>
        <p:nvSpPr>
          <p:cNvPr id="9" name="Shape 7"/>
          <p:cNvSpPr/>
          <p:nvPr/>
        </p:nvSpPr>
        <p:spPr>
          <a:xfrm>
            <a:off x="457200" y="3749040"/>
            <a:ext cx="8229600" cy="640080"/>
          </a:xfrm>
          <a:prstGeom prst="roundRect">
            <a:avLst/>
          </a:prstGeom>
          <a:solidFill>
            <a:srgbClr val="1E3A5F"/>
          </a:solidFill>
          <a:ln w="12700">
            <a:solidFill>
              <a:srgbClr val="667EEA"/>
            </a:solidFill>
            <a:prstDash val="solid"/>
          </a:ln>
        </p:spPr>
      </p:sp>
      <p:sp>
        <p:nvSpPr>
          <p:cNvPr id="10" name="Text 8"/>
          <p:cNvSpPr/>
          <p:nvPr/>
        </p:nvSpPr>
        <p:spPr>
          <a:xfrm>
            <a:off x="457200" y="3886200"/>
            <a:ext cx="8229600" cy="365760"/>
          </a:xfrm>
          <a:prstGeom prst="rect">
            <a:avLst/>
          </a:prstGeom>
          <a:noFill/>
          <a:ln/>
        </p:spPr>
        <p:txBody>
          <a:bodyPr wrap="square"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 Envie na área de atividades do Moodle</a:t>
            </a:r>
            <a:endParaRPr lang="en-US" sz="1300" dirty="0"/>
          </a:p>
        </p:txBody>
      </p:sp>
      <p:pic>
        <p:nvPicPr>
          <p:cNvPr id="12"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Aula 29 - Encerramento</a:t>
            </a:r>
            <a:endParaRPr lang="en-US" sz="2000" dirty="0"/>
          </a:p>
        </p:txBody>
      </p:sp>
      <p:sp>
        <p:nvSpPr>
          <p:cNvPr id="4" name="Shape 2"/>
          <p:cNvSpPr/>
          <p:nvPr/>
        </p:nvSpPr>
        <p:spPr>
          <a:xfrm>
            <a:off x="0" y="822960"/>
            <a:ext cx="2743200" cy="91440"/>
          </a:xfrm>
          <a:prstGeom prst="rect">
            <a:avLst/>
          </a:prstGeom>
          <a:solidFill>
            <a:srgbClr val="667EEA"/>
          </a:solidFill>
          <a:ln/>
        </p:spPr>
      </p:sp>
      <p:sp>
        <p:nvSpPr>
          <p:cNvPr id="5" name="Shape 3"/>
          <p:cNvSpPr/>
          <p:nvPr/>
        </p:nvSpPr>
        <p:spPr>
          <a:xfrm>
            <a:off x="3200400" y="822960"/>
            <a:ext cx="2743200" cy="91440"/>
          </a:xfrm>
          <a:prstGeom prst="rect">
            <a:avLst/>
          </a:prstGeom>
          <a:solidFill>
            <a:srgbClr val="22C55E"/>
          </a:solidFill>
          <a:ln/>
        </p:spPr>
      </p:sp>
      <p:sp>
        <p:nvSpPr>
          <p:cNvPr id="6" name="Shape 4"/>
          <p:cNvSpPr/>
          <p:nvPr/>
        </p:nvSpPr>
        <p:spPr>
          <a:xfrm>
            <a:off x="6400800" y="822960"/>
            <a:ext cx="2743200" cy="91440"/>
          </a:xfrm>
          <a:prstGeom prst="rect">
            <a:avLst/>
          </a:prstGeom>
          <a:solidFill>
            <a:srgbClr val="3B82F6"/>
          </a:solidFill>
          <a:ln/>
        </p:spPr>
      </p:sp>
      <p:sp>
        <p:nvSpPr>
          <p:cNvPr id="7" name="Shape 5"/>
          <p:cNvSpPr/>
          <p:nvPr/>
        </p:nvSpPr>
        <p:spPr>
          <a:xfrm>
            <a:off x="914400" y="1371600"/>
            <a:ext cx="7315200" cy="1828800"/>
          </a:xfrm>
          <a:prstGeom prst="roundRect">
            <a:avLst/>
          </a:prstGeom>
          <a:solidFill>
            <a:srgbClr val="2A2A4A"/>
          </a:solidFill>
          <a:ln w="25400">
            <a:solidFill>
              <a:srgbClr val="667EEA"/>
            </a:solidFill>
            <a:prstDash val="solid"/>
          </a:ln>
        </p:spPr>
      </p:sp>
      <p:sp>
        <p:nvSpPr>
          <p:cNvPr id="8" name="Text 6"/>
          <p:cNvSpPr/>
          <p:nvPr/>
        </p:nvSpPr>
        <p:spPr>
          <a:xfrm>
            <a:off x="1097280" y="1371600"/>
            <a:ext cx="457200" cy="731520"/>
          </a:xfrm>
          <a:prstGeom prst="rect">
            <a:avLst/>
          </a:prstGeom>
          <a:noFill/>
          <a:ln/>
        </p:spPr>
        <p:txBody>
          <a:bodyPr wrap="square" rtlCol="0" anchor="ctr"/>
          <a:lstStyle/>
          <a:p>
            <a:pPr indent="0" marL="0">
              <a:buNone/>
            </a:pPr>
            <a:r>
              <a:rPr lang="en-US" sz="4800" i="1" dirty="0">
                <a:solidFill>
                  <a:srgbClr val="667EEA"/>
                </a:solidFill>
                <a:latin typeface="Georgia" pitchFamily="34" charset="0"/>
                <a:ea typeface="Georgia" pitchFamily="34" charset="-122"/>
                <a:cs typeface="Georgia" pitchFamily="34" charset="-120"/>
              </a:rPr>
              <a:t>"</a:t>
            </a:r>
            <a:endParaRPr lang="en-US" sz="4800" dirty="0"/>
          </a:p>
        </p:txBody>
      </p:sp>
      <p:sp>
        <p:nvSpPr>
          <p:cNvPr id="9" name="Text 7"/>
          <p:cNvSpPr/>
          <p:nvPr/>
        </p:nvSpPr>
        <p:spPr>
          <a:xfrm>
            <a:off x="1371600" y="1737360"/>
            <a:ext cx="6400800" cy="1097280"/>
          </a:xfrm>
          <a:prstGeom prst="rect">
            <a:avLst/>
          </a:prstGeom>
          <a:noFill/>
          <a:ln/>
        </p:spPr>
        <p:txBody>
          <a:bodyPr wrap="square" rtlCol="0" anchor="ctr"/>
          <a:lstStyle/>
          <a:p>
            <a:pPr algn="ctr" indent="0" marL="0">
              <a:buNone/>
            </a:pPr>
            <a:endParaRPr lang="en-US" sz="1600" dirty="0"/>
          </a:p>
        </p:txBody>
      </p:sp>
      <p:sp>
        <p:nvSpPr>
          <p:cNvPr id="10" name="Shape 8"/>
          <p:cNvSpPr/>
          <p:nvPr/>
        </p:nvSpPr>
        <p:spPr>
          <a:xfrm>
            <a:off x="0" y="3840480"/>
            <a:ext cx="9144000" cy="822960"/>
          </a:xfrm>
          <a:prstGeom prst="rect">
            <a:avLst/>
          </a:prstGeom>
          <a:solidFill>
            <a:srgbClr val="0F172A"/>
          </a:solidFill>
          <a:ln/>
        </p:spPr>
      </p:sp>
      <p:sp>
        <p:nvSpPr>
          <p:cNvPr id="11" name="Text 9"/>
          <p:cNvSpPr/>
          <p:nvPr/>
        </p:nvSpPr>
        <p:spPr>
          <a:xfrm>
            <a:off x="457200" y="3977640"/>
            <a:ext cx="3657600" cy="27432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Educa com Talento</a:t>
            </a:r>
            <a:endParaRPr lang="en-US" sz="1400" dirty="0"/>
          </a:p>
        </p:txBody>
      </p:sp>
      <p:sp>
        <p:nvSpPr>
          <p:cNvPr id="12" name="Text 10"/>
          <p:cNvSpPr/>
          <p:nvPr/>
        </p:nvSpPr>
        <p:spPr>
          <a:xfrm>
            <a:off x="457200" y="4251960"/>
            <a:ext cx="3657600" cy="228600"/>
          </a:xfrm>
          <a:prstGeom prst="rect">
            <a:avLst/>
          </a:prstGeom>
          <a:noFill/>
          <a:ln/>
        </p:spPr>
        <p:txBody>
          <a:bodyPr wrap="square" rtlCol="0" anchor="ctr"/>
          <a:lstStyle/>
          <a:p>
            <a:pPr indent="0" marL="0">
              <a:buNone/>
            </a:pPr>
            <a:r>
              <a:rPr lang="en-US" sz="1000" dirty="0">
                <a:solidFill>
                  <a:srgbClr val="667EEA"/>
                </a:solidFill>
                <a:latin typeface="Arial" pitchFamily="34" charset="0"/>
                <a:ea typeface="Arial" pitchFamily="34" charset="-122"/>
                <a:cs typeface="Arial" pitchFamily="34" charset="-120"/>
              </a:rPr>
              <a:t>www.educacomtalento.com.br</a:t>
            </a:r>
            <a:endParaRPr lang="en-US" sz="1000" dirty="0"/>
          </a:p>
        </p:txBody>
      </p:sp>
      <p:pic>
        <p:nvPicPr>
          <p:cNvPr id="14" name="Image 0" descr="preencoded.png">    </p:cNvPr>
          <p:cNvPicPr>
            <a:picLocks noChangeAspect="1"/>
          </p:cNvPicPr>
          <p:nvPr/>
        </p:nvPicPr>
        <p:blipFill>
          <a:blip r:embed="rId1"/>
          <a:stretch>
            <a:fillRect/>
          </a:stretch>
        </p:blipFill>
        <p:spPr>
          <a:xfrm>
            <a:off x="6400800" y="3886200"/>
            <a:ext cx="22860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Educa com Talento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29: Construindo Sistemas Sustentáveis</dc:title>
  <dc:subject>Foco e Produtividade nos Estudos</dc:subject>
  <dc:creator>Educa com Talento</dc:creator>
  <cp:lastModifiedBy>Educa com Talento</cp:lastModifiedBy>
  <cp:revision>1</cp:revision>
  <dcterms:created xsi:type="dcterms:W3CDTF">2025-12-18T20:34:06Z</dcterms:created>
  <dcterms:modified xsi:type="dcterms:W3CDTF">2025-12-18T20:34:06Z</dcterms:modified>
</cp:coreProperties>
</file>