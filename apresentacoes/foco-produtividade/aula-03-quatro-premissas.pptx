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Olá! Que bom ter você aqui na Aula 3. Nas aulas anteriores, definimos o que são hiperfoco e hiperprodutividade. Agora, vamos dar um passo fundamental: entender as Quatro Premissas que governam como nossa atenção funciona.
Eu chamo essas premissas de "regras do jogo". Quando você joga um jogo sem conhecer as regras, você perde. Mas quando entende as regras, pode jogar de forma estratégica e vencer.
Com a atenção é a mesma coisa. Muita gente luta contra a própria natureza da mente, fica frustrada, e desiste. Mas quando você aceita como sua mente funciona, pode trabalhar com ela, não contra ela.
Vamos às quatro premissas.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Nesta aula, você vai aprender os conceitos principais apresentados nos objetivos. Olá! Que bom ter você aqui na Aula 3. Nas aulas anteriores, definimos o que são hiperfoco e hiperprodutividade. Agora, vamos dar um passo fundamental: entender as Quatro Premissas que governam 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Premissa 1: Sua atenção é limitada
A primeira premissa é talvez a mais importante: sua atenção é um recurso limitado.
Imagine sua atenção como um tanque de combustível. Cada vez que você foca em algo, está gastando desse tanque. E aqui está o problema: o tanque é menor do que você imagina.
Pesquisas mostram que conseguimos manter atenção profunda por no máximo 45 a 90 minutos antes de precisar de uma pausa. Além disso, só conseguimos manter na mente de 3 a 4 coisas ao mesmo tempo.
E isso nos leva a uma verdade inconveniente: multitarefa é um mito.
Quando você acha que está fazendo duas coisas ao mesmo tempo, na verdade está alternando rapidamente entre elas. E cada alternância custa energia. O resultado? Você se cansa mais rápido e faz ambas as tarefas pior do que faria se fizesse uma de cada vez.
Então, primeira lição: trate sua atenção como o recurso precioso que ela é. Não a desperdice com coisas que não importam. Não tente fazer várias coisas ao mesmo tempo. Escolha uma tarefa, dê toda sua atenção a ela, e só depois passe para a próxima.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Premissa 2: O foco precisa ser intencional
Segunda premissa: o foco não acontece automaticamente - ele precisa ser uma escolha consciente.
Nosso cérebro evoluiu para buscar novidade. Há milhares de anos, essa característica era essencial para sobrevivência. Um barulho novo poderia ser um predador. Um movimento diferente poderia ser uma oportunidade de caça.
Mas hoje, essa mesma característica nos sabota. Cada notificação, cada e-mail, cada atualização nas redes sociais ativa esse instinto de buscar novidade. E nosso pobre cérebro, seguindo sua programação ancestral, quer olhar.
A conclusão? Você não pode esperar que o foco venha naturalmente. Ele não vai vir. Você precisa escolher focar, conscientemente, repetidamente.
Isso significa que, a cada vez que sua mente quiser pular para outra coisa, você vai ter que dizer "não, agora estou focado nisso". É um esforço intencional. E com prática, fica mais fácil.
Mas nunca completamente automático. Mesmo pessoas com altíssima capacidade de concentração têm que fazer essa escolha consciente.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Premissa 3: O ambiente determina seu foco
Terceira premissa: seu ambiente de estudo determina 80% da sua capacidade de focar.
Você pode ter toda a força de vontade do mundo, mas se estiver estudando com o celular do lado, com a TV ligada, e com pessoas entrando e saindo do quarto, seu foco vai ser constantemente interrompido.
Por quê? Porque cada estímulo no ambiente é um potencial "sequestrador" da sua atenção. E lembra da premissa 1? Sua atenção é limitada. Se você gastar energia resistindo a distrações, sobra menos energia para o estudo em si.
A solução não é ter mais força de vontade. A solução é desenhar seu ambiente para que focar seja o caminho de menor resistência.
Isso significa:
- Celular em outro cômodo, ou no mínimo no modo avião
- Notificações do computador desligadas
- Ambiente organizado, com apenas o material necessário
- Avisar pessoas ao redor que você está em período de foco
- Usar fones de ouvido com ruído branco ou música sem letra, se necessário
Quando o ambiente está a seu favor, focar deixa de ser uma luta constante.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Premissa 4: A mente vagueia naturalmente
E a quarta premissa: sua mente vai vaguear, e isso é normal.
Mesmo nas melhores condições, com o ambiente perfeito e a intenção clara, sua mente vai escapar de vez em quando. Você vai estar lendo um parágrafo e de repente percebe que está pensando no almoço, ou naquela conversa de ontem.
Isso se chama "mind wandering" - vagueamento mental - e é absolutamente normal. Pesquisas mostram que passamos cerca de 47% do nosso tempo acordado com a mente vagueando.
Então por favor, não se culpe quando isso acontecer. A culpa não ajuda em nada. Na verdade, atrapalha, porque cria emoções negativas que drenam ainda mais sua energia.
O que você faz quando percebe que sua mente vagueou é o que importa. Simplesmente:
1. Note que vagou - sem julgamento
2. Gentilmente traga o foco de volta
3. Continue de onde parou
É isso. Simples assim. E toda vez que você faz isso, está fortalecendo seu "músculo" da atenção.
Na verdade, no Módulo 2 você vai descobrir que esse vagueamento tem um propósito importante no aprendizado. Mas por enquanto, o importante é: não lute contra ele, apenas redirecione.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dos pontos principais da aula. Atenção limitada = recurso precioso, não desperdice. Foco intencional = escolha consciente, repetida. Ambiente é 80% do sucesso = desenhe a seu favor. Vagueamento é normal = redirecione sem culpa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infográfico resume visualmente os principais conceitos da aula. Use-o para reforçar o aprendizado. Atenção limitada = recurso precioso, não desperdice. Foco intencional = escolha consciente, repetida. Ambiente é 80% do sucesso = desenhe a seu favor. Vagueamento é normal = redirecione sem culpa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é hora da prática!  Esta atividade vai transformar seu espaço de estudo!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recapitular as quatro premissas:
1. Sua atenção é limitada - trate-a como recurso precioso
2. O foco precisa ser intencional - é uma escolha consciente
3. O ambiente determina seu foco - desenhe-o a seu favor
4. A mente vagueia naturalmente - não se culpe, apenas redirecione
A partir de agora, essas premissas vão guiar tudo que você faz em relação aos estudos. Aceite-as, trabalhe com elas, e você vai ver que focar se torna muito mais fácil.
Na Aula 4, vamos explorar um conceito crucial: a diferença entre Foco Direcionado e Foco Seduzido. Você vai entender por que às vezes parece fácil focar em certas coisas (como redes sociais) mas tão difícil focar em outras (como estudo). E como usar isso a seu favor.
Agora, sua atividade prática!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F172A"/>
          </a:solidFill>
          <a:ln/>
        </p:spPr>
      </p:sp>
      <p:sp>
        <p:nvSpPr>
          <p:cNvPr id="3" name="Text 1"/>
          <p:cNvSpPr/>
          <p:nvPr/>
        </p:nvSpPr>
        <p:spPr>
          <a:xfrm>
            <a:off x="457200" y="320040"/>
            <a:ext cx="8229600" cy="36576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1 - Hiperfoco e Hiperprodutividade | Bloco: Fundamentos</a:t>
            </a:r>
            <a:endParaRPr lang="en-US" sz="1400" dirty="0"/>
          </a:p>
        </p:txBody>
      </p:sp>
      <p:sp>
        <p:nvSpPr>
          <p:cNvPr id="4" name="Shape 2"/>
          <p:cNvSpPr/>
          <p:nvPr/>
        </p:nvSpPr>
        <p:spPr>
          <a:xfrm>
            <a:off x="274320" y="1371600"/>
            <a:ext cx="73152" cy="2286000"/>
          </a:xfrm>
          <a:prstGeom prst="rect">
            <a:avLst/>
          </a:prstGeom>
          <a:solidFill>
            <a:srgbClr val="667EEA"/>
          </a:solidFill>
          <a:ln/>
        </p:spPr>
      </p:sp>
      <p:sp>
        <p:nvSpPr>
          <p:cNvPr id="5" name="Shape 3"/>
          <p:cNvSpPr/>
          <p:nvPr/>
        </p:nvSpPr>
        <p:spPr>
          <a:xfrm>
            <a:off x="548640" y="1463040"/>
            <a:ext cx="1097280" cy="1097280"/>
          </a:xfrm>
          <a:prstGeom prst="ellipse">
            <a:avLst/>
          </a:prstGeom>
          <a:solidFill>
            <a:srgbClr val="667EEA"/>
          </a:solidFill>
          <a:ln/>
        </p:spPr>
      </p:sp>
      <p:sp>
        <p:nvSpPr>
          <p:cNvPr id="6" name="Text 4"/>
          <p:cNvSpPr/>
          <p:nvPr/>
        </p:nvSpPr>
        <p:spPr>
          <a:xfrm>
            <a:off x="548640" y="1691640"/>
            <a:ext cx="1097280" cy="64008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03</a:t>
            </a:r>
            <a:endParaRPr lang="en-US" sz="3200" dirty="0"/>
          </a:p>
        </p:txBody>
      </p:sp>
      <p:sp>
        <p:nvSpPr>
          <p:cNvPr id="7" name="Text 5"/>
          <p:cNvSpPr/>
          <p:nvPr/>
        </p:nvSpPr>
        <p:spPr>
          <a:xfrm>
            <a:off x="1828800" y="1463040"/>
            <a:ext cx="6858000" cy="91440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As Quatro Premissas Fundamentais</a:t>
            </a:r>
            <a:endParaRPr lang="en-US" sz="2800" dirty="0"/>
          </a:p>
        </p:txBody>
      </p:sp>
      <p:sp>
        <p:nvSpPr>
          <p:cNvPr id="8" name="Text 6"/>
          <p:cNvSpPr/>
          <p:nvPr/>
        </p:nvSpPr>
        <p:spPr>
          <a:xfrm>
            <a:off x="1828800" y="2377440"/>
            <a:ext cx="6858000" cy="457200"/>
          </a:xfrm>
          <a:prstGeom prst="rect">
            <a:avLst/>
          </a:prstGeom>
          <a:noFill/>
          <a:ln/>
        </p:spPr>
        <p:txBody>
          <a:bodyPr wrap="square" rtlCol="0" anchor="ctr"/>
          <a:lstStyle/>
          <a:p>
            <a:pPr indent="0" marL="0">
              <a:buNone/>
            </a:pPr>
            <a:r>
              <a:rPr lang="en-US" sz="1600" dirty="0">
                <a:solidFill>
                  <a:srgbClr val="667EEA"/>
                </a:solidFill>
                <a:latin typeface="Arial" pitchFamily="34" charset="0"/>
                <a:ea typeface="Arial" pitchFamily="34" charset="-122"/>
                <a:cs typeface="Arial" pitchFamily="34" charset="-120"/>
              </a:rPr>
              <a:t>Foco e Produtividade nos Estudos</a:t>
            </a:r>
            <a:endParaRPr lang="en-US" sz="1600" dirty="0"/>
          </a:p>
        </p:txBody>
      </p:sp>
      <p:sp>
        <p:nvSpPr>
          <p:cNvPr id="9" name="Shape 7"/>
          <p:cNvSpPr/>
          <p:nvPr/>
        </p:nvSpPr>
        <p:spPr>
          <a:xfrm>
            <a:off x="1828800" y="3017520"/>
            <a:ext cx="2743200" cy="54864"/>
          </a:xfrm>
          <a:prstGeom prst="rect">
            <a:avLst/>
          </a:prstGeom>
          <a:solidFill>
            <a:srgbClr val="22C55E"/>
          </a:solidFill>
          <a:ln/>
        </p:spPr>
      </p:sp>
      <p:sp>
        <p:nvSpPr>
          <p:cNvPr id="10" name="Shape 8"/>
          <p:cNvSpPr/>
          <p:nvPr/>
        </p:nvSpPr>
        <p:spPr>
          <a:xfrm>
            <a:off x="457200" y="3474720"/>
            <a:ext cx="2560320" cy="731520"/>
          </a:xfrm>
          <a:prstGeom prst="roundRect">
            <a:avLst/>
          </a:prstGeom>
          <a:solidFill>
            <a:srgbClr val="2A2A4A"/>
          </a:solidFill>
          <a:ln w="12700">
            <a:solidFill>
              <a:srgbClr val="667EEA"/>
            </a:solidFill>
            <a:prstDash val="solid"/>
          </a:ln>
        </p:spPr>
      </p:sp>
      <p:sp>
        <p:nvSpPr>
          <p:cNvPr id="11" name="Text 9"/>
          <p:cNvSpPr/>
          <p:nvPr/>
        </p:nvSpPr>
        <p:spPr>
          <a:xfrm>
            <a:off x="4572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Duração: ~25 minutos</a:t>
            </a:r>
            <a:endParaRPr lang="en-US" sz="1100" dirty="0"/>
          </a:p>
        </p:txBody>
      </p:sp>
      <p:sp>
        <p:nvSpPr>
          <p:cNvPr id="12" name="Shape 10"/>
          <p:cNvSpPr/>
          <p:nvPr/>
        </p:nvSpPr>
        <p:spPr>
          <a:xfrm>
            <a:off x="3200400" y="3474720"/>
            <a:ext cx="2560320" cy="731520"/>
          </a:xfrm>
          <a:prstGeom prst="roundRect">
            <a:avLst/>
          </a:prstGeom>
          <a:solidFill>
            <a:srgbClr val="2A2A4A"/>
          </a:solidFill>
          <a:ln w="12700">
            <a:solidFill>
              <a:srgbClr val="22C55E"/>
            </a:solidFill>
            <a:prstDash val="solid"/>
          </a:ln>
        </p:spPr>
      </p:sp>
      <p:sp>
        <p:nvSpPr>
          <p:cNvPr id="13" name="Text 11"/>
          <p:cNvSpPr/>
          <p:nvPr/>
        </p:nvSpPr>
        <p:spPr>
          <a:xfrm>
            <a:off x="32004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Nível: Introdutório</a:t>
            </a:r>
            <a:endParaRPr lang="en-US" sz="1100" dirty="0"/>
          </a:p>
        </p:txBody>
      </p:sp>
      <p:sp>
        <p:nvSpPr>
          <p:cNvPr id="14" name="Shape 12"/>
          <p:cNvSpPr/>
          <p:nvPr/>
        </p:nvSpPr>
        <p:spPr>
          <a:xfrm>
            <a:off x="5943600" y="3474720"/>
            <a:ext cx="2560320" cy="731520"/>
          </a:xfrm>
          <a:prstGeom prst="roundRect">
            <a:avLst/>
          </a:prstGeom>
          <a:solidFill>
            <a:srgbClr val="2A2A4A"/>
          </a:solidFill>
          <a:ln w="12700">
            <a:solidFill>
              <a:srgbClr val="3B82F6"/>
            </a:solidFill>
            <a:prstDash val="solid"/>
          </a:ln>
        </p:spPr>
      </p:sp>
      <p:sp>
        <p:nvSpPr>
          <p:cNvPr id="15" name="Text 13"/>
          <p:cNvSpPr/>
          <p:nvPr/>
        </p:nvSpPr>
        <p:spPr>
          <a:xfrm>
            <a:off x="59436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Prático</a:t>
            </a:r>
            <a:endParaRPr lang="en-US" sz="1100" dirty="0"/>
          </a:p>
        </p:txBody>
      </p:sp>
      <p:pic>
        <p:nvPicPr>
          <p:cNvPr id="17"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Objetivos da Aula</a:t>
            </a:r>
            <a:endParaRPr lang="en-US" sz="2000" dirty="0"/>
          </a:p>
        </p:txBody>
      </p:sp>
      <p:sp>
        <p:nvSpPr>
          <p:cNvPr id="4" name="Shape 2"/>
          <p:cNvSpPr/>
          <p:nvPr/>
        </p:nvSpPr>
        <p:spPr>
          <a:xfrm>
            <a:off x="457200" y="1097280"/>
            <a:ext cx="8229600" cy="822960"/>
          </a:xfrm>
          <a:prstGeom prst="roundRect">
            <a:avLst/>
          </a:prstGeom>
          <a:solidFill>
            <a:srgbClr val="2A2A4A"/>
          </a:solidFill>
          <a:ln w="25400">
            <a:solidFill>
              <a:srgbClr val="667EEA"/>
            </a:solidFill>
            <a:prstDash val="solid"/>
          </a:ln>
        </p:spPr>
      </p:sp>
      <p:sp>
        <p:nvSpPr>
          <p:cNvPr id="5" name="Shape 3"/>
          <p:cNvSpPr/>
          <p:nvPr/>
        </p:nvSpPr>
        <p:spPr>
          <a:xfrm>
            <a:off x="640080" y="1234440"/>
            <a:ext cx="548640" cy="548640"/>
          </a:xfrm>
          <a:prstGeom prst="ellipse">
            <a:avLst/>
          </a:prstGeom>
          <a:solidFill>
            <a:srgbClr val="667EEA"/>
          </a:solidFill>
          <a:ln/>
        </p:spPr>
      </p:sp>
      <p:sp>
        <p:nvSpPr>
          <p:cNvPr id="6" name="Text 4"/>
          <p:cNvSpPr/>
          <p:nvPr/>
        </p:nvSpPr>
        <p:spPr>
          <a:xfrm>
            <a:off x="640080" y="132588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371600" y="132588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Atenção limitada</a:t>
            </a:r>
            <a:endParaRPr lang="en-US" sz="1600" dirty="0"/>
          </a:p>
        </p:txBody>
      </p:sp>
      <p:sp>
        <p:nvSpPr>
          <p:cNvPr id="8" name="Shape 6"/>
          <p:cNvSpPr/>
          <p:nvPr/>
        </p:nvSpPr>
        <p:spPr>
          <a:xfrm>
            <a:off x="457200" y="2103120"/>
            <a:ext cx="8229600" cy="822960"/>
          </a:xfrm>
          <a:prstGeom prst="roundRect">
            <a:avLst/>
          </a:prstGeom>
          <a:solidFill>
            <a:srgbClr val="2A2A4A"/>
          </a:solidFill>
          <a:ln w="25400">
            <a:solidFill>
              <a:srgbClr val="22C55E"/>
            </a:solidFill>
            <a:prstDash val="solid"/>
          </a:ln>
        </p:spPr>
      </p:sp>
      <p:sp>
        <p:nvSpPr>
          <p:cNvPr id="9" name="Shape 7"/>
          <p:cNvSpPr/>
          <p:nvPr/>
        </p:nvSpPr>
        <p:spPr>
          <a:xfrm>
            <a:off x="640080" y="2240280"/>
            <a:ext cx="548640" cy="548640"/>
          </a:xfrm>
          <a:prstGeom prst="ellipse">
            <a:avLst/>
          </a:prstGeom>
          <a:solidFill>
            <a:srgbClr val="22C55E"/>
          </a:solidFill>
          <a:ln/>
        </p:spPr>
      </p:sp>
      <p:sp>
        <p:nvSpPr>
          <p:cNvPr id="10" name="Text 8"/>
          <p:cNvSpPr/>
          <p:nvPr/>
        </p:nvSpPr>
        <p:spPr>
          <a:xfrm>
            <a:off x="640080" y="233172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p:nvPr/>
        </p:nvSpPr>
        <p:spPr>
          <a:xfrm>
            <a:off x="1371600" y="233172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Foco intencional</a:t>
            </a:r>
            <a:endParaRPr lang="en-US" sz="1600" dirty="0"/>
          </a:p>
        </p:txBody>
      </p:sp>
      <p:sp>
        <p:nvSpPr>
          <p:cNvPr id="12" name="Shape 10"/>
          <p:cNvSpPr/>
          <p:nvPr/>
        </p:nvSpPr>
        <p:spPr>
          <a:xfrm>
            <a:off x="457200" y="3108960"/>
            <a:ext cx="8229600" cy="822960"/>
          </a:xfrm>
          <a:prstGeom prst="roundRect">
            <a:avLst/>
          </a:prstGeom>
          <a:solidFill>
            <a:srgbClr val="2A2A4A"/>
          </a:solidFill>
          <a:ln w="25400">
            <a:solidFill>
              <a:srgbClr val="3B82F6"/>
            </a:solidFill>
            <a:prstDash val="solid"/>
          </a:ln>
        </p:spPr>
      </p:sp>
      <p:sp>
        <p:nvSpPr>
          <p:cNvPr id="13" name="Shape 11"/>
          <p:cNvSpPr/>
          <p:nvPr/>
        </p:nvSpPr>
        <p:spPr>
          <a:xfrm>
            <a:off x="640080" y="3246120"/>
            <a:ext cx="548640" cy="548640"/>
          </a:xfrm>
          <a:prstGeom prst="ellipse">
            <a:avLst/>
          </a:prstGeom>
          <a:solidFill>
            <a:srgbClr val="3B82F6"/>
          </a:solidFill>
          <a:ln/>
        </p:spPr>
      </p:sp>
      <p:sp>
        <p:nvSpPr>
          <p:cNvPr id="14" name="Text 12"/>
          <p:cNvSpPr/>
          <p:nvPr/>
        </p:nvSpPr>
        <p:spPr>
          <a:xfrm>
            <a:off x="640080" y="333756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p:nvPr/>
        </p:nvSpPr>
        <p:spPr>
          <a:xfrm>
            <a:off x="1371600" y="333756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Ambiente é 80% do sucesso</a:t>
            </a:r>
            <a:endParaRPr lang="en-US" sz="1600" dirty="0"/>
          </a:p>
        </p:txBody>
      </p:sp>
      <p:sp>
        <p:nvSpPr>
          <p:cNvPr id="16" name="Shape 14"/>
          <p:cNvSpPr/>
          <p:nvPr/>
        </p:nvSpPr>
        <p:spPr>
          <a:xfrm>
            <a:off x="8869680" y="1097280"/>
            <a:ext cx="91440" cy="3017520"/>
          </a:xfrm>
          <a:prstGeom prst="rect">
            <a:avLst/>
          </a:prstGeom>
          <a:solidFill>
            <a:srgbClr val="667EEA"/>
          </a:solidFill>
          <a:ln/>
        </p:spPr>
      </p:sp>
      <p:pic>
        <p:nvPicPr>
          <p:cNvPr id="18"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2286000" cy="45720"/>
          </a:xfrm>
          <a:prstGeom prst="rect">
            <a:avLst/>
          </a:prstGeom>
          <a:solidFill>
            <a:srgbClr val="667EEA"/>
          </a:solidFill>
          <a:ln/>
        </p:spPr>
      </p:sp>
      <p:sp>
        <p:nvSpPr>
          <p:cNvPr id="4" name="Shape 2"/>
          <p:cNvSpPr/>
          <p:nvPr/>
        </p:nvSpPr>
        <p:spPr>
          <a:xfrm>
            <a:off x="274320" y="137160"/>
            <a:ext cx="548640" cy="548640"/>
          </a:xfrm>
          <a:prstGeom prst="ellipse">
            <a:avLst/>
          </a:prstGeom>
          <a:solidFill>
            <a:srgbClr val="667E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Premissa 1: Sua atenção é limitada</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667EEA"/>
            </a:solidFill>
            <a:prstDash val="solid"/>
          </a:ln>
        </p:spPr>
      </p:sp>
      <p:sp>
        <p:nvSpPr>
          <p:cNvPr id="8" name="Shape 6"/>
          <p:cNvSpPr/>
          <p:nvPr/>
        </p:nvSpPr>
        <p:spPr>
          <a:xfrm>
            <a:off x="457200" y="1097280"/>
            <a:ext cx="109728" cy="777240"/>
          </a:xfrm>
          <a:prstGeom prst="rect">
            <a:avLst/>
          </a:prstGeom>
          <a:solidFill>
            <a:srgbClr val="667E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"tanque de atenção"</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667EEA"/>
            </a:solidFill>
            <a:prstDash val="solid"/>
          </a:ln>
        </p:spPr>
      </p:sp>
      <p:sp>
        <p:nvSpPr>
          <p:cNvPr id="12" name="Shape 10"/>
          <p:cNvSpPr/>
          <p:nvPr/>
        </p:nvSpPr>
        <p:spPr>
          <a:xfrm>
            <a:off x="457200" y="2011680"/>
            <a:ext cx="109728" cy="777240"/>
          </a:xfrm>
          <a:prstGeom prst="rect">
            <a:avLst/>
          </a:prstGeom>
          <a:solidFill>
            <a:srgbClr val="667E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Multitarefa é um mito</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667EEA"/>
            </a:solidFill>
            <a:prstDash val="solid"/>
          </a:ln>
        </p:spPr>
      </p:sp>
      <p:sp>
        <p:nvSpPr>
          <p:cNvPr id="16" name="Shape 14"/>
          <p:cNvSpPr/>
          <p:nvPr/>
        </p:nvSpPr>
        <p:spPr>
          <a:xfrm>
            <a:off x="457200" y="2926080"/>
            <a:ext cx="109728" cy="777240"/>
          </a:xfrm>
          <a:prstGeom prst="rect">
            <a:avLst/>
          </a:prstGeom>
          <a:solidFill>
            <a:srgbClr val="667E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Economia da atenção</a:t>
            </a:r>
            <a:endParaRPr lang="en-US" sz="1400" dirty="0"/>
          </a:p>
        </p:txBody>
      </p:sp>
      <p:sp>
        <p:nvSpPr>
          <p:cNvPr id="19" name="Shape 17"/>
          <p:cNvSpPr/>
          <p:nvPr/>
        </p:nvSpPr>
        <p:spPr>
          <a:xfrm>
            <a:off x="8686800" y="4114800"/>
            <a:ext cx="457200" cy="457200"/>
          </a:xfrm>
          <a:prstGeom prst="rect">
            <a:avLst/>
          </a:prstGeom>
          <a:solidFill>
            <a:srgbClr val="667EEA"/>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4572000" cy="45720"/>
          </a:xfrm>
          <a:prstGeom prst="rect">
            <a:avLst/>
          </a:prstGeom>
          <a:solidFill>
            <a:srgbClr val="22C55E"/>
          </a:solidFill>
          <a:ln/>
        </p:spPr>
      </p:sp>
      <p:sp>
        <p:nvSpPr>
          <p:cNvPr id="4" name="Shape 2"/>
          <p:cNvSpPr/>
          <p:nvPr/>
        </p:nvSpPr>
        <p:spPr>
          <a:xfrm>
            <a:off x="274320" y="137160"/>
            <a:ext cx="548640" cy="548640"/>
          </a:xfrm>
          <a:prstGeom prst="ellipse">
            <a:avLst/>
          </a:prstGeom>
          <a:solidFill>
            <a:srgbClr val="22C55E"/>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Premissa 2: O foco precisa ser intencional</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22C55E"/>
            </a:solidFill>
            <a:prstDash val="solid"/>
          </a:ln>
        </p:spPr>
      </p:sp>
      <p:sp>
        <p:nvSpPr>
          <p:cNvPr id="8" name="Shape 6"/>
          <p:cNvSpPr/>
          <p:nvPr/>
        </p:nvSpPr>
        <p:spPr>
          <a:xfrm>
            <a:off x="457200" y="1097280"/>
            <a:ext cx="109728" cy="777240"/>
          </a:xfrm>
          <a:prstGeom prst="rect">
            <a:avLst/>
          </a:prstGeom>
          <a:solidFill>
            <a:srgbClr val="22C55E"/>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cérebro busca novidade por padrão</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22C55E"/>
            </a:solidFill>
            <a:prstDash val="solid"/>
          </a:ln>
        </p:spPr>
      </p:sp>
      <p:sp>
        <p:nvSpPr>
          <p:cNvPr id="12" name="Shape 10"/>
          <p:cNvSpPr/>
          <p:nvPr/>
        </p:nvSpPr>
        <p:spPr>
          <a:xfrm>
            <a:off x="457200" y="2011680"/>
            <a:ext cx="109728" cy="777240"/>
          </a:xfrm>
          <a:prstGeom prst="rect">
            <a:avLst/>
          </a:prstGeom>
          <a:solidFill>
            <a:srgbClr val="22C55E"/>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Foco não é automático</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22C55E"/>
            </a:solidFill>
            <a:prstDash val="solid"/>
          </a:ln>
        </p:spPr>
      </p:sp>
      <p:sp>
        <p:nvSpPr>
          <p:cNvPr id="16" name="Shape 14"/>
          <p:cNvSpPr/>
          <p:nvPr/>
        </p:nvSpPr>
        <p:spPr>
          <a:xfrm>
            <a:off x="457200" y="2926080"/>
            <a:ext cx="109728" cy="777240"/>
          </a:xfrm>
          <a:prstGeom prst="rect">
            <a:avLst/>
          </a:prstGeom>
          <a:solidFill>
            <a:srgbClr val="22C55E"/>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 escolha consciente de focar</a:t>
            </a:r>
            <a:endParaRPr lang="en-US" sz="1400" dirty="0"/>
          </a:p>
        </p:txBody>
      </p:sp>
      <p:sp>
        <p:nvSpPr>
          <p:cNvPr id="19" name="Shape 17"/>
          <p:cNvSpPr/>
          <p:nvPr/>
        </p:nvSpPr>
        <p:spPr>
          <a:xfrm>
            <a:off x="8686800" y="4114800"/>
            <a:ext cx="457200" cy="457200"/>
          </a:xfrm>
          <a:prstGeom prst="rect">
            <a:avLst/>
          </a:prstGeom>
          <a:solidFill>
            <a:srgbClr val="22C55E"/>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6858000" cy="45720"/>
          </a:xfrm>
          <a:prstGeom prst="rect">
            <a:avLst/>
          </a:prstGeom>
          <a:solidFill>
            <a:srgbClr val="3B82F6"/>
          </a:solidFill>
          <a:ln/>
        </p:spPr>
      </p:sp>
      <p:sp>
        <p:nvSpPr>
          <p:cNvPr id="4" name="Shape 2"/>
          <p:cNvSpPr/>
          <p:nvPr/>
        </p:nvSpPr>
        <p:spPr>
          <a:xfrm>
            <a:off x="274320" y="137160"/>
            <a:ext cx="548640" cy="548640"/>
          </a:xfrm>
          <a:prstGeom prst="ellipse">
            <a:avLst/>
          </a:prstGeom>
          <a:solidFill>
            <a:srgbClr val="3B82F6"/>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Premissa 3: O ambiente determina seu foco</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3B82F6"/>
            </a:solidFill>
            <a:prstDash val="solid"/>
          </a:ln>
        </p:spPr>
      </p:sp>
      <p:sp>
        <p:nvSpPr>
          <p:cNvPr id="8" name="Shape 6"/>
          <p:cNvSpPr/>
          <p:nvPr/>
        </p:nvSpPr>
        <p:spPr>
          <a:xfrm>
            <a:off x="457200" y="1097280"/>
            <a:ext cx="109728" cy="777240"/>
          </a:xfrm>
          <a:prstGeom prst="rect">
            <a:avLst/>
          </a:prstGeom>
          <a:solidFill>
            <a:srgbClr val="3B82F6"/>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Estímulos externos drenam atenção</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3B82F6"/>
            </a:solidFill>
            <a:prstDash val="solid"/>
          </a:ln>
        </p:spPr>
      </p:sp>
      <p:sp>
        <p:nvSpPr>
          <p:cNvPr id="12" name="Shape 10"/>
          <p:cNvSpPr/>
          <p:nvPr/>
        </p:nvSpPr>
        <p:spPr>
          <a:xfrm>
            <a:off x="457200" y="2011680"/>
            <a:ext cx="109728" cy="777240"/>
          </a:xfrm>
          <a:prstGeom prst="rect">
            <a:avLst/>
          </a:prstGeom>
          <a:solidFill>
            <a:srgbClr val="3B82F6"/>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Design do ambiente de estudo</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3B82F6"/>
            </a:solidFill>
            <a:prstDash val="solid"/>
          </a:ln>
        </p:spPr>
      </p:sp>
      <p:sp>
        <p:nvSpPr>
          <p:cNvPr id="16" name="Shape 14"/>
          <p:cNvSpPr/>
          <p:nvPr/>
        </p:nvSpPr>
        <p:spPr>
          <a:xfrm>
            <a:off x="457200" y="2926080"/>
            <a:ext cx="109728" cy="777240"/>
          </a:xfrm>
          <a:prstGeom prst="rect">
            <a:avLst/>
          </a:prstGeom>
          <a:solidFill>
            <a:srgbClr val="3B82F6"/>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Redução de gatilhos de distração</a:t>
            </a:r>
            <a:endParaRPr lang="en-US" sz="1400" dirty="0"/>
          </a:p>
        </p:txBody>
      </p:sp>
      <p:sp>
        <p:nvSpPr>
          <p:cNvPr id="19" name="Shape 17"/>
          <p:cNvSpPr/>
          <p:nvPr/>
        </p:nvSpPr>
        <p:spPr>
          <a:xfrm>
            <a:off x="8686800" y="4114800"/>
            <a:ext cx="457200" cy="457200"/>
          </a:xfrm>
          <a:prstGeom prst="rect">
            <a:avLst/>
          </a:prstGeom>
          <a:solidFill>
            <a:srgbClr val="3B82F6"/>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9144000" cy="45720"/>
          </a:xfrm>
          <a:prstGeom prst="rect">
            <a:avLst/>
          </a:prstGeom>
          <a:solidFill>
            <a:srgbClr val="9333EA"/>
          </a:solidFill>
          <a:ln/>
        </p:spPr>
      </p:sp>
      <p:sp>
        <p:nvSpPr>
          <p:cNvPr id="4" name="Shape 2"/>
          <p:cNvSpPr/>
          <p:nvPr/>
        </p:nvSpPr>
        <p:spPr>
          <a:xfrm>
            <a:off x="274320" y="137160"/>
            <a:ext cx="548640" cy="548640"/>
          </a:xfrm>
          <a:prstGeom prst="ellipse">
            <a:avLst/>
          </a:prstGeom>
          <a:solidFill>
            <a:srgbClr val="9333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Premissa 4: A mente vagueia naturalmente</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9333EA"/>
            </a:solidFill>
            <a:prstDash val="solid"/>
          </a:ln>
        </p:spPr>
      </p:sp>
      <p:sp>
        <p:nvSpPr>
          <p:cNvPr id="8" name="Shape 6"/>
          <p:cNvSpPr/>
          <p:nvPr/>
        </p:nvSpPr>
        <p:spPr>
          <a:xfrm>
            <a:off x="457200" y="1097280"/>
            <a:ext cx="109728" cy="777240"/>
          </a:xfrm>
          <a:prstGeom prst="rect">
            <a:avLst/>
          </a:prstGeom>
          <a:solidFill>
            <a:srgbClr val="9333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Mind wandering é normal</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9333EA"/>
            </a:solidFill>
            <a:prstDash val="solid"/>
          </a:ln>
        </p:spPr>
      </p:sp>
      <p:sp>
        <p:nvSpPr>
          <p:cNvPr id="12" name="Shape 10"/>
          <p:cNvSpPr/>
          <p:nvPr/>
        </p:nvSpPr>
        <p:spPr>
          <a:xfrm>
            <a:off x="457200" y="2011680"/>
            <a:ext cx="109728" cy="777240"/>
          </a:xfrm>
          <a:prstGeom prst="rect">
            <a:avLst/>
          </a:prstGeom>
          <a:solidFill>
            <a:srgbClr val="9333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Como usar isso a seu favor</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9333EA"/>
            </a:solidFill>
            <a:prstDash val="solid"/>
          </a:ln>
        </p:spPr>
      </p:sp>
      <p:sp>
        <p:nvSpPr>
          <p:cNvPr id="16" name="Shape 14"/>
          <p:cNvSpPr/>
          <p:nvPr/>
        </p:nvSpPr>
        <p:spPr>
          <a:xfrm>
            <a:off x="457200" y="2926080"/>
            <a:ext cx="109728" cy="777240"/>
          </a:xfrm>
          <a:prstGeom prst="rect">
            <a:avLst/>
          </a:prstGeom>
          <a:solidFill>
            <a:srgbClr val="9333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Retornar ao foco sem culpa</a:t>
            </a:r>
            <a:endParaRPr lang="en-US" sz="1400" dirty="0"/>
          </a:p>
        </p:txBody>
      </p:sp>
      <p:sp>
        <p:nvSpPr>
          <p:cNvPr id="19" name="Shape 17"/>
          <p:cNvSpPr/>
          <p:nvPr/>
        </p:nvSpPr>
        <p:spPr>
          <a:xfrm>
            <a:off x="8686800" y="4114800"/>
            <a:ext cx="457200" cy="457200"/>
          </a:xfrm>
          <a:prstGeom prst="rect">
            <a:avLst/>
          </a:prstGeom>
          <a:solidFill>
            <a:srgbClr val="9333EA"/>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Pontos-Chave</a:t>
            </a:r>
            <a:endParaRPr lang="en-US" sz="2000" dirty="0"/>
          </a:p>
        </p:txBody>
      </p:sp>
      <p:sp>
        <p:nvSpPr>
          <p:cNvPr id="4" name="Shape 2"/>
          <p:cNvSpPr/>
          <p:nvPr/>
        </p:nvSpPr>
        <p:spPr>
          <a:xfrm>
            <a:off x="0" y="777240"/>
            <a:ext cx="9144000" cy="45720"/>
          </a:xfrm>
          <a:prstGeom prst="rect">
            <a:avLst/>
          </a:prstGeom>
          <a:solidFill>
            <a:srgbClr val="22C55E"/>
          </a:solidFill>
          <a:ln/>
        </p:spPr>
      </p:sp>
      <p:sp>
        <p:nvSpPr>
          <p:cNvPr id="5" name="Shape 3"/>
          <p:cNvSpPr/>
          <p:nvPr/>
        </p:nvSpPr>
        <p:spPr>
          <a:xfrm>
            <a:off x="685800" y="1097280"/>
            <a:ext cx="54864" cy="3200400"/>
          </a:xfrm>
          <a:prstGeom prst="rect">
            <a:avLst/>
          </a:prstGeom>
          <a:solidFill>
            <a:srgbClr val="3D3D5C"/>
          </a:solidFill>
          <a:ln/>
        </p:spPr>
      </p:sp>
      <p:sp>
        <p:nvSpPr>
          <p:cNvPr id="6" name="Shape 4"/>
          <p:cNvSpPr/>
          <p:nvPr/>
        </p:nvSpPr>
        <p:spPr>
          <a:xfrm>
            <a:off x="502920" y="1188720"/>
            <a:ext cx="457200" cy="457200"/>
          </a:xfrm>
          <a:prstGeom prst="ellipse">
            <a:avLst/>
          </a:prstGeom>
          <a:solidFill>
            <a:srgbClr val="667EEA"/>
          </a:solidFill>
          <a:ln/>
        </p:spPr>
      </p:sp>
      <p:sp>
        <p:nvSpPr>
          <p:cNvPr id="7" name="Text 5"/>
          <p:cNvSpPr/>
          <p:nvPr/>
        </p:nvSpPr>
        <p:spPr>
          <a:xfrm>
            <a:off x="502920" y="123444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8" name="Shape 6"/>
          <p:cNvSpPr/>
          <p:nvPr/>
        </p:nvSpPr>
        <p:spPr>
          <a:xfrm>
            <a:off x="1188720" y="1097280"/>
            <a:ext cx="7498080" cy="640080"/>
          </a:xfrm>
          <a:prstGeom prst="roundRect">
            <a:avLst/>
          </a:prstGeom>
          <a:solidFill>
            <a:srgbClr val="2A2A4A"/>
          </a:solidFill>
          <a:ln w="25400">
            <a:solidFill>
              <a:srgbClr val="667EEA"/>
            </a:solidFill>
            <a:prstDash val="solid"/>
          </a:ln>
        </p:spPr>
      </p:sp>
      <p:sp>
        <p:nvSpPr>
          <p:cNvPr id="9" name="Text 7"/>
          <p:cNvSpPr/>
          <p:nvPr/>
        </p:nvSpPr>
        <p:spPr>
          <a:xfrm>
            <a:off x="1371600" y="123444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Atenção limitada = recurso precioso, não desperdice</a:t>
            </a:r>
            <a:endParaRPr lang="en-US" sz="1400" dirty="0"/>
          </a:p>
        </p:txBody>
      </p:sp>
      <p:sp>
        <p:nvSpPr>
          <p:cNvPr id="10" name="Shape 8"/>
          <p:cNvSpPr/>
          <p:nvPr/>
        </p:nvSpPr>
        <p:spPr>
          <a:xfrm>
            <a:off x="502920" y="2011680"/>
            <a:ext cx="457200" cy="457200"/>
          </a:xfrm>
          <a:prstGeom prst="ellipse">
            <a:avLst/>
          </a:prstGeom>
          <a:solidFill>
            <a:srgbClr val="22C55E"/>
          </a:solidFill>
          <a:ln/>
        </p:spPr>
      </p:sp>
      <p:sp>
        <p:nvSpPr>
          <p:cNvPr id="11" name="Text 9"/>
          <p:cNvSpPr/>
          <p:nvPr/>
        </p:nvSpPr>
        <p:spPr>
          <a:xfrm>
            <a:off x="502920" y="205740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1188720" y="1920240"/>
            <a:ext cx="7498080" cy="640080"/>
          </a:xfrm>
          <a:prstGeom prst="roundRect">
            <a:avLst/>
          </a:prstGeom>
          <a:solidFill>
            <a:srgbClr val="2A2A4A"/>
          </a:solidFill>
          <a:ln w="25400">
            <a:solidFill>
              <a:srgbClr val="22C55E"/>
            </a:solidFill>
            <a:prstDash val="solid"/>
          </a:ln>
        </p:spPr>
      </p:sp>
      <p:sp>
        <p:nvSpPr>
          <p:cNvPr id="13" name="Text 11"/>
          <p:cNvSpPr/>
          <p:nvPr/>
        </p:nvSpPr>
        <p:spPr>
          <a:xfrm>
            <a:off x="1371600" y="205740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Foco intencional = escolha consciente, repetida</a:t>
            </a:r>
            <a:endParaRPr lang="en-US" sz="1400" dirty="0"/>
          </a:p>
        </p:txBody>
      </p:sp>
      <p:sp>
        <p:nvSpPr>
          <p:cNvPr id="14" name="Shape 12"/>
          <p:cNvSpPr/>
          <p:nvPr/>
        </p:nvSpPr>
        <p:spPr>
          <a:xfrm>
            <a:off x="502920" y="2834640"/>
            <a:ext cx="457200" cy="457200"/>
          </a:xfrm>
          <a:prstGeom prst="ellipse">
            <a:avLst/>
          </a:prstGeom>
          <a:solidFill>
            <a:srgbClr val="3B82F6"/>
          </a:solidFill>
          <a:ln/>
        </p:spPr>
      </p:sp>
      <p:sp>
        <p:nvSpPr>
          <p:cNvPr id="15" name="Text 13"/>
          <p:cNvSpPr/>
          <p:nvPr/>
        </p:nvSpPr>
        <p:spPr>
          <a:xfrm>
            <a:off x="502920" y="288036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6" name="Shape 14"/>
          <p:cNvSpPr/>
          <p:nvPr/>
        </p:nvSpPr>
        <p:spPr>
          <a:xfrm>
            <a:off x="1188720" y="2743200"/>
            <a:ext cx="7498080" cy="640080"/>
          </a:xfrm>
          <a:prstGeom prst="roundRect">
            <a:avLst/>
          </a:prstGeom>
          <a:solidFill>
            <a:srgbClr val="2A2A4A"/>
          </a:solidFill>
          <a:ln w="25400">
            <a:solidFill>
              <a:srgbClr val="3B82F6"/>
            </a:solidFill>
            <a:prstDash val="solid"/>
          </a:ln>
        </p:spPr>
      </p:sp>
      <p:sp>
        <p:nvSpPr>
          <p:cNvPr id="17" name="Text 15"/>
          <p:cNvSpPr/>
          <p:nvPr/>
        </p:nvSpPr>
        <p:spPr>
          <a:xfrm>
            <a:off x="1371600" y="288036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Ambiente é 80% do sucesso = desenhe a seu favor</a:t>
            </a:r>
            <a:endParaRPr lang="en-US" sz="1400" dirty="0"/>
          </a:p>
        </p:txBody>
      </p:sp>
      <p:sp>
        <p:nvSpPr>
          <p:cNvPr id="18" name="Shape 16"/>
          <p:cNvSpPr/>
          <p:nvPr/>
        </p:nvSpPr>
        <p:spPr>
          <a:xfrm>
            <a:off x="502920" y="3657600"/>
            <a:ext cx="457200" cy="457200"/>
          </a:xfrm>
          <a:prstGeom prst="ellipse">
            <a:avLst/>
          </a:prstGeom>
          <a:solidFill>
            <a:srgbClr val="9333EA"/>
          </a:solidFill>
          <a:ln/>
        </p:spPr>
      </p:sp>
      <p:sp>
        <p:nvSpPr>
          <p:cNvPr id="19" name="Text 17"/>
          <p:cNvSpPr/>
          <p:nvPr/>
        </p:nvSpPr>
        <p:spPr>
          <a:xfrm>
            <a:off x="502920" y="370332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1188720" y="3566160"/>
            <a:ext cx="7498080" cy="640080"/>
          </a:xfrm>
          <a:prstGeom prst="roundRect">
            <a:avLst/>
          </a:prstGeom>
          <a:solidFill>
            <a:srgbClr val="2A2A4A"/>
          </a:solidFill>
          <a:ln w="25400">
            <a:solidFill>
              <a:srgbClr val="9333EA"/>
            </a:solidFill>
            <a:prstDash val="solid"/>
          </a:ln>
        </p:spPr>
      </p:sp>
      <p:sp>
        <p:nvSpPr>
          <p:cNvPr id="21" name="Text 19"/>
          <p:cNvSpPr/>
          <p:nvPr/>
        </p:nvSpPr>
        <p:spPr>
          <a:xfrm>
            <a:off x="1371600" y="370332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Vagueamento é normal = redirecione sem culpa</a:t>
            </a:r>
            <a:endParaRPr lang="en-US" sz="1400" dirty="0"/>
          </a:p>
        </p:txBody>
      </p:sp>
      <p:pic>
        <p:nvPicPr>
          <p:cNvPr id="23"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Infográfico da Aula</a:t>
            </a:r>
            <a:endParaRPr lang="en-US" sz="2000" dirty="0"/>
          </a:p>
        </p:txBody>
      </p:sp>
      <p:pic>
        <p:nvPicPr>
          <p:cNvPr id="4" name="Image 0" descr="preencoded.png">    </p:cNvPr>
          <p:cNvPicPr>
            <a:picLocks noChangeAspect="1"/>
          </p:cNvPicPr>
          <p:nvPr/>
        </p:nvPicPr>
        <p:blipFill>
          <a:blip r:embed="rId1"/>
          <a:stretch>
            <a:fillRect/>
          </a:stretch>
        </p:blipFill>
        <p:spPr>
          <a:xfrm>
            <a:off x="274320" y="914400"/>
            <a:ext cx="5486400" cy="3383280"/>
          </a:xfrm>
          <a:prstGeom prst="rect">
            <a:avLst/>
          </a:prstGeom>
        </p:spPr>
      </p:pic>
      <p:sp>
        <p:nvSpPr>
          <p:cNvPr id="5" name="Text 2"/>
          <p:cNvSpPr/>
          <p:nvPr/>
        </p:nvSpPr>
        <p:spPr>
          <a:xfrm>
            <a:off x="5943600" y="914400"/>
            <a:ext cx="3017520" cy="365760"/>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Conceitos Principais:</a:t>
            </a:r>
            <a:endParaRPr lang="en-US" sz="1200" dirty="0"/>
          </a:p>
        </p:txBody>
      </p:sp>
      <p:sp>
        <p:nvSpPr>
          <p:cNvPr id="6" name="Shape 3"/>
          <p:cNvSpPr/>
          <p:nvPr/>
        </p:nvSpPr>
        <p:spPr>
          <a:xfrm>
            <a:off x="5943600" y="1371600"/>
            <a:ext cx="228600" cy="228600"/>
          </a:xfrm>
          <a:prstGeom prst="ellipse">
            <a:avLst/>
          </a:prstGeom>
          <a:solidFill>
            <a:srgbClr val="667EEA"/>
          </a:solidFill>
          <a:ln/>
        </p:spPr>
      </p:sp>
      <p:sp>
        <p:nvSpPr>
          <p:cNvPr id="7" name="Text 4"/>
          <p:cNvSpPr/>
          <p:nvPr/>
        </p:nvSpPr>
        <p:spPr>
          <a:xfrm>
            <a:off x="6309360" y="132588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Atenção limitada = recurso precioso, não desperdice</a:t>
            </a:r>
            <a:endParaRPr lang="en-US" sz="1000" dirty="0"/>
          </a:p>
        </p:txBody>
      </p:sp>
      <p:sp>
        <p:nvSpPr>
          <p:cNvPr id="8" name="Shape 5"/>
          <p:cNvSpPr/>
          <p:nvPr/>
        </p:nvSpPr>
        <p:spPr>
          <a:xfrm>
            <a:off x="5943600" y="2148840"/>
            <a:ext cx="228600" cy="228600"/>
          </a:xfrm>
          <a:prstGeom prst="ellipse">
            <a:avLst/>
          </a:prstGeom>
          <a:solidFill>
            <a:srgbClr val="667EEA"/>
          </a:solidFill>
          <a:ln/>
        </p:spPr>
      </p:sp>
      <p:sp>
        <p:nvSpPr>
          <p:cNvPr id="9" name="Text 6"/>
          <p:cNvSpPr/>
          <p:nvPr/>
        </p:nvSpPr>
        <p:spPr>
          <a:xfrm>
            <a:off x="6309360" y="210312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Foco intencional = escolha consciente, repetida</a:t>
            </a:r>
            <a:endParaRPr lang="en-US" sz="1000" dirty="0"/>
          </a:p>
        </p:txBody>
      </p:sp>
      <p:sp>
        <p:nvSpPr>
          <p:cNvPr id="10" name="Shape 7"/>
          <p:cNvSpPr/>
          <p:nvPr/>
        </p:nvSpPr>
        <p:spPr>
          <a:xfrm>
            <a:off x="5943600" y="2926080"/>
            <a:ext cx="228600" cy="228600"/>
          </a:xfrm>
          <a:prstGeom prst="ellipse">
            <a:avLst/>
          </a:prstGeom>
          <a:solidFill>
            <a:srgbClr val="667EEA"/>
          </a:solidFill>
          <a:ln/>
        </p:spPr>
      </p:sp>
      <p:sp>
        <p:nvSpPr>
          <p:cNvPr id="11" name="Text 8"/>
          <p:cNvSpPr/>
          <p:nvPr/>
        </p:nvSpPr>
        <p:spPr>
          <a:xfrm>
            <a:off x="6309360" y="288036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Ambiente é 80% do sucesso = desenhe a seu favor</a:t>
            </a:r>
            <a:endParaRPr lang="en-US" sz="1000" dirty="0"/>
          </a:p>
        </p:txBody>
      </p:sp>
      <p:sp>
        <p:nvSpPr>
          <p:cNvPr id="12" name="Shape 9"/>
          <p:cNvSpPr/>
          <p:nvPr/>
        </p:nvSpPr>
        <p:spPr>
          <a:xfrm>
            <a:off x="5943600" y="3703320"/>
            <a:ext cx="228600" cy="228600"/>
          </a:xfrm>
          <a:prstGeom prst="ellipse">
            <a:avLst/>
          </a:prstGeom>
          <a:solidFill>
            <a:srgbClr val="667EEA"/>
          </a:solidFill>
          <a:ln/>
        </p:spPr>
      </p:sp>
      <p:sp>
        <p:nvSpPr>
          <p:cNvPr id="13" name="Text 10"/>
          <p:cNvSpPr/>
          <p:nvPr/>
        </p:nvSpPr>
        <p:spPr>
          <a:xfrm>
            <a:off x="6309360" y="365760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Vagueamento é normal = redirecione sem culpa</a:t>
            </a:r>
            <a:endParaRPr lang="en-US" sz="1000" dirty="0"/>
          </a:p>
        </p:txBody>
      </p:sp>
      <p:pic>
        <p:nvPicPr>
          <p:cNvPr id="15" name="Image 1" descr="preencoded.png">    </p:cNvPr>
          <p:cNvPicPr>
            <a:picLocks noChangeAspect="1"/>
          </p:cNvPicPr>
          <p:nvPr/>
        </p:nvPicPr>
        <p:blipFill>
          <a:blip r:embed="rId2"/>
          <a:stretch>
            <a:fillRect/>
          </a:stretch>
        </p:blipFill>
        <p:spPr>
          <a:xfrm>
            <a:off x="7498080" y="4389120"/>
            <a:ext cx="1371600" cy="548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Atividade Prática</a:t>
            </a:r>
            <a:endParaRPr lang="en-US" sz="2000" dirty="0"/>
          </a:p>
        </p:txBody>
      </p:sp>
      <p:sp>
        <p:nvSpPr>
          <p:cNvPr id="4" name="Shape 2"/>
          <p:cNvSpPr/>
          <p:nvPr/>
        </p:nvSpPr>
        <p:spPr>
          <a:xfrm>
            <a:off x="457200" y="1005840"/>
            <a:ext cx="8229600" cy="2560320"/>
          </a:xfrm>
          <a:prstGeom prst="roundRect">
            <a:avLst/>
          </a:prstGeom>
          <a:solidFill>
            <a:srgbClr val="2A2A4A"/>
          </a:solidFill>
          <a:ln w="38100">
            <a:solidFill>
              <a:srgbClr val="22C55E"/>
            </a:solidFill>
            <a:prstDash val="solid"/>
          </a:ln>
        </p:spPr>
      </p:sp>
      <p:sp>
        <p:nvSpPr>
          <p:cNvPr id="5" name="Shape 3"/>
          <p:cNvSpPr/>
          <p:nvPr/>
        </p:nvSpPr>
        <p:spPr>
          <a:xfrm>
            <a:off x="731520" y="1280160"/>
            <a:ext cx="731520" cy="731520"/>
          </a:xfrm>
          <a:prstGeom prst="ellipse">
            <a:avLst/>
          </a:prstGeom>
          <a:solidFill>
            <a:srgbClr val="22C55E"/>
          </a:solidFill>
          <a:ln/>
        </p:spPr>
      </p:sp>
      <p:sp>
        <p:nvSpPr>
          <p:cNvPr id="6" name="Text 4"/>
          <p:cNvSpPr/>
          <p:nvPr/>
        </p:nvSpPr>
        <p:spPr>
          <a:xfrm>
            <a:off x="731520" y="1371600"/>
            <a:ext cx="731520" cy="5486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a:t>
            </a:r>
            <a:endParaRPr lang="en-US" sz="2800" dirty="0"/>
          </a:p>
        </p:txBody>
      </p:sp>
      <p:sp>
        <p:nvSpPr>
          <p:cNvPr id="7" name="Text 5"/>
          <p:cNvSpPr/>
          <p:nvPr/>
        </p:nvSpPr>
        <p:spPr>
          <a:xfrm>
            <a:off x="1645920" y="1280160"/>
            <a:ext cx="6858000" cy="45720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Sua Missão:</a:t>
            </a:r>
            <a:endParaRPr lang="en-US" sz="1600" dirty="0"/>
          </a:p>
        </p:txBody>
      </p:sp>
      <p:sp>
        <p:nvSpPr>
          <p:cNvPr id="8" name="Text 6"/>
          <p:cNvSpPr/>
          <p:nvPr/>
        </p:nvSpPr>
        <p:spPr>
          <a:xfrm>
            <a:off x="1645920" y="1737360"/>
            <a:ext cx="6766560" cy="1645920"/>
          </a:xfrm>
          <a:prstGeom prst="rect">
            <a:avLst/>
          </a:prstGeom>
          <a:noFill/>
          <a:ln/>
        </p:spPr>
        <p:txBody>
          <a:bodyPr wrap="square" rtlCol="0" anchor="t"/>
          <a:lstStyle/>
          <a:p>
            <a:pPr indent="0" marL="0">
              <a:buNone/>
            </a:pPr>
            <a:r>
              <a:rPr lang="en-US" sz="1400" dirty="0">
                <a:solidFill>
                  <a:srgbClr val="FFFFFF"/>
                </a:solidFill>
                <a:latin typeface="Arial" pitchFamily="34" charset="0"/>
                <a:ea typeface="Arial" pitchFamily="34" charset="-122"/>
                <a:cs typeface="Arial" pitchFamily="34" charset="-120"/>
              </a:rPr>
              <a:t>&gt; **Esta atividade vai transformar seu espaço de estudo!**</a:t>
            </a:r>
            <a:endParaRPr lang="en-US" sz="1400" dirty="0"/>
          </a:p>
        </p:txBody>
      </p:sp>
      <p:sp>
        <p:nvSpPr>
          <p:cNvPr id="9" name="Shape 7"/>
          <p:cNvSpPr/>
          <p:nvPr/>
        </p:nvSpPr>
        <p:spPr>
          <a:xfrm>
            <a:off x="457200" y="3749040"/>
            <a:ext cx="8229600" cy="640080"/>
          </a:xfrm>
          <a:prstGeom prst="roundRect">
            <a:avLst/>
          </a:prstGeom>
          <a:solidFill>
            <a:srgbClr val="1E3A5F"/>
          </a:solidFill>
          <a:ln w="12700">
            <a:solidFill>
              <a:srgbClr val="667EEA"/>
            </a:solidFill>
            <a:prstDash val="solid"/>
          </a:ln>
        </p:spPr>
      </p:sp>
      <p:sp>
        <p:nvSpPr>
          <p:cNvPr id="10" name="Text 8"/>
          <p:cNvSpPr/>
          <p:nvPr/>
        </p:nvSpPr>
        <p:spPr>
          <a:xfrm>
            <a:off x="457200" y="3886200"/>
            <a:ext cx="8229600" cy="365760"/>
          </a:xfrm>
          <a:prstGeom prst="rect">
            <a:avLst/>
          </a:prstGeom>
          <a:noFill/>
          <a:ln/>
        </p:spPr>
        <p:txBody>
          <a:bodyPr wrap="square"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 Envie na área de atividades do Moodle</a:t>
            </a:r>
            <a:endParaRPr lang="en-US" sz="1300" dirty="0"/>
          </a:p>
        </p:txBody>
      </p:sp>
      <p:pic>
        <p:nvPicPr>
          <p:cNvPr id="12"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Aula 03 - Encerramento</a:t>
            </a:r>
            <a:endParaRPr lang="en-US" sz="2000" dirty="0"/>
          </a:p>
        </p:txBody>
      </p:sp>
      <p:sp>
        <p:nvSpPr>
          <p:cNvPr id="4" name="Shape 2"/>
          <p:cNvSpPr/>
          <p:nvPr/>
        </p:nvSpPr>
        <p:spPr>
          <a:xfrm>
            <a:off x="0" y="822960"/>
            <a:ext cx="2743200" cy="91440"/>
          </a:xfrm>
          <a:prstGeom prst="rect">
            <a:avLst/>
          </a:prstGeom>
          <a:solidFill>
            <a:srgbClr val="667EEA"/>
          </a:solidFill>
          <a:ln/>
        </p:spPr>
      </p:sp>
      <p:sp>
        <p:nvSpPr>
          <p:cNvPr id="5" name="Shape 3"/>
          <p:cNvSpPr/>
          <p:nvPr/>
        </p:nvSpPr>
        <p:spPr>
          <a:xfrm>
            <a:off x="3200400" y="822960"/>
            <a:ext cx="2743200" cy="91440"/>
          </a:xfrm>
          <a:prstGeom prst="rect">
            <a:avLst/>
          </a:prstGeom>
          <a:solidFill>
            <a:srgbClr val="22C55E"/>
          </a:solidFill>
          <a:ln/>
        </p:spPr>
      </p:sp>
      <p:sp>
        <p:nvSpPr>
          <p:cNvPr id="6" name="Shape 4"/>
          <p:cNvSpPr/>
          <p:nvPr/>
        </p:nvSpPr>
        <p:spPr>
          <a:xfrm>
            <a:off x="6400800" y="822960"/>
            <a:ext cx="2743200" cy="91440"/>
          </a:xfrm>
          <a:prstGeom prst="rect">
            <a:avLst/>
          </a:prstGeom>
          <a:solidFill>
            <a:srgbClr val="3B82F6"/>
          </a:solidFill>
          <a:ln/>
        </p:spPr>
      </p:sp>
      <p:sp>
        <p:nvSpPr>
          <p:cNvPr id="7" name="Shape 5"/>
          <p:cNvSpPr/>
          <p:nvPr/>
        </p:nvSpPr>
        <p:spPr>
          <a:xfrm>
            <a:off x="914400" y="1371600"/>
            <a:ext cx="7315200" cy="1828800"/>
          </a:xfrm>
          <a:prstGeom prst="roundRect">
            <a:avLst/>
          </a:prstGeom>
          <a:solidFill>
            <a:srgbClr val="2A2A4A"/>
          </a:solidFill>
          <a:ln w="25400">
            <a:solidFill>
              <a:srgbClr val="667EEA"/>
            </a:solidFill>
            <a:prstDash val="solid"/>
          </a:ln>
        </p:spPr>
      </p:sp>
      <p:sp>
        <p:nvSpPr>
          <p:cNvPr id="8" name="Text 6"/>
          <p:cNvSpPr/>
          <p:nvPr/>
        </p:nvSpPr>
        <p:spPr>
          <a:xfrm>
            <a:off x="1097280" y="1371600"/>
            <a:ext cx="457200" cy="731520"/>
          </a:xfrm>
          <a:prstGeom prst="rect">
            <a:avLst/>
          </a:prstGeom>
          <a:noFill/>
          <a:ln/>
        </p:spPr>
        <p:txBody>
          <a:bodyPr wrap="square" rtlCol="0" anchor="ctr"/>
          <a:lstStyle/>
          <a:p>
            <a:pPr indent="0" marL="0">
              <a:buNone/>
            </a:pPr>
            <a:r>
              <a:rPr lang="en-US" sz="4800" i="1" dirty="0">
                <a:solidFill>
                  <a:srgbClr val="667EEA"/>
                </a:solidFill>
                <a:latin typeface="Georgia" pitchFamily="34" charset="0"/>
                <a:ea typeface="Georgia" pitchFamily="34" charset="-122"/>
                <a:cs typeface="Georgia" pitchFamily="34" charset="-120"/>
              </a:rPr>
              <a:t>"</a:t>
            </a:r>
            <a:endParaRPr lang="en-US" sz="4800" dirty="0"/>
          </a:p>
        </p:txBody>
      </p:sp>
      <p:sp>
        <p:nvSpPr>
          <p:cNvPr id="9" name="Text 7"/>
          <p:cNvSpPr/>
          <p:nvPr/>
        </p:nvSpPr>
        <p:spPr>
          <a:xfrm>
            <a:off x="1371600" y="1737360"/>
            <a:ext cx="6400800" cy="1097280"/>
          </a:xfrm>
          <a:prstGeom prst="rect">
            <a:avLst/>
          </a:prstGeom>
          <a:noFill/>
          <a:ln/>
        </p:spPr>
        <p:txBody>
          <a:bodyPr wrap="square"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Não lute contra sua natureza - entenda-a e use-a. As premissas não são limitações, são o mapa para sua liberdade.</a:t>
            </a:r>
            <a:endParaRPr lang="en-US" sz="1600" dirty="0"/>
          </a:p>
        </p:txBody>
      </p:sp>
      <p:sp>
        <p:nvSpPr>
          <p:cNvPr id="10" name="Shape 8"/>
          <p:cNvSpPr/>
          <p:nvPr/>
        </p:nvSpPr>
        <p:spPr>
          <a:xfrm>
            <a:off x="0" y="3840480"/>
            <a:ext cx="9144000" cy="822960"/>
          </a:xfrm>
          <a:prstGeom prst="rect">
            <a:avLst/>
          </a:prstGeom>
          <a:solidFill>
            <a:srgbClr val="0F172A"/>
          </a:solidFill>
          <a:ln/>
        </p:spPr>
      </p:sp>
      <p:sp>
        <p:nvSpPr>
          <p:cNvPr id="11" name="Text 9"/>
          <p:cNvSpPr/>
          <p:nvPr/>
        </p:nvSpPr>
        <p:spPr>
          <a:xfrm>
            <a:off x="457200" y="3977640"/>
            <a:ext cx="3657600" cy="27432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Educa com Talento</a:t>
            </a:r>
            <a:endParaRPr lang="en-US" sz="1400" dirty="0"/>
          </a:p>
        </p:txBody>
      </p:sp>
      <p:sp>
        <p:nvSpPr>
          <p:cNvPr id="12" name="Text 10"/>
          <p:cNvSpPr/>
          <p:nvPr/>
        </p:nvSpPr>
        <p:spPr>
          <a:xfrm>
            <a:off x="457200" y="4251960"/>
            <a:ext cx="3657600" cy="228600"/>
          </a:xfrm>
          <a:prstGeom prst="rect">
            <a:avLst/>
          </a:prstGeom>
          <a:noFill/>
          <a:ln/>
        </p:spPr>
        <p:txBody>
          <a:bodyPr wrap="square" rtlCol="0" anchor="ctr"/>
          <a:lstStyle/>
          <a:p>
            <a:pPr indent="0" marL="0">
              <a:buNone/>
            </a:pPr>
            <a:r>
              <a:rPr lang="en-US" sz="1000" dirty="0">
                <a:solidFill>
                  <a:srgbClr val="667EEA"/>
                </a:solidFill>
                <a:latin typeface="Arial" pitchFamily="34" charset="0"/>
                <a:ea typeface="Arial" pitchFamily="34" charset="-122"/>
                <a:cs typeface="Arial" pitchFamily="34" charset="-120"/>
              </a:rPr>
              <a:t>www.educacomtalento.com.br</a:t>
            </a:r>
            <a:endParaRPr lang="en-US" sz="1000" dirty="0"/>
          </a:p>
        </p:txBody>
      </p:sp>
      <p:pic>
        <p:nvPicPr>
          <p:cNvPr id="14" name="Image 0" descr="preencoded.png">    </p:cNvPr>
          <p:cNvPicPr>
            <a:picLocks noChangeAspect="1"/>
          </p:cNvPicPr>
          <p:nvPr/>
        </p:nvPicPr>
        <p:blipFill>
          <a:blip r:embed="rId1"/>
          <a:stretch>
            <a:fillRect/>
          </a:stretch>
        </p:blipFill>
        <p:spPr>
          <a:xfrm>
            <a:off x="6400800" y="3886200"/>
            <a:ext cx="2286000"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Educa com Talento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03: As Quatro Premissas Fundamentais</dc:title>
  <dc:subject>Foco e Produtividade nos Estudos</dc:subject>
  <dc:creator>Educa com Talento</dc:creator>
  <cp:lastModifiedBy>Educa com Talento</cp:lastModifiedBy>
  <cp:revision>1</cp:revision>
  <dcterms:created xsi:type="dcterms:W3CDTF">2025-12-18T20:33:51Z</dcterms:created>
  <dcterms:modified xsi:type="dcterms:W3CDTF">2025-12-18T20:33:51Z</dcterms:modified>
</cp:coreProperties>
</file>